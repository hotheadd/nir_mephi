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5"/>
  </p:notesMasterIdLst>
  <p:handoutMasterIdLst>
    <p:handoutMasterId r:id="rId16"/>
  </p:handoutMasterIdLst>
  <p:sldIdLst>
    <p:sldId id="256" r:id="rId2"/>
    <p:sldId id="352" r:id="rId3"/>
    <p:sldId id="336" r:id="rId4"/>
    <p:sldId id="337" r:id="rId5"/>
    <p:sldId id="338" r:id="rId6"/>
    <p:sldId id="339" r:id="rId7"/>
    <p:sldId id="356" r:id="rId8"/>
    <p:sldId id="341" r:id="rId9"/>
    <p:sldId id="343" r:id="rId10"/>
    <p:sldId id="353" r:id="rId11"/>
    <p:sldId id="354" r:id="rId12"/>
    <p:sldId id="344" r:id="rId13"/>
    <p:sldId id="355" r:id="rId14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65" autoAdjust="0"/>
    <p:restoredTop sz="94607" autoAdjust="0"/>
  </p:normalViewPr>
  <p:slideViewPr>
    <p:cSldViewPr>
      <p:cViewPr varScale="1">
        <p:scale>
          <a:sx n="68" d="100"/>
          <a:sy n="68" d="100"/>
        </p:scale>
        <p:origin x="72" y="318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CC0522FF-D8B0-1DF9-4AAD-A01C0D6631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A5F4365-384E-1ED6-F3D1-29EC74399F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B039E84-DAE0-CC4D-8627-F8F843ACD5F7}" type="datetimeFigureOut">
              <a:rPr lang="ru-RU"/>
              <a:pPr>
                <a:defRPr/>
              </a:pPr>
              <a:t>30.05.2026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E8EA34D-36A0-29D1-2AE2-3D0D272CC71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246993-28A3-F807-A53C-FB7F1C4B29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D0930717-6DD1-8149-BBCD-68A43D74C974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7CB3C62F-C735-C5BC-9117-A791591245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3E75FEE-4A99-0522-41AF-A69BCFAEB6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937DCF1-74F6-7349-AA2A-231545C3B88B}" type="datetimeFigureOut">
              <a:rPr lang="ru-RU"/>
              <a:pPr>
                <a:defRPr/>
              </a:pPr>
              <a:t>30.05.2026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0A8D845D-50F9-E5B5-EB73-4AE06F8925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3EA7025B-0540-D16B-E1AD-6244AFA477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1C0046D-02BB-B72A-13E1-2559DA26E8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998EC5-A677-7559-4113-B79642D04E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CE30FF1B-434B-0F41-BB90-ADED13DA2E6A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Образ слайда 1">
            <a:extLst>
              <a:ext uri="{FF2B5EF4-FFF2-40B4-BE49-F238E27FC236}">
                <a16:creationId xmlns:a16="http://schemas.microsoft.com/office/drawing/2014/main" id="{1BACA29E-1ACA-3A4B-4AC2-23A2BE75F99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18" name="Заметки 2">
            <a:extLst>
              <a:ext uri="{FF2B5EF4-FFF2-40B4-BE49-F238E27FC236}">
                <a16:creationId xmlns:a16="http://schemas.microsoft.com/office/drawing/2014/main" id="{04DF7A68-D6CF-32FB-D633-13261081865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ru-RU" altLang="ru-RU"/>
          </a:p>
        </p:txBody>
      </p:sp>
      <p:sp>
        <p:nvSpPr>
          <p:cNvPr id="9219" name="Номер слайда 3">
            <a:extLst>
              <a:ext uri="{FF2B5EF4-FFF2-40B4-BE49-F238E27FC236}">
                <a16:creationId xmlns:a16="http://schemas.microsoft.com/office/drawing/2014/main" id="{4BCAAD3C-43B8-8AD7-820C-A79EA38CE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68668ED-607B-2E43-9D45-77CB9AC53F19}" type="slidenum">
              <a:rPr lang="ru-RU" altLang="ru-RU"/>
              <a:pPr>
                <a:spcBef>
                  <a:spcPct val="0"/>
                </a:spcBef>
              </a:pPr>
              <a:t>1</a:t>
            </a:fld>
            <a:endParaRPr lang="ru-RU" alt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53D61D-CD8D-7A2E-CF79-BF71DF763C85}"/>
              </a:ext>
            </a:extLst>
          </p:cNvPr>
          <p:cNvSpPr/>
          <p:nvPr/>
        </p:nvSpPr>
        <p:spPr bwMode="auto">
          <a:xfrm>
            <a:off x="508000" y="0"/>
            <a:ext cx="812800" cy="6858000"/>
          </a:xfrm>
          <a:prstGeom prst="rect">
            <a:avLst/>
          </a:prstGeom>
          <a:solidFill>
            <a:srgbClr val="EAEAF3">
              <a:alpha val="54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8707FC-9780-B858-B15F-C12DF7B70DBB}"/>
              </a:ext>
            </a:extLst>
          </p:cNvPr>
          <p:cNvSpPr/>
          <p:nvPr/>
        </p:nvSpPr>
        <p:spPr bwMode="auto">
          <a:xfrm>
            <a:off x="1320800" y="0"/>
            <a:ext cx="242888" cy="6858000"/>
          </a:xfrm>
          <a:prstGeom prst="rect">
            <a:avLst/>
          </a:prstGeom>
          <a:solidFill>
            <a:srgbClr val="EAEAF3">
              <a:alpha val="70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C6D381-F16A-F313-E26B-F9832BF72233}"/>
              </a:ext>
            </a:extLst>
          </p:cNvPr>
          <p:cNvSpPr/>
          <p:nvPr/>
        </p:nvSpPr>
        <p:spPr bwMode="auto">
          <a:xfrm>
            <a:off x="1522413" y="0"/>
            <a:ext cx="306387" cy="6858000"/>
          </a:xfrm>
          <a:prstGeom prst="rect">
            <a:avLst/>
          </a:prstGeom>
          <a:solidFill>
            <a:srgbClr val="EAEAF3">
              <a:alpha val="71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Прямая соединительная линия 5">
            <a:extLst>
              <a:ext uri="{FF2B5EF4-FFF2-40B4-BE49-F238E27FC236}">
                <a16:creationId xmlns:a16="http://schemas.microsoft.com/office/drawing/2014/main" id="{08110E0C-DD7E-0744-C105-87566DA116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1288" y="0"/>
            <a:ext cx="0" cy="6858000"/>
          </a:xfrm>
          <a:prstGeom prst="line">
            <a:avLst/>
          </a:prstGeom>
          <a:noFill/>
          <a:ln w="57150" algn="ctr">
            <a:solidFill>
              <a:srgbClr val="EAEAF3">
                <a:alpha val="7294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6" name="Прямая соединительная линия 7">
            <a:extLst>
              <a:ext uri="{FF2B5EF4-FFF2-40B4-BE49-F238E27FC236}">
                <a16:creationId xmlns:a16="http://schemas.microsoft.com/office/drawing/2014/main" id="{8F7EE00D-A3B5-09E1-3591-AAB8798F30A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0"/>
            <a:ext cx="0" cy="6858000"/>
          </a:xfrm>
          <a:prstGeom prst="line">
            <a:avLst/>
          </a:prstGeom>
          <a:noFill/>
          <a:ln w="57150" algn="ctr">
            <a:solidFill>
              <a:srgbClr val="EAEAF3">
                <a:alpha val="83136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7" name="Прямая соединительная линия 8">
            <a:extLst>
              <a:ext uri="{FF2B5EF4-FFF2-40B4-BE49-F238E27FC236}">
                <a16:creationId xmlns:a16="http://schemas.microsoft.com/office/drawing/2014/main" id="{C088A429-8EE4-7DBB-7CA9-25246F53AF2B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138238" y="0"/>
            <a:ext cx="0" cy="6858000"/>
          </a:xfrm>
          <a:prstGeom prst="line">
            <a:avLst/>
          </a:prstGeom>
          <a:noFill/>
          <a:ln w="57150" algn="ctr">
            <a:solidFill>
              <a:srgbClr val="EAEAF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" name="Прямая соединительная линия 10">
            <a:extLst>
              <a:ext uri="{FF2B5EF4-FFF2-40B4-BE49-F238E27FC236}">
                <a16:creationId xmlns:a16="http://schemas.microsoft.com/office/drawing/2014/main" id="{4D958B3E-7C42-6615-C183-D2F28BA9942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03463" y="0"/>
            <a:ext cx="0" cy="6858000"/>
          </a:xfrm>
          <a:prstGeom prst="line">
            <a:avLst/>
          </a:prstGeom>
          <a:noFill/>
          <a:ln w="28575" algn="ctr">
            <a:solidFill>
              <a:srgbClr val="EAEAF3">
                <a:alpha val="8196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1" name="Прямая соединительная линия 12">
            <a:extLst>
              <a:ext uri="{FF2B5EF4-FFF2-40B4-BE49-F238E27FC236}">
                <a16:creationId xmlns:a16="http://schemas.microsoft.com/office/drawing/2014/main" id="{49FDFAF9-877C-D74A-5E14-198CB61F0E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" name="Прямая соединительная линия 13">
            <a:extLst>
              <a:ext uri="{FF2B5EF4-FFF2-40B4-BE49-F238E27FC236}">
                <a16:creationId xmlns:a16="http://schemas.microsoft.com/office/drawing/2014/main" id="{15148043-87B8-81CA-F22D-63AF3CB7449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52313" y="0"/>
            <a:ext cx="0" cy="6858000"/>
          </a:xfrm>
          <a:prstGeom prst="line">
            <a:avLst/>
          </a:prstGeom>
          <a:noFill/>
          <a:ln w="57150" cmpd="thickThin" algn="ctr">
            <a:solidFill>
              <a:srgbClr val="EAEAF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1D5164D-65EB-7D92-36AA-E10A2E698A5E}"/>
              </a:ext>
            </a:extLst>
          </p:cNvPr>
          <p:cNvSpPr/>
          <p:nvPr/>
        </p:nvSpPr>
        <p:spPr bwMode="auto">
          <a:xfrm>
            <a:off x="1625600" y="0"/>
            <a:ext cx="101600" cy="6858000"/>
          </a:xfrm>
          <a:prstGeom prst="rect">
            <a:avLst/>
          </a:prstGeom>
          <a:solidFill>
            <a:srgbClr val="5C7AE1">
              <a:alpha val="51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63F688CB-E988-CF80-BAEE-E5556FBB608E}"/>
              </a:ext>
            </a:extLst>
          </p:cNvPr>
          <p:cNvSpPr/>
          <p:nvPr/>
        </p:nvSpPr>
        <p:spPr bwMode="auto">
          <a:xfrm>
            <a:off x="1746250" y="4867275"/>
            <a:ext cx="550863" cy="550863"/>
          </a:xfrm>
          <a:prstGeom prst="ellipse">
            <a:avLst/>
          </a:prstGeom>
          <a:solidFill>
            <a:srgbClr val="5C7AE1"/>
          </a:solidFill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95833F2-51F9-21C3-1927-47A5558E3F3C}"/>
              </a:ext>
            </a:extLst>
          </p:cNvPr>
          <p:cNvSpPr/>
          <p:nvPr/>
        </p:nvSpPr>
        <p:spPr bwMode="auto">
          <a:xfrm>
            <a:off x="1454150" y="5500688"/>
            <a:ext cx="144463" cy="144462"/>
          </a:xfrm>
          <a:prstGeom prst="ellipse">
            <a:avLst/>
          </a:prstGeom>
          <a:solidFill>
            <a:srgbClr val="5C7AE1"/>
          </a:solidFill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F610954B-A23C-A63E-F77F-56B442258BDC}"/>
              </a:ext>
            </a:extLst>
          </p:cNvPr>
          <p:cNvSpPr/>
          <p:nvPr/>
        </p:nvSpPr>
        <p:spPr bwMode="auto">
          <a:xfrm>
            <a:off x="2185988" y="5759450"/>
            <a:ext cx="252412" cy="252413"/>
          </a:xfrm>
          <a:prstGeom prst="ellipse">
            <a:avLst/>
          </a:prstGeom>
          <a:solidFill>
            <a:srgbClr val="5C7AE1"/>
          </a:solidFill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9065BCB1-BC7F-ADD3-63BB-0BBEC9303D9D}"/>
              </a:ext>
            </a:extLst>
          </p:cNvPr>
          <p:cNvSpPr/>
          <p:nvPr/>
        </p:nvSpPr>
        <p:spPr>
          <a:xfrm>
            <a:off x="1111250" y="4551363"/>
            <a:ext cx="307975" cy="315912"/>
          </a:xfrm>
          <a:prstGeom prst="ellipse">
            <a:avLst/>
          </a:prstGeom>
          <a:solidFill>
            <a:srgbClr val="5C7AE1"/>
          </a:solidFill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Прямая соединительная линия 20">
            <a:extLst>
              <a:ext uri="{FF2B5EF4-FFF2-40B4-BE49-F238E27FC236}">
                <a16:creationId xmlns:a16="http://schemas.microsoft.com/office/drawing/2014/main" id="{1EBCD8BB-C159-0C88-B31B-3474138F2A39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165225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" name="Прямая соединительная линия 23">
            <a:extLst>
              <a:ext uri="{FF2B5EF4-FFF2-40B4-BE49-F238E27FC236}">
                <a16:creationId xmlns:a16="http://schemas.microsoft.com/office/drawing/2014/main" id="{8C5DD74B-E76D-574A-F92B-218FABA01A5F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07988" y="0"/>
            <a:ext cx="0" cy="6858000"/>
          </a:xfrm>
          <a:prstGeom prst="line">
            <a:avLst/>
          </a:prstGeom>
          <a:noFill/>
          <a:ln w="28575" algn="ctr">
            <a:solidFill>
              <a:srgbClr val="EAEAF3">
                <a:alpha val="8196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3048000" y="3124200"/>
            <a:ext cx="82296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3048000" y="5003322"/>
            <a:ext cx="8229600" cy="1371600"/>
          </a:xfrm>
          <a:noFill/>
        </p:spPr>
        <p:txBody>
          <a:bodyPr/>
          <a:lstStyle>
            <a:lvl1pPr marL="0" indent="0" algn="l">
              <a:buNone/>
              <a:defRPr sz="1800" b="1">
                <a:solidFill>
                  <a:srgbClr val="5C7AE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20" name="Номер слайда 28">
            <a:extLst>
              <a:ext uri="{FF2B5EF4-FFF2-40B4-BE49-F238E27FC236}">
                <a16:creationId xmlns:a16="http://schemas.microsoft.com/office/drawing/2014/main" id="{E3A9C46B-B923-6BBA-9699-B438A2F55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xfrm>
            <a:off x="1757363" y="4868863"/>
            <a:ext cx="522287" cy="522287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F1853FEA-5305-7A4D-B6CC-90400BA4ECFB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644182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9956800" cy="48737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3" name="Номер слайда 22">
            <a:extLst>
              <a:ext uri="{FF2B5EF4-FFF2-40B4-BE49-F238E27FC236}">
                <a16:creationId xmlns:a16="http://schemas.microsoft.com/office/drawing/2014/main" id="{AF1D8000-9413-5311-36BC-077BA5D2A2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404835-CD55-5C43-BF3E-BC881939682E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513022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Номер слайда 22">
            <a:extLst>
              <a:ext uri="{FF2B5EF4-FFF2-40B4-BE49-F238E27FC236}">
                <a16:creationId xmlns:a16="http://schemas.microsoft.com/office/drawing/2014/main" id="{B34288D2-0FE3-F2A2-8715-8B2FFAFB10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516400-A28E-5440-B67B-2C467CD720E3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2063054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22">
            <a:extLst>
              <a:ext uri="{FF2B5EF4-FFF2-40B4-BE49-F238E27FC236}">
                <a16:creationId xmlns:a16="http://schemas.microsoft.com/office/drawing/2014/main" id="{022F5947-7DB7-E7E1-A4DA-ECBDB16C28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8E0D70-732E-2E42-AC9E-060723961D49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2551805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Прямая соединительная линия 15">
            <a:extLst>
              <a:ext uri="{FF2B5EF4-FFF2-40B4-BE49-F238E27FC236}">
                <a16:creationId xmlns:a16="http://schemas.microsoft.com/office/drawing/2014/main" id="{7F51E42E-5D18-FA00-36EB-3CAF6CA7692F}"/>
              </a:ext>
            </a:extLst>
          </p:cNvPr>
          <p:cNvSpPr>
            <a:spLocks noChangeShapeType="1"/>
          </p:cNvSpPr>
          <p:nvPr/>
        </p:nvSpPr>
        <p:spPr bwMode="auto">
          <a:xfrm>
            <a:off x="11684000" y="0"/>
            <a:ext cx="0" cy="6858000"/>
          </a:xfrm>
          <a:prstGeom prst="line">
            <a:avLst/>
          </a:prstGeom>
          <a:noFill/>
          <a:ln w="38100" algn="ctr">
            <a:solidFill>
              <a:srgbClr val="5C7AE1">
                <a:alpha val="9294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" name="Заголовок 21">
            <a:extLst>
              <a:ext uri="{FF2B5EF4-FFF2-40B4-BE49-F238E27FC236}">
                <a16:creationId xmlns:a16="http://schemas.microsoft.com/office/drawing/2014/main" id="{30B88449-78D2-C0C6-FE53-B80B5054B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9956800" cy="1143000"/>
          </a:xfrm>
          <a:prstGeom prst="rect">
            <a:avLst/>
          </a:prstGeom>
        </p:spPr>
        <p:txBody>
          <a:bodyPr vert="horz" anchor="ctr" anchorCtr="1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1028" name="Текст 12">
            <a:extLst>
              <a:ext uri="{FF2B5EF4-FFF2-40B4-BE49-F238E27FC236}">
                <a16:creationId xmlns:a16="http://schemas.microsoft.com/office/drawing/2014/main" id="{CEF0E1BF-E5EB-6D24-33E6-EE103C5E2C2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9956800" cy="487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  <a:endParaRPr lang="en-US" altLang="ru-RU"/>
          </a:p>
        </p:txBody>
      </p:sp>
      <p:sp>
        <p:nvSpPr>
          <p:cNvPr id="1029" name="Прямая соединительная линия 6">
            <a:extLst>
              <a:ext uri="{FF2B5EF4-FFF2-40B4-BE49-F238E27FC236}">
                <a16:creationId xmlns:a16="http://schemas.microsoft.com/office/drawing/2014/main" id="{A07F4E20-4BC3-DF0C-CA0F-34C0DC002F2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00" y="0"/>
            <a:ext cx="0" cy="6858000"/>
          </a:xfrm>
          <a:prstGeom prst="line">
            <a:avLst/>
          </a:prstGeom>
          <a:noFill/>
          <a:ln w="57150" cmpd="thickThin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30" name="Прямая соединительная линия 8">
            <a:extLst>
              <a:ext uri="{FF2B5EF4-FFF2-40B4-BE49-F238E27FC236}">
                <a16:creationId xmlns:a16="http://schemas.microsoft.com/office/drawing/2014/main" id="{BA747B7E-3DE4-71B5-E470-CDB15529E4E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88800" y="0"/>
            <a:ext cx="0" cy="6858000"/>
          </a:xfrm>
          <a:prstGeom prst="line">
            <a:avLst/>
          </a:prstGeom>
          <a:noFill/>
          <a:ln w="19050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EE24F7C-B83E-0906-AAB3-88655A5021FB}"/>
              </a:ext>
            </a:extLst>
          </p:cNvPr>
          <p:cNvSpPr/>
          <p:nvPr/>
        </p:nvSpPr>
        <p:spPr bwMode="auto">
          <a:xfrm>
            <a:off x="11785600" y="0"/>
            <a:ext cx="406400" cy="6858000"/>
          </a:xfrm>
          <a:prstGeom prst="rect">
            <a:avLst/>
          </a:prstGeom>
          <a:solidFill>
            <a:srgbClr val="EAEAF3">
              <a:alpha val="87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2" name="Прямая соединительная линия 10">
            <a:extLst>
              <a:ext uri="{FF2B5EF4-FFF2-40B4-BE49-F238E27FC236}">
                <a16:creationId xmlns:a16="http://schemas.microsoft.com/office/drawing/2014/main" id="{FA19B79F-C210-8566-2611-D254212BCDA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7200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943E2897-3DA2-9A29-6258-C6503A2C6D5E}"/>
              </a:ext>
            </a:extLst>
          </p:cNvPr>
          <p:cNvSpPr/>
          <p:nvPr/>
        </p:nvSpPr>
        <p:spPr>
          <a:xfrm>
            <a:off x="10960100" y="6073775"/>
            <a:ext cx="550863" cy="550863"/>
          </a:xfrm>
          <a:prstGeom prst="ellipse">
            <a:avLst/>
          </a:prstGeom>
          <a:solidFill>
            <a:srgbClr val="5C7AE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Номер слайда 22">
            <a:extLst>
              <a:ext uri="{FF2B5EF4-FFF2-40B4-BE49-F238E27FC236}">
                <a16:creationId xmlns:a16="http://schemas.microsoft.com/office/drawing/2014/main" id="{41041575-D270-8245-FC6E-14B8DDE006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4388" y="6092825"/>
            <a:ext cx="522287" cy="52228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 smtClean="0">
                <a:solidFill>
                  <a:srgbClr val="FFFFFF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04892001-5858-D947-BF12-C7932B4A31BB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  <p:pic>
        <p:nvPicPr>
          <p:cNvPr id="1035" name="Рисунок 1">
            <a:extLst>
              <a:ext uri="{FF2B5EF4-FFF2-40B4-BE49-F238E27FC236}">
                <a16:creationId xmlns:a16="http://schemas.microsoft.com/office/drawing/2014/main" id="{4B45F73E-69B0-4180-5985-0BE12BA0D55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-5400000">
            <a:off x="11583194" y="6133307"/>
            <a:ext cx="920750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74" r:id="rId1"/>
    <p:sldLayoutId id="2147483971" r:id="rId2"/>
    <p:sldLayoutId id="2147483972" r:id="rId3"/>
    <p:sldLayoutId id="2147483973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 kern="1200" cap="small">
          <a:solidFill>
            <a:srgbClr val="5C7AE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0000"/>
        <a:buFont typeface="Wingdings 2" pitchFamily="2" charset="2"/>
        <a:buChar char="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563" algn="l" rtl="0" eaLnBrk="0" fontAlgn="base" hangingPunct="0">
        <a:spcBef>
          <a:spcPct val="20000"/>
        </a:spcBef>
        <a:spcAft>
          <a:spcPct val="0"/>
        </a:spcAft>
        <a:buClr>
          <a:srgbClr val="4471A6"/>
        </a:buClr>
        <a:buSzPct val="6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87450" indent="-182563" algn="l" rtl="0" eaLnBrk="0" fontAlgn="base" hangingPunct="0">
        <a:spcBef>
          <a:spcPct val="20000"/>
        </a:spcBef>
        <a:spcAft>
          <a:spcPct val="0"/>
        </a:spcAft>
        <a:buClr>
          <a:srgbClr val="B2C1DB"/>
        </a:buClr>
        <a:buSzPct val="60000"/>
        <a:buFont typeface="Wingdings" pitchFamily="2" charset="2"/>
        <a:buChar char="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2088" indent="-182563" algn="l" rtl="0" eaLnBrk="0" fontAlgn="base" hangingPunct="0">
        <a:spcBef>
          <a:spcPct val="20000"/>
        </a:spcBef>
        <a:spcAft>
          <a:spcPct val="0"/>
        </a:spcAft>
        <a:buClr>
          <a:srgbClr val="DCB3B2"/>
        </a:buClr>
        <a:buSzPct val="68000"/>
        <a:buFont typeface="Wingdings 2" pitchFamily="2" charset="2"/>
        <a:buChar char="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ase.garant.ru/71556224/" TargetMode="External"/><Relationship Id="rId2" Type="http://schemas.openxmlformats.org/officeDocument/2006/relationships/hyperlink" Target="https://www.consultant.ru/document/cons_doc_LAW_389271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nsultant.ru/document/cons_doc_LAW_61798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221635127_Runtime_Execution_Monitoring_REM_to_Detect_and_Prevent_Malicious_Code_Execution" TargetMode="External"/><Relationship Id="rId2" Type="http://schemas.openxmlformats.org/officeDocument/2006/relationships/hyperlink" Target="https://www.grandviewresearch.com/industry-analysis/monitoring-tools-market-repor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dss-symposium.org/wp-content/uploads/2025-294-paper.pdf" TargetMode="External"/><Relationship Id="rId5" Type="http://schemas.openxmlformats.org/officeDocument/2006/relationships/hyperlink" Target="https://arxiv.org/abs/2408.12866" TargetMode="External"/><Relationship Id="rId4" Type="http://schemas.openxmlformats.org/officeDocument/2006/relationships/hyperlink" Target="https://dl.acm.org/doi/10.1145/3764580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3D9495-C681-ECB9-ED85-32FC002A1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0" y="1248237"/>
            <a:ext cx="8953500" cy="1561306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2800" dirty="0">
                <a:solidFill>
                  <a:srgbClr val="1D2F6A"/>
                </a:solidFill>
              </a:rPr>
              <a:t>РАЗРАБОТКА ИНСТРУМЕНТА ДЛЯ МОНИТОРИНГА ДОСТУПА К ПАМЯТИ В ЗАДАННОМ ПРОГРАММНОМ КОНТЕКСТЕ В ОПЕРАЦИОННОЙ СИСТЕМЕ LINUX</a:t>
            </a:r>
          </a:p>
        </p:txBody>
      </p:sp>
      <p:sp>
        <p:nvSpPr>
          <p:cNvPr id="23555" name="Подзаголовок 2">
            <a:extLst>
              <a:ext uri="{FF2B5EF4-FFF2-40B4-BE49-F238E27FC236}">
                <a16:creationId xmlns:a16="http://schemas.microsoft.com/office/drawing/2014/main" id="{A83B3885-069B-EA62-25A8-844E8C349E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19736" y="2782618"/>
            <a:ext cx="6853733" cy="523874"/>
          </a:xfrm>
        </p:spPr>
        <p:txBody>
          <a:bodyPr/>
          <a:lstStyle/>
          <a:p>
            <a:pPr algn="ctr" eaLnBrk="1" hangingPunct="1">
              <a:defRPr/>
            </a:pPr>
            <a:r>
              <a:rPr lang="ru-RU" altLang="ru-RU" sz="2800" dirty="0">
                <a:latin typeface="+mj-lt"/>
              </a:rPr>
              <a:t>Научная исследовательская работа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8195" name="Подзаголовок 2">
            <a:extLst>
              <a:ext uri="{FF2B5EF4-FFF2-40B4-BE49-F238E27FC236}">
                <a16:creationId xmlns:a16="http://schemas.microsoft.com/office/drawing/2014/main" id="{167D1051-E921-53E1-DA6A-56406EF5EE40}"/>
              </a:ext>
            </a:extLst>
          </p:cNvPr>
          <p:cNvSpPr txBox="1">
            <a:spLocks/>
          </p:cNvSpPr>
          <p:nvPr/>
        </p:nvSpPr>
        <p:spPr bwMode="auto">
          <a:xfrm>
            <a:off x="2662238" y="4221163"/>
            <a:ext cx="4321175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cs typeface="Times New Roman" panose="02020603050405020304" pitchFamily="18" charset="0"/>
              </a:rPr>
              <a:t>Автор:</a:t>
            </a:r>
            <a:br>
              <a:rPr lang="ru-RU" altLang="ru-RU" sz="2200" b="1" dirty="0">
                <a:cs typeface="Times New Roman" panose="02020603050405020304" pitchFamily="18" charset="0"/>
              </a:rPr>
            </a:br>
            <a:r>
              <a:rPr lang="ru-RU" altLang="ru-RU" sz="2200" b="1" dirty="0">
                <a:solidFill>
                  <a:srgbClr val="5C7AE1"/>
                </a:solidFill>
                <a:cs typeface="Times New Roman" panose="02020603050405020304" pitchFamily="18" charset="0"/>
              </a:rPr>
              <a:t>Доценко Владимир Алексеевич</a:t>
            </a:r>
            <a:endParaRPr lang="ru-RU" altLang="ru-RU" sz="2200" b="1" dirty="0">
              <a:cs typeface="Times New Roman" panose="02020603050405020304" pitchFamily="18" charset="0"/>
            </a:endParaRPr>
          </a:p>
        </p:txBody>
      </p:sp>
      <p:sp>
        <p:nvSpPr>
          <p:cNvPr id="8196" name="Google Shape;50;p1">
            <a:extLst>
              <a:ext uri="{FF2B5EF4-FFF2-40B4-BE49-F238E27FC236}">
                <a16:creationId xmlns:a16="http://schemas.microsoft.com/office/drawing/2014/main" id="{CAABE75E-248A-2602-1492-D03C0AAF5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5800" y="101600"/>
            <a:ext cx="1392238" cy="139223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4062D7"/>
            </a:solidFill>
            <a:miter lim="800000"/>
            <a:headEnd type="none" w="sm" len="sm"/>
            <a:tailEnd type="none" w="sm" len="sm"/>
          </a:ln>
        </p:spPr>
        <p:txBody>
          <a:bodyPr lIns="91425" tIns="45700" rIns="91425" bIns="4570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endParaRPr lang="ru-RU" altLang="ru-RU">
              <a:solidFill>
                <a:srgbClr val="FFFFFF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198" name="Google Shape;50;p1">
            <a:extLst>
              <a:ext uri="{FF2B5EF4-FFF2-40B4-BE49-F238E27FC236}">
                <a16:creationId xmlns:a16="http://schemas.microsoft.com/office/drawing/2014/main" id="{8AD07005-CB36-E07D-BE8A-F0473FEA28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688" y="1692275"/>
            <a:ext cx="1392237" cy="139065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4062D7"/>
            </a:solidFill>
            <a:miter lim="800000"/>
            <a:headEnd type="none" w="sm" len="sm"/>
            <a:tailEnd type="none" w="sm" len="sm"/>
          </a:ln>
        </p:spPr>
        <p:txBody>
          <a:bodyPr lIns="91425" tIns="45700" rIns="91425" bIns="4570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endParaRPr lang="ru-RU" altLang="ru-RU">
              <a:solidFill>
                <a:srgbClr val="FFFFFF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200" name="Подзаголовок 2">
            <a:extLst>
              <a:ext uri="{FF2B5EF4-FFF2-40B4-BE49-F238E27FC236}">
                <a16:creationId xmlns:a16="http://schemas.microsoft.com/office/drawing/2014/main" id="{056BFC60-C895-2E1A-5BD6-2DA1662D60C4}"/>
              </a:ext>
            </a:extLst>
          </p:cNvPr>
          <p:cNvSpPr txBox="1">
            <a:spLocks/>
          </p:cNvSpPr>
          <p:nvPr/>
        </p:nvSpPr>
        <p:spPr bwMode="auto">
          <a:xfrm>
            <a:off x="2662238" y="5065713"/>
            <a:ext cx="7429500" cy="884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cs typeface="Times New Roman" panose="02020603050405020304" pitchFamily="18" charset="0"/>
              </a:rPr>
              <a:t>Научный руководитель: </a:t>
            </a:r>
          </a:p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solidFill>
                  <a:srgbClr val="5C7AE1"/>
                </a:solidFill>
                <a:cs typeface="Times New Roman" panose="02020603050405020304" pitchFamily="18" charset="0"/>
              </a:rPr>
              <a:t>Коркин Игорь Юрьевич, к.т.н.</a:t>
            </a:r>
          </a:p>
        </p:txBody>
      </p:sp>
      <p:sp>
        <p:nvSpPr>
          <p:cNvPr id="8201" name="Подзаголовок 2">
            <a:extLst>
              <a:ext uri="{FF2B5EF4-FFF2-40B4-BE49-F238E27FC236}">
                <a16:creationId xmlns:a16="http://schemas.microsoft.com/office/drawing/2014/main" id="{059731DE-B013-C72D-CE1B-63E69FA1ACD4}"/>
              </a:ext>
            </a:extLst>
          </p:cNvPr>
          <p:cNvSpPr txBox="1">
            <a:spLocks/>
          </p:cNvSpPr>
          <p:nvPr/>
        </p:nvSpPr>
        <p:spPr bwMode="auto">
          <a:xfrm>
            <a:off x="4919663" y="6308725"/>
            <a:ext cx="4319587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000" dirty="0">
                <a:solidFill>
                  <a:srgbClr val="AAA9B2"/>
                </a:solidFill>
                <a:cs typeface="Times New Roman" panose="02020603050405020304" pitchFamily="18" charset="0"/>
              </a:rPr>
              <a:t>Город и год защиты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3660ABE3-C65D-BD68-5245-16DF60178C42}"/>
              </a:ext>
            </a:extLst>
          </p:cNvPr>
          <p:cNvSpPr txBox="1">
            <a:spLocks/>
          </p:cNvSpPr>
          <p:nvPr/>
        </p:nvSpPr>
        <p:spPr bwMode="auto">
          <a:xfrm>
            <a:off x="3496468" y="64299"/>
            <a:ext cx="7165975" cy="79655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None/>
              <a:defRPr sz="1800" b="1" kern="1200">
                <a:solidFill>
                  <a:srgbClr val="5C7AE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2" charset="2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4471A6"/>
              </a:buClr>
              <a:buSzPct val="60000"/>
              <a:buFont typeface="Wingdings" pitchFamily="2" charset="2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2C1DB"/>
              </a:buClr>
              <a:buSzPct val="6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None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None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Национальный исследовательский ядерный</a:t>
            </a:r>
            <a:r>
              <a:rPr lang="en-US" altLang="ru-RU" sz="2400" b="0" dirty="0">
                <a:solidFill>
                  <a:srgbClr val="AAA9B2"/>
                </a:solidFill>
                <a:latin typeface="+mj-lt"/>
              </a:rPr>
              <a:t> </a:t>
            </a: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университет «МИФИ»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22" name="Подзаголовок 2">
            <a:extLst>
              <a:ext uri="{FF2B5EF4-FFF2-40B4-BE49-F238E27FC236}">
                <a16:creationId xmlns:a16="http://schemas.microsoft.com/office/drawing/2014/main" id="{5F32A0CC-5B92-C2C9-7088-36DF1ED7E94F}"/>
              </a:ext>
            </a:extLst>
          </p:cNvPr>
          <p:cNvSpPr txBox="1">
            <a:spLocks/>
          </p:cNvSpPr>
          <p:nvPr/>
        </p:nvSpPr>
        <p:spPr bwMode="auto">
          <a:xfrm>
            <a:off x="3559534" y="881524"/>
            <a:ext cx="7165975" cy="523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None/>
              <a:defRPr sz="1800" b="1" kern="1200">
                <a:solidFill>
                  <a:srgbClr val="5C7AE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2" charset="2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4471A6"/>
              </a:buClr>
              <a:buSzPct val="60000"/>
              <a:buFont typeface="Wingdings" pitchFamily="2" charset="2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2C1DB"/>
              </a:buClr>
              <a:buSzPct val="6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None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None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Кафедра №42 «Криптологии и кибербезопасности»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2EC52F-72E2-B695-F192-3D5A7791B731}"/>
              </a:ext>
            </a:extLst>
          </p:cNvPr>
          <p:cNvSpPr txBox="1">
            <a:spLocks/>
          </p:cNvSpPr>
          <p:nvPr/>
        </p:nvSpPr>
        <p:spPr bwMode="auto">
          <a:xfrm>
            <a:off x="4583832" y="3377686"/>
            <a:ext cx="5117380" cy="673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1400" dirty="0">
                <a:solidFill>
                  <a:srgbClr val="AAA9B2"/>
                </a:solidFill>
                <a:cs typeface="Times New Roman" panose="02020603050405020304" pitchFamily="18" charset="0"/>
              </a:rPr>
              <a:t>Б23-505</a:t>
            </a:r>
          </a:p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1400" dirty="0">
                <a:solidFill>
                  <a:srgbClr val="AAA9B2"/>
                </a:solidFill>
                <a:cs typeface="Times New Roman" panose="02020603050405020304" pitchFamily="18" charset="0"/>
              </a:rPr>
              <a:t>Инновационные технологии компьютерной безопасности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A01993-7EC0-A053-DCDA-A32406D23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485" y="45565"/>
            <a:ext cx="1390008" cy="1390008"/>
          </a:xfrm>
          <a:prstGeom prst="rect">
            <a:avLst/>
          </a:prstGeom>
        </p:spPr>
      </p:pic>
      <p:pic>
        <p:nvPicPr>
          <p:cNvPr id="6" name="object 10" descr="A black and white logo  AI-generated content may be incorrect.">
            <a:extLst>
              <a:ext uri="{FF2B5EF4-FFF2-40B4-BE49-F238E27FC236}">
                <a16:creationId xmlns:a16="http://schemas.microsoft.com/office/drawing/2014/main" id="{EF7B6992-EB79-736E-03B7-AC14B7C165C8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991011" y="1727454"/>
            <a:ext cx="1321816" cy="13202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3404A-72AE-3D9F-E0B5-FCED9111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416" y="183233"/>
            <a:ext cx="9926955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Актуальность исследования</a:t>
            </a:r>
            <a:r>
              <a:rPr lang="en-US" sz="3200" b="1" dirty="0"/>
              <a:t>: </a:t>
            </a:r>
            <a:r>
              <a:rPr lang="ru-RU" b="1" cap="small" spc="-10" dirty="0"/>
              <a:t>государство</a:t>
            </a:r>
            <a:r>
              <a:rPr lang="ru-RU" b="1" cap="small" spc="75" dirty="0"/>
              <a:t> </a:t>
            </a:r>
            <a:r>
              <a:rPr lang="ru-RU" b="1" cap="small" dirty="0"/>
              <a:t>и</a:t>
            </a:r>
            <a:r>
              <a:rPr lang="ru-RU" b="1" cap="small" spc="25" dirty="0"/>
              <a:t> </a:t>
            </a:r>
            <a:r>
              <a:rPr lang="ru-RU" b="1" cap="small" spc="-10" dirty="0"/>
              <a:t>общество</a:t>
            </a:r>
            <a:endParaRPr lang="ru-RU" b="1" dirty="0"/>
          </a:p>
        </p:txBody>
      </p:sp>
      <p:sp>
        <p:nvSpPr>
          <p:cNvPr id="10242" name="Содержимое 2">
            <a:extLst>
              <a:ext uri="{FF2B5EF4-FFF2-40B4-BE49-F238E27FC236}">
                <a16:creationId xmlns:a16="http://schemas.microsoft.com/office/drawing/2014/main" id="{A48628D8-A160-B9DF-2F47-8B7F581CB3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23888" y="1000125"/>
            <a:ext cx="10080625" cy="5614988"/>
          </a:xfrm>
        </p:spPr>
        <p:txBody>
          <a:bodyPr/>
          <a:lstStyle/>
          <a:p>
            <a:pPr algn="just" eaLnBrk="1" hangingPunct="1">
              <a:buFont typeface="Wingdings" pitchFamily="2" charset="2"/>
              <a:buNone/>
            </a:pPr>
            <a:r>
              <a:rPr lang="ru-RU" altLang="ru-RU" sz="2600" dirty="0"/>
              <a:t>	</a:t>
            </a:r>
          </a:p>
        </p:txBody>
      </p:sp>
      <p:sp>
        <p:nvSpPr>
          <p:cNvPr id="10243" name="Номер слайда 3">
            <a:extLst>
              <a:ext uri="{FF2B5EF4-FFF2-40B4-BE49-F238E27FC236}">
                <a16:creationId xmlns:a16="http://schemas.microsoft.com/office/drawing/2014/main" id="{7634238C-54C8-DCF1-CA63-CFE329694C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1E612AB-852B-F145-82BA-3F1608B456E8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65E64DC5-85FA-ABAC-4E2E-405421BE71B9}"/>
              </a:ext>
            </a:extLst>
          </p:cNvPr>
          <p:cNvSpPr txBox="1"/>
          <p:nvPr/>
        </p:nvSpPr>
        <p:spPr>
          <a:xfrm>
            <a:off x="767408" y="908720"/>
            <a:ext cx="448119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latin typeface="Times New Roman"/>
                <a:cs typeface="Times New Roman"/>
              </a:rPr>
              <a:t>Запрос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со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стороны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государства: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9D9DF68C-B82E-4748-5516-AE68EC03CC46}"/>
              </a:ext>
            </a:extLst>
          </p:cNvPr>
          <p:cNvSpPr txBox="1"/>
          <p:nvPr/>
        </p:nvSpPr>
        <p:spPr>
          <a:xfrm>
            <a:off x="767408" y="1381415"/>
            <a:ext cx="471995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  <a:tab pos="1382395" algn="l"/>
                <a:tab pos="3490595" algn="l"/>
                <a:tab pos="4391025" algn="l"/>
              </a:tabLst>
            </a:pPr>
            <a:r>
              <a:rPr sz="2600" spc="-20" dirty="0">
                <a:latin typeface="Times New Roman"/>
                <a:cs typeface="Times New Roman"/>
              </a:rPr>
              <a:t>Указ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Президента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РФ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50" dirty="0">
                <a:latin typeface="Times New Roman"/>
                <a:cs typeface="Times New Roman"/>
              </a:rPr>
              <a:t>№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5" name="object 5">
            <a:extLst>
              <a:ext uri="{FF2B5EF4-FFF2-40B4-BE49-F238E27FC236}">
                <a16:creationId xmlns:a16="http://schemas.microsoft.com/office/drawing/2014/main" id="{1D1478CC-38E6-0758-E039-48F663CD36B8}"/>
              </a:ext>
            </a:extLst>
          </p:cNvPr>
          <p:cNvSpPr txBox="1"/>
          <p:nvPr/>
        </p:nvSpPr>
        <p:spPr>
          <a:xfrm>
            <a:off x="1040204" y="1777655"/>
            <a:ext cx="473646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867025" algn="l"/>
              </a:tabLst>
            </a:pPr>
            <a:r>
              <a:rPr sz="2600" spc="-10" dirty="0">
                <a:latin typeface="Times New Roman"/>
                <a:cs typeface="Times New Roman"/>
              </a:rPr>
              <a:t>технологического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суверенитета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7599A44B-ABD9-DBCD-79A4-4DCF001A0DFB}"/>
              </a:ext>
            </a:extLst>
          </p:cNvPr>
          <p:cNvSpPr txBox="1"/>
          <p:nvPr/>
        </p:nvSpPr>
        <p:spPr>
          <a:xfrm>
            <a:off x="5922236" y="1381415"/>
            <a:ext cx="4770120" cy="8185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8120" marR="5080" indent="-186055">
              <a:lnSpc>
                <a:spcPct val="100000"/>
              </a:lnSpc>
              <a:spcBef>
                <a:spcPts val="105"/>
              </a:spcBef>
              <a:tabLst>
                <a:tab pos="731520" algn="l"/>
                <a:tab pos="969644" algn="l"/>
                <a:tab pos="2980055" algn="l"/>
                <a:tab pos="3001010" algn="l"/>
              </a:tabLst>
            </a:pPr>
            <a:r>
              <a:rPr sz="2600" spc="-25" dirty="0">
                <a:latin typeface="Times New Roman"/>
                <a:cs typeface="Times New Roman"/>
              </a:rPr>
              <a:t>400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10" dirty="0">
                <a:latin typeface="Times New Roman"/>
                <a:cs typeface="Times New Roman"/>
              </a:rPr>
              <a:t>определяет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10" dirty="0">
                <a:latin typeface="Times New Roman"/>
                <a:cs typeface="Times New Roman"/>
              </a:rPr>
              <a:t>обеспечение </a:t>
            </a:r>
            <a:r>
              <a:rPr sz="2600" spc="-50" dirty="0">
                <a:latin typeface="Times New Roman"/>
                <a:cs typeface="Times New Roman"/>
              </a:rPr>
              <a:t>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безопасности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критической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7" name="object 7">
            <a:extLst>
              <a:ext uri="{FF2B5EF4-FFF2-40B4-BE49-F238E27FC236}">
                <a16:creationId xmlns:a16="http://schemas.microsoft.com/office/drawing/2014/main" id="{04C23830-E6F6-943C-53C6-A3951048601F}"/>
              </a:ext>
            </a:extLst>
          </p:cNvPr>
          <p:cNvSpPr txBox="1"/>
          <p:nvPr/>
        </p:nvSpPr>
        <p:spPr>
          <a:xfrm>
            <a:off x="767408" y="2173895"/>
            <a:ext cx="9926955" cy="20840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8255" algn="just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latin typeface="Times New Roman"/>
                <a:cs typeface="Times New Roman"/>
              </a:rPr>
              <a:t>информационной</a:t>
            </a:r>
            <a:r>
              <a:rPr sz="2600" spc="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инфраструктуры</a:t>
            </a:r>
            <a:r>
              <a:rPr sz="2600" spc="1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как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стратегический</a:t>
            </a:r>
            <a:r>
              <a:rPr sz="2600" spc="15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приоритет </a:t>
            </a:r>
            <a:r>
              <a:rPr sz="2600" spc="-20" dirty="0">
                <a:latin typeface="Times New Roman"/>
                <a:cs typeface="Times New Roman"/>
              </a:rPr>
              <a:t>[1].</a:t>
            </a:r>
            <a:endParaRPr sz="2600" dirty="0">
              <a:latin typeface="Times New Roman"/>
              <a:cs typeface="Times New Roman"/>
            </a:endParaRPr>
          </a:p>
          <a:p>
            <a:pPr marL="285115" marR="5080" indent="-27305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>
                <a:latin typeface="Times New Roman"/>
                <a:cs typeface="Times New Roman"/>
              </a:rPr>
              <a:t>Доктрина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dirty="0">
                <a:latin typeface="Times New Roman"/>
                <a:cs typeface="Times New Roman"/>
              </a:rPr>
              <a:t>информационной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dirty="0">
                <a:latin typeface="Times New Roman"/>
                <a:cs typeface="Times New Roman"/>
              </a:rPr>
              <a:t>безопасности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spc="-10" dirty="0">
                <a:latin typeface="Times New Roman"/>
                <a:cs typeface="Times New Roman"/>
              </a:rPr>
              <a:t>подчёркивает </a:t>
            </a:r>
            <a:r>
              <a:rPr sz="2600" dirty="0">
                <a:latin typeface="Times New Roman"/>
                <a:cs typeface="Times New Roman"/>
              </a:rPr>
              <a:t>необходимость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развития</a:t>
            </a:r>
            <a:r>
              <a:rPr sz="2600" spc="60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защищённых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технологий</a:t>
            </a:r>
            <a:r>
              <a:rPr sz="2600" spc="6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систем обнаружения</a:t>
            </a:r>
            <a:r>
              <a:rPr sz="2600" spc="-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киберугроз</a:t>
            </a:r>
            <a:r>
              <a:rPr sz="2600" spc="-110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[2].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8" name="object 8">
            <a:extLst>
              <a:ext uri="{FF2B5EF4-FFF2-40B4-BE49-F238E27FC236}">
                <a16:creationId xmlns:a16="http://schemas.microsoft.com/office/drawing/2014/main" id="{9EA7A515-1EAB-3765-9531-EBC79788C44E}"/>
              </a:ext>
            </a:extLst>
          </p:cNvPr>
          <p:cNvSpPr txBox="1"/>
          <p:nvPr/>
        </p:nvSpPr>
        <p:spPr>
          <a:xfrm>
            <a:off x="767408" y="4307571"/>
            <a:ext cx="7572375" cy="2047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-27305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>
                <a:latin typeface="Times New Roman"/>
                <a:cs typeface="Times New Roman"/>
              </a:rPr>
              <a:t>Федеральный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закон</a:t>
            </a:r>
            <a:r>
              <a:rPr sz="2600" spc="509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№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149-</a:t>
            </a:r>
            <a:r>
              <a:rPr sz="2600" dirty="0">
                <a:latin typeface="Times New Roman"/>
                <a:cs typeface="Times New Roman"/>
              </a:rPr>
              <a:t>ФЗ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устанавливает </a:t>
            </a:r>
            <a:r>
              <a:rPr sz="2600" dirty="0">
                <a:latin typeface="Times New Roman"/>
                <a:cs typeface="Times New Roman"/>
              </a:rPr>
              <a:t>обеспечению</a:t>
            </a:r>
            <a:r>
              <a:rPr sz="2600" spc="360" dirty="0">
                <a:latin typeface="Times New Roman"/>
                <a:cs typeface="Times New Roman"/>
              </a:rPr>
              <a:t>    </a:t>
            </a:r>
            <a:r>
              <a:rPr sz="2600" dirty="0">
                <a:latin typeface="Times New Roman"/>
                <a:cs typeface="Times New Roman"/>
              </a:rPr>
              <a:t>безопасности</a:t>
            </a:r>
            <a:r>
              <a:rPr sz="2600" spc="365" dirty="0">
                <a:latin typeface="Times New Roman"/>
                <a:cs typeface="Times New Roman"/>
              </a:rPr>
              <a:t>    </a:t>
            </a:r>
            <a:r>
              <a:rPr sz="2600" dirty="0">
                <a:latin typeface="Times New Roman"/>
                <a:cs typeface="Times New Roman"/>
              </a:rPr>
              <a:t>информации</a:t>
            </a:r>
            <a:r>
              <a:rPr sz="2600" spc="355" dirty="0">
                <a:latin typeface="Times New Roman"/>
                <a:cs typeface="Times New Roman"/>
              </a:rPr>
              <a:t>    </a:t>
            </a:r>
            <a:r>
              <a:rPr sz="2600" spc="-50" dirty="0">
                <a:latin typeface="Times New Roman"/>
                <a:cs typeface="Times New Roman"/>
              </a:rPr>
              <a:t>и </a:t>
            </a:r>
            <a:r>
              <a:rPr sz="2600" dirty="0">
                <a:latin typeface="Times New Roman"/>
                <a:cs typeface="Times New Roman"/>
              </a:rPr>
              <a:t>несанкционированного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[3].</a:t>
            </a:r>
            <a:endParaRPr sz="2600" dirty="0">
              <a:latin typeface="Times New Roman"/>
              <a:cs typeface="Times New Roman"/>
            </a:endParaRPr>
          </a:p>
          <a:p>
            <a:pPr marL="211454" indent="-139700">
              <a:lnSpc>
                <a:spcPct val="100000"/>
              </a:lnSpc>
              <a:spcBef>
                <a:spcPts val="790"/>
              </a:spcBef>
              <a:buAutoNum type="arabicPeriod"/>
              <a:tabLst>
                <a:tab pos="211454" algn="l"/>
              </a:tabLst>
            </a:pP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Указ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Президента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РФ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№</a:t>
            </a:r>
            <a:r>
              <a:rPr sz="1200" u="sng" spc="-8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400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«О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Стратегии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национальной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безопасности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Российской Федерации»</a:t>
            </a:r>
            <a:endParaRPr sz="1200" dirty="0">
              <a:latin typeface="Microsoft Sans Serif"/>
              <a:cs typeface="Microsoft Sans Serif"/>
            </a:endParaRPr>
          </a:p>
          <a:p>
            <a:pPr marL="211454" indent="-139700">
              <a:lnSpc>
                <a:spcPct val="100000"/>
              </a:lnSpc>
              <a:buAutoNum type="arabicPeriod"/>
              <a:tabLst>
                <a:tab pos="211454" algn="l"/>
              </a:tabLst>
            </a:pP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Доктрина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информационной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безопасности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Российской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Федерации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(утверждена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Указом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Президента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РФ</a:t>
            </a:r>
            <a:endParaRPr sz="1200" dirty="0">
              <a:latin typeface="Microsoft Sans Serif"/>
              <a:cs typeface="Microsoft Sans Serif"/>
            </a:endParaRPr>
          </a:p>
          <a:p>
            <a:pPr marL="84455">
              <a:lnSpc>
                <a:spcPct val="100000"/>
              </a:lnSpc>
            </a:pP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№</a:t>
            </a:r>
            <a:r>
              <a:rPr sz="1200" u="sng" spc="-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646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от</a:t>
            </a:r>
            <a:r>
              <a:rPr sz="1200" u="sng" spc="-7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3"/>
              </a:rPr>
              <a:t>05.12.2016)</a:t>
            </a:r>
            <a:endParaRPr sz="1200" dirty="0">
              <a:latin typeface="Arial MT"/>
              <a:cs typeface="Arial MT"/>
            </a:endParaRPr>
          </a:p>
          <a:p>
            <a:pPr marL="211454" indent="-139700">
              <a:lnSpc>
                <a:spcPct val="100000"/>
              </a:lnSpc>
              <a:spcBef>
                <a:spcPts val="5"/>
              </a:spcBef>
              <a:buAutoNum type="arabicPeriod" startAt="3"/>
              <a:tabLst>
                <a:tab pos="211454" algn="l"/>
              </a:tabLst>
            </a:pP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ФЗ</a:t>
            </a:r>
            <a:r>
              <a:rPr sz="1200" u="sng" spc="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№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149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-</a:t>
            </a:r>
            <a:r>
              <a:rPr sz="1200" u="sng" spc="-7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ФЗ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(27.07.2006)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«Об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информации,</a:t>
            </a:r>
            <a:r>
              <a:rPr sz="1200" u="sng" spc="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информационных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технологиях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и</a:t>
            </a:r>
            <a:r>
              <a:rPr sz="1200" u="sng" spc="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о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защите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информации»</a:t>
            </a:r>
            <a:endParaRPr sz="1200" dirty="0">
              <a:latin typeface="Microsoft Sans Serif"/>
              <a:cs typeface="Microsoft Sans Serif"/>
            </a:endParaRPr>
          </a:p>
        </p:txBody>
      </p:sp>
      <p:sp>
        <p:nvSpPr>
          <p:cNvPr id="19" name="object 9">
            <a:extLst>
              <a:ext uri="{FF2B5EF4-FFF2-40B4-BE49-F238E27FC236}">
                <a16:creationId xmlns:a16="http://schemas.microsoft.com/office/drawing/2014/main" id="{55C6B133-7007-12A6-E779-10995817B753}"/>
              </a:ext>
            </a:extLst>
          </p:cNvPr>
          <p:cNvSpPr txBox="1"/>
          <p:nvPr/>
        </p:nvSpPr>
        <p:spPr>
          <a:xfrm>
            <a:off x="8603207" y="4307571"/>
            <a:ext cx="2087245" cy="8191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015" marR="5080" indent="-234950">
              <a:lnSpc>
                <a:spcPct val="100000"/>
              </a:lnSpc>
              <a:spcBef>
                <a:spcPts val="105"/>
              </a:spcBef>
              <a:tabLst>
                <a:tab pos="1768475" algn="l"/>
                <a:tab pos="1913255" algn="l"/>
              </a:tabLst>
            </a:pPr>
            <a:r>
              <a:rPr sz="2600" spc="-10" dirty="0">
                <a:latin typeface="Times New Roman"/>
                <a:cs typeface="Times New Roman"/>
              </a:rPr>
              <a:t>требования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5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защите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40" dirty="0">
                <a:latin typeface="Times New Roman"/>
                <a:cs typeface="Times New Roman"/>
              </a:rPr>
              <a:t>от</a:t>
            </a:r>
            <a:endParaRPr sz="26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51018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3404A-72AE-3D9F-E0B5-FCED9111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23" y="137530"/>
            <a:ext cx="992695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spc="15" dirty="0"/>
              <a:t>Акт</a:t>
            </a:r>
            <a:r>
              <a:rPr lang="ru-RU" sz="3200" b="1" cap="small" spc="-490" dirty="0"/>
              <a:t>у</a:t>
            </a:r>
            <a:r>
              <a:rPr lang="ru-RU" sz="3200" b="1" cap="small" spc="10" dirty="0"/>
              <a:t>ал</a:t>
            </a:r>
            <a:r>
              <a:rPr lang="ru-RU" sz="3200" b="1" cap="small" spc="15" dirty="0"/>
              <a:t>ьн</a:t>
            </a:r>
            <a:r>
              <a:rPr lang="ru-RU" sz="3200" b="1" cap="small" spc="55" dirty="0"/>
              <a:t>о</a:t>
            </a:r>
            <a:r>
              <a:rPr lang="ru-RU" sz="3200" b="1" cap="small" spc="10" dirty="0"/>
              <a:t>ст</a:t>
            </a:r>
            <a:r>
              <a:rPr lang="ru-RU" sz="3200" b="1" cap="small" spc="15" dirty="0"/>
              <a:t>ь</a:t>
            </a:r>
            <a:r>
              <a:rPr lang="ru-RU" sz="3200" b="1" cap="small" spc="95" dirty="0"/>
              <a:t> </a:t>
            </a:r>
            <a:r>
              <a:rPr lang="ru-RU" sz="3200" b="1" cap="small" spc="-10" dirty="0"/>
              <a:t>исследования:</a:t>
            </a:r>
            <a:r>
              <a:rPr lang="ru-RU" sz="3200" b="1" cap="small" spc="-55" dirty="0"/>
              <a:t> </a:t>
            </a:r>
            <a:r>
              <a:rPr lang="ru-RU" sz="3200" b="1" cap="small" dirty="0"/>
              <a:t>потребности</a:t>
            </a:r>
            <a:r>
              <a:rPr lang="ru-RU" sz="3200" b="1" cap="small" spc="90" dirty="0"/>
              <a:t> </a:t>
            </a:r>
            <a:r>
              <a:rPr lang="ru-RU" sz="3200" b="1" cap="small" spc="-10" dirty="0"/>
              <a:t>индустрии</a:t>
            </a:r>
            <a:endParaRPr lang="ru-RU" b="1" dirty="0"/>
          </a:p>
        </p:txBody>
      </p:sp>
      <p:sp>
        <p:nvSpPr>
          <p:cNvPr id="10243" name="Номер слайда 3">
            <a:extLst>
              <a:ext uri="{FF2B5EF4-FFF2-40B4-BE49-F238E27FC236}">
                <a16:creationId xmlns:a16="http://schemas.microsoft.com/office/drawing/2014/main" id="{7634238C-54C8-DCF1-CA63-CFE329694C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1E612AB-852B-F145-82BA-3F1608B456E8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29" name="object 3">
            <a:extLst>
              <a:ext uri="{FF2B5EF4-FFF2-40B4-BE49-F238E27FC236}">
                <a16:creationId xmlns:a16="http://schemas.microsoft.com/office/drawing/2014/main" id="{D2E4F60E-5805-7E38-7F8B-481687314DC9}"/>
              </a:ext>
            </a:extLst>
          </p:cNvPr>
          <p:cNvSpPr txBox="1"/>
          <p:nvPr/>
        </p:nvSpPr>
        <p:spPr>
          <a:xfrm>
            <a:off x="623392" y="1074007"/>
            <a:ext cx="85985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4480" indent="-271780">
              <a:lnSpc>
                <a:spcPct val="100000"/>
              </a:lnSpc>
              <a:spcBef>
                <a:spcPts val="95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4480" algn="l"/>
                <a:tab pos="925194" algn="l"/>
                <a:tab pos="2018030" algn="l"/>
                <a:tab pos="3723640" algn="l"/>
                <a:tab pos="5069840" algn="l"/>
                <a:tab pos="6073775" algn="l"/>
                <a:tab pos="7726045" algn="l"/>
                <a:tab pos="8453120" algn="l"/>
              </a:tabLst>
            </a:pPr>
            <a:r>
              <a:rPr sz="2200" spc="-25" dirty="0">
                <a:latin typeface="Times New Roman"/>
                <a:cs typeface="Times New Roman"/>
              </a:rPr>
              <a:t>Всё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больше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организаций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внедряют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выполнения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кода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50" dirty="0">
                <a:latin typeface="Times New Roman"/>
                <a:cs typeface="Times New Roman"/>
              </a:rPr>
              <a:t>в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0" name="object 4">
            <a:extLst>
              <a:ext uri="{FF2B5EF4-FFF2-40B4-BE49-F238E27FC236}">
                <a16:creationId xmlns:a16="http://schemas.microsoft.com/office/drawing/2014/main" id="{4CD50497-55CA-B439-5F36-1E749B14BFD9}"/>
              </a:ext>
            </a:extLst>
          </p:cNvPr>
          <p:cNvSpPr txBox="1"/>
          <p:nvPr/>
        </p:nvSpPr>
        <p:spPr>
          <a:xfrm>
            <a:off x="4359047" y="1074007"/>
            <a:ext cx="6188710" cy="695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latin typeface="Times New Roman"/>
                <a:cs typeface="Times New Roman"/>
              </a:rPr>
              <a:t>реальном</a:t>
            </a:r>
            <a:endParaRPr sz="2200">
              <a:latin typeface="Times New Roman"/>
              <a:cs typeface="Times New Roman"/>
            </a:endParaRPr>
          </a:p>
          <a:p>
            <a:pPr marR="6985" algn="r">
              <a:lnSpc>
                <a:spcPct val="100000"/>
              </a:lnSpc>
              <a:tabLst>
                <a:tab pos="603250" algn="l"/>
                <a:tab pos="2770505" algn="l"/>
                <a:tab pos="3467100" algn="l"/>
                <a:tab pos="3811904" algn="l"/>
                <a:tab pos="4928870" algn="l"/>
              </a:tabLst>
            </a:pPr>
            <a:r>
              <a:rPr sz="2200" spc="-25" dirty="0">
                <a:latin typeface="Times New Roman"/>
                <a:cs typeface="Times New Roman"/>
              </a:rPr>
              <a:t>для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предотвращения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атак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50" dirty="0">
                <a:latin typeface="Times New Roman"/>
                <a:cs typeface="Times New Roman"/>
              </a:rPr>
              <a:t>и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анализа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поведения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1" name="object 5">
            <a:extLst>
              <a:ext uri="{FF2B5EF4-FFF2-40B4-BE49-F238E27FC236}">
                <a16:creationId xmlns:a16="http://schemas.microsoft.com/office/drawing/2014/main" id="{A49759E2-6022-724B-C1F5-0EF2C3B1D32F}"/>
              </a:ext>
            </a:extLst>
          </p:cNvPr>
          <p:cNvSpPr txBox="1"/>
          <p:nvPr/>
        </p:nvSpPr>
        <p:spPr>
          <a:xfrm>
            <a:off x="623392" y="1408983"/>
            <a:ext cx="3567429" cy="11080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95"/>
              </a:spcBef>
              <a:tabLst>
                <a:tab pos="1543685" algn="l"/>
                <a:tab pos="2138045" algn="l"/>
              </a:tabLst>
            </a:pPr>
            <a:r>
              <a:rPr sz="2200" spc="-10" dirty="0">
                <a:latin typeface="Times New Roman"/>
                <a:cs typeface="Times New Roman"/>
              </a:rPr>
              <a:t>времени,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что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необходимо</a:t>
            </a:r>
            <a:endParaRPr sz="2200">
              <a:latin typeface="Times New Roman"/>
              <a:cs typeface="Times New Roman"/>
            </a:endParaRPr>
          </a:p>
          <a:p>
            <a:pPr marL="285115">
              <a:lnSpc>
                <a:spcPct val="100000"/>
              </a:lnSpc>
              <a:spcBef>
                <a:spcPts val="5"/>
              </a:spcBef>
            </a:pPr>
            <a:r>
              <a:rPr sz="2200" spc="-10" dirty="0">
                <a:latin typeface="Times New Roman"/>
                <a:cs typeface="Times New Roman"/>
              </a:rPr>
              <a:t>приложений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[1-</a:t>
            </a:r>
            <a:r>
              <a:rPr sz="2200" spc="-25" dirty="0">
                <a:latin typeface="Times New Roman"/>
                <a:cs typeface="Times New Roman"/>
              </a:rPr>
              <a:t>2].</a:t>
            </a:r>
            <a:endParaRPr sz="2200">
              <a:latin typeface="Times New Roman"/>
              <a:cs typeface="Times New Roman"/>
            </a:endParaRPr>
          </a:p>
          <a:p>
            <a:pPr marL="284480" indent="-271780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4480" algn="l"/>
                <a:tab pos="1781810" algn="l"/>
              </a:tabLst>
            </a:pPr>
            <a:r>
              <a:rPr sz="2200" spc="-10" dirty="0">
                <a:latin typeface="Times New Roman"/>
                <a:cs typeface="Times New Roman"/>
              </a:rPr>
              <a:t>Обзорные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исследования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2" name="object 6">
            <a:extLst>
              <a:ext uri="{FF2B5EF4-FFF2-40B4-BE49-F238E27FC236}">
                <a16:creationId xmlns:a16="http://schemas.microsoft.com/office/drawing/2014/main" id="{A4BC09A8-5DCF-4E84-C6F8-1B7F0D84B094}"/>
              </a:ext>
            </a:extLst>
          </p:cNvPr>
          <p:cNvSpPr txBox="1"/>
          <p:nvPr/>
        </p:nvSpPr>
        <p:spPr>
          <a:xfrm>
            <a:off x="4313327" y="2156428"/>
            <a:ext cx="623189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237740" algn="l"/>
                <a:tab pos="2938780" algn="l"/>
                <a:tab pos="4039235" algn="l"/>
                <a:tab pos="5191760" algn="l"/>
              </a:tabLst>
            </a:pPr>
            <a:r>
              <a:rPr sz="2200" spc="-10" dirty="0">
                <a:latin typeface="Times New Roman"/>
                <a:cs typeface="Times New Roman"/>
              </a:rPr>
              <a:t>демонстрируют,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что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памяти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является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3" name="object 7">
            <a:extLst>
              <a:ext uri="{FF2B5EF4-FFF2-40B4-BE49-F238E27FC236}">
                <a16:creationId xmlns:a16="http://schemas.microsoft.com/office/drawing/2014/main" id="{ACC8BD64-5930-1AD2-5804-96443BC22F67}"/>
              </a:ext>
            </a:extLst>
          </p:cNvPr>
          <p:cNvSpPr txBox="1"/>
          <p:nvPr/>
        </p:nvSpPr>
        <p:spPr>
          <a:xfrm>
            <a:off x="623392" y="2491708"/>
            <a:ext cx="9924415" cy="2524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5115" marR="5080" algn="just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критически</a:t>
            </a:r>
            <a:r>
              <a:rPr sz="2200" spc="4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важным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для</a:t>
            </a:r>
            <a:r>
              <a:rPr sz="2200" spc="409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обнаружения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вредоносного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кода,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который</a:t>
            </a:r>
            <a:r>
              <a:rPr sz="2200" spc="409" dirty="0">
                <a:latin typeface="Times New Roman"/>
                <a:cs typeface="Times New Roman"/>
              </a:rPr>
              <a:t>  </a:t>
            </a:r>
            <a:r>
              <a:rPr sz="2200" spc="-25" dirty="0">
                <a:latin typeface="Times New Roman"/>
                <a:cs typeface="Times New Roman"/>
              </a:rPr>
              <a:t>не </a:t>
            </a:r>
            <a:r>
              <a:rPr sz="2200" dirty="0">
                <a:latin typeface="Times New Roman"/>
                <a:cs typeface="Times New Roman"/>
              </a:rPr>
              <a:t>выделяется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традиционными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средствами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[3].</a:t>
            </a:r>
            <a:endParaRPr sz="2200">
              <a:latin typeface="Times New Roman"/>
              <a:cs typeface="Times New Roman"/>
            </a:endParaRPr>
          </a:p>
          <a:p>
            <a:pPr marL="283845" marR="5080" indent="-27178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5115" algn="l"/>
              </a:tabLst>
            </a:pPr>
            <a:r>
              <a:rPr sz="2200" dirty="0">
                <a:latin typeface="Times New Roman"/>
                <a:cs typeface="Times New Roman"/>
              </a:rPr>
              <a:t>Извлечение  и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анализ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признаков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из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памяти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значительно</a:t>
            </a:r>
            <a:r>
              <a:rPr sz="2200" spc="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повышает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spc="-10" dirty="0">
                <a:latin typeface="Times New Roman"/>
                <a:cs typeface="Times New Roman"/>
              </a:rPr>
              <a:t>точность 	обнаружения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скрытого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вредоносного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ПО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[4].</a:t>
            </a:r>
            <a:endParaRPr sz="2200">
              <a:latin typeface="Times New Roman"/>
              <a:cs typeface="Times New Roman"/>
            </a:endParaRPr>
          </a:p>
          <a:p>
            <a:pPr marL="283845" marR="7620" indent="-27178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5115" algn="l"/>
              </a:tabLst>
            </a:pPr>
            <a:r>
              <a:rPr sz="2200" dirty="0">
                <a:latin typeface="Times New Roman"/>
                <a:cs typeface="Times New Roman"/>
              </a:rPr>
              <a:t>Развитие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конфиденциальных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вычислений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(Confidential</a:t>
            </a:r>
            <a:r>
              <a:rPr sz="2200" spc="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Computing),</a:t>
            </a:r>
            <a:r>
              <a:rPr sz="2200" spc="1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основанных 	</a:t>
            </a:r>
            <a:r>
              <a:rPr sz="2200" dirty="0">
                <a:latin typeface="Times New Roman"/>
                <a:cs typeface="Times New Roman"/>
              </a:rPr>
              <a:t>на</a:t>
            </a:r>
            <a:r>
              <a:rPr sz="2200" spc="2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изолированных</a:t>
            </a:r>
            <a:r>
              <a:rPr sz="2200" spc="30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средах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выполнения,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повышает</a:t>
            </a:r>
            <a:r>
              <a:rPr sz="2200" spc="29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требования</a:t>
            </a:r>
            <a:r>
              <a:rPr sz="2200" spc="30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к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инструментам 	</a:t>
            </a:r>
            <a:r>
              <a:rPr sz="2200" dirty="0">
                <a:latin typeface="Times New Roman"/>
                <a:cs typeface="Times New Roman"/>
              </a:rPr>
              <a:t>мониторинга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операций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с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памятью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для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верификации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безопасности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[5].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4" name="object 9">
            <a:extLst>
              <a:ext uri="{FF2B5EF4-FFF2-40B4-BE49-F238E27FC236}">
                <a16:creationId xmlns:a16="http://schemas.microsoft.com/office/drawing/2014/main" id="{89644D83-E766-BD02-98F9-5DE92B367B4A}"/>
              </a:ext>
            </a:extLst>
          </p:cNvPr>
          <p:cNvSpPr txBox="1"/>
          <p:nvPr/>
        </p:nvSpPr>
        <p:spPr>
          <a:xfrm>
            <a:off x="695325" y="5511642"/>
            <a:ext cx="754316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indent="-1397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139700" algn="l"/>
              </a:tabLst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Monitoring</a:t>
            </a:r>
            <a:r>
              <a:rPr sz="1200" u="sng" spc="-5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Tools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Market (2023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-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2030)</a:t>
            </a:r>
            <a:endParaRPr sz="1200">
              <a:latin typeface="Arial MT"/>
              <a:cs typeface="Arial MT"/>
            </a:endParaRPr>
          </a:p>
          <a:p>
            <a:pPr marL="12700" marR="5080" indent="-12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Runtime</a:t>
            </a:r>
            <a:r>
              <a:rPr sz="1200" i="1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Execution</a:t>
            </a:r>
            <a:r>
              <a:rPr sz="1200" i="1" u="sng" spc="-5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Monitoring</a:t>
            </a:r>
            <a:r>
              <a:rPr sz="1200" i="1" u="sng" spc="-4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как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подходу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обнаружению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и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предотвращению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выполнения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вредоносного</a:t>
            </a:r>
            <a:r>
              <a:rPr sz="1200" spc="-10" dirty="0">
                <a:solidFill>
                  <a:srgbClr val="0000FF"/>
                </a:solidFill>
                <a:latin typeface="Microsoft Sans Serif"/>
                <a:cs typeface="Microsoft Sans Serif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кода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реальном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времени</a:t>
            </a:r>
            <a:endParaRPr sz="1200">
              <a:latin typeface="Microsoft Sans Serif"/>
              <a:cs typeface="Microsoft Sans Serif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Memory</a:t>
            </a:r>
            <a:r>
              <a:rPr sz="1200" u="sng" spc="-8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Analysis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for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Malware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Detection:</a:t>
            </a:r>
            <a:r>
              <a:rPr sz="1200" u="sng" spc="-9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A</a:t>
            </a:r>
            <a:r>
              <a:rPr sz="1200" u="sng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Comprehensive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Survey</a:t>
            </a:r>
            <a:endParaRPr sz="1200">
              <a:latin typeface="Arial MT"/>
              <a:cs typeface="Arial MT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Obfuscated</a:t>
            </a:r>
            <a:r>
              <a:rPr sz="1200" u="sng" spc="-6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Memory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Malware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Detection</a:t>
            </a:r>
            <a:endParaRPr sz="1200">
              <a:latin typeface="Arial MT"/>
              <a:cs typeface="Arial MT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3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Blindfold:</a:t>
            </a:r>
            <a:r>
              <a:rPr sz="1200" u="sng" spc="-5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Confidential</a:t>
            </a:r>
            <a:r>
              <a:rPr sz="1200" u="sng" spc="-5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Memory</a:t>
            </a:r>
            <a:r>
              <a:rPr sz="1200" u="sng" spc="-3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Management</a:t>
            </a:r>
            <a:r>
              <a:rPr sz="1200" u="sng" spc="-5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by</a:t>
            </a:r>
            <a:r>
              <a:rPr sz="1200" u="sng" spc="-3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Untrusted</a:t>
            </a:r>
            <a:r>
              <a:rPr sz="1200" u="sng" spc="-4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Operating</a:t>
            </a:r>
            <a:r>
              <a:rPr sz="1200" u="sng" spc="-6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spc="-1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System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E0A602-0B8D-1DA0-9937-AD3AF87D3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274638"/>
            <a:ext cx="9586913" cy="725487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Степень</a:t>
            </a:r>
            <a:r>
              <a:rPr lang="ru-RU" sz="3200" b="1" cap="small" spc="25" dirty="0"/>
              <a:t> </a:t>
            </a:r>
            <a:r>
              <a:rPr lang="ru-RU" sz="3200" b="1" cap="small" dirty="0"/>
              <a:t>научной</a:t>
            </a:r>
            <a:r>
              <a:rPr lang="ru-RU" sz="3200" b="1" cap="small" spc="5" dirty="0"/>
              <a:t> </a:t>
            </a:r>
            <a:r>
              <a:rPr lang="ru-RU" sz="3200" b="1" cap="small" spc="-45" dirty="0"/>
              <a:t>разработанности</a:t>
            </a:r>
            <a:r>
              <a:rPr lang="ru-RU" sz="3200" b="1" cap="small" spc="30" dirty="0"/>
              <a:t> </a:t>
            </a:r>
            <a:r>
              <a:rPr lang="ru-RU" sz="3200" b="1" cap="small" spc="-70" dirty="0"/>
              <a:t>темы</a:t>
            </a:r>
            <a:endParaRPr lang="ru-RU" b="1" dirty="0"/>
          </a:p>
        </p:txBody>
      </p:sp>
      <p:sp>
        <p:nvSpPr>
          <p:cNvPr id="11267" name="Номер слайда 3">
            <a:extLst>
              <a:ext uri="{FF2B5EF4-FFF2-40B4-BE49-F238E27FC236}">
                <a16:creationId xmlns:a16="http://schemas.microsoft.com/office/drawing/2014/main" id="{FE07E4D3-A14F-AD14-26BD-C270C86C8A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7BAA999-97C4-484B-9E42-EF325405A809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04164F54-EA82-3A13-0F28-B220993AA732}"/>
              </a:ext>
            </a:extLst>
          </p:cNvPr>
          <p:cNvSpPr txBox="1"/>
          <p:nvPr/>
        </p:nvSpPr>
        <p:spPr>
          <a:xfrm>
            <a:off x="974484" y="893096"/>
            <a:ext cx="7929827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1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Основные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направления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в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lang="ru-RU" sz="1600" spc="-40" dirty="0">
                <a:latin typeface="Times New Roman"/>
                <a:cs typeface="Times New Roman"/>
              </a:rPr>
              <a:t>разработке инструментов мониторинга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</a:t>
            </a:r>
            <a:endParaRPr sz="1600" dirty="0">
              <a:latin typeface="Times New Roman"/>
              <a:cs typeface="Times New Roman"/>
            </a:endParaRPr>
          </a:p>
        </p:txBody>
      </p:sp>
      <p:graphicFrame>
        <p:nvGraphicFramePr>
          <p:cNvPr id="6" name="object 3">
            <a:extLst>
              <a:ext uri="{FF2B5EF4-FFF2-40B4-BE49-F238E27FC236}">
                <a16:creationId xmlns:a16="http://schemas.microsoft.com/office/drawing/2014/main" id="{F824CF6C-8C77-2FE9-CA37-71E84CA4B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548830"/>
              </p:ext>
            </p:extLst>
          </p:nvPr>
        </p:nvGraphicFramePr>
        <p:xfrm>
          <a:off x="479376" y="1285557"/>
          <a:ext cx="10370183" cy="52978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8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344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2755">
                <a:tc>
                  <a:txBody>
                    <a:bodyPr/>
                    <a:lstStyle/>
                    <a:p>
                      <a:pPr marL="4286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Направление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marL="61150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Авторы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marL="52387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Тема</a:t>
                      </a:r>
                      <a:r>
                        <a:rPr sz="1600" b="1" spc="-6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исследования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Недостатки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pPr marL="91440" marR="47879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следов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13144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O.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Kilic,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R.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Tallent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MemGaze: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быстрый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 marR="37592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эффективный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трасс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46545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Требует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Intel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PT,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большой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объём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данных,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нет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контекстного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реальном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времени.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91440" marR="52578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Автоматизация профилирования 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Pagani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F.,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Balzarotti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D.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25971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AutoProfile: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автоматическая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генерация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профилей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анализа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потребления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выявления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аномалий.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17335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Ограниченный</a:t>
                      </a:r>
                      <a:r>
                        <a:rPr sz="1600" spc="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динамический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мониторинг,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фокус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на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автоматизации,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а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не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на</a:t>
                      </a:r>
                      <a:r>
                        <a:rPr sz="1600" spc="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интерактивности.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91440" marR="13779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Профилирование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многоуровневой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Li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D.,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Ryu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J.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just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MTM: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методы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 marR="196850" algn="just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профилирования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миграции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памяти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многоуровневых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систем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53276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Ограниченная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применимость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задач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контекстного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наблюдения.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91440" marR="16256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Мониторинг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через обработку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faults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Arcangeli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A. 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113664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Использование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userfaultfd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к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56197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Высокие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накладные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расходы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при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частых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доступах,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сложность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реализации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контекстной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фильтрации.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66165">
                <a:tc>
                  <a:txBody>
                    <a:bodyPr/>
                    <a:lstStyle/>
                    <a:p>
                      <a:pPr marL="91440" marR="96266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Аппаратная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поддержка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Solihin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Y.,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Prvulovic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M.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8763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MemTracker: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Эффективная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и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программируемая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аппаратная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поддержка</a:t>
                      </a:r>
                      <a:r>
                        <a:rPr sz="1600" spc="-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отладки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46990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Требует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модификации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аппаратной архитектуры,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узконаправлен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на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отладку</a:t>
                      </a:r>
                      <a:r>
                        <a:rPr sz="16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ошибок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F2F05-2E0B-6E2F-C30C-4C059C9DC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Цель и задачи исследования</a:t>
            </a:r>
            <a:endParaRPr lang="ru-RU" b="1" dirty="0"/>
          </a:p>
        </p:txBody>
      </p:sp>
      <p:sp>
        <p:nvSpPr>
          <p:cNvPr id="12291" name="Номер слайда 3">
            <a:extLst>
              <a:ext uri="{FF2B5EF4-FFF2-40B4-BE49-F238E27FC236}">
                <a16:creationId xmlns:a16="http://schemas.microsoft.com/office/drawing/2014/main" id="{C44E34D9-E0F9-D3DA-419C-0D2018261A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9571A0B-46E5-7A4E-8984-1E4B38BED2E9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585BE5C-307A-409B-5BAC-908DB47FCF34}"/>
              </a:ext>
            </a:extLst>
          </p:cNvPr>
          <p:cNvSpPr txBox="1"/>
          <p:nvPr/>
        </p:nvSpPr>
        <p:spPr>
          <a:xfrm>
            <a:off x="702665" y="1021207"/>
            <a:ext cx="9925685" cy="29330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723900" algn="just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Цель</a:t>
            </a:r>
            <a:r>
              <a:rPr sz="2600" b="1" spc="61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исследования:</a:t>
            </a:r>
            <a:r>
              <a:rPr sz="2600" b="1" spc="6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Разработать</a:t>
            </a:r>
            <a:r>
              <a:rPr sz="2600" spc="6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методику</a:t>
            </a:r>
            <a:r>
              <a:rPr sz="2600" spc="6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60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программный </a:t>
            </a:r>
            <a:r>
              <a:rPr sz="2600" dirty="0">
                <a:latin typeface="Times New Roman"/>
                <a:cs typeface="Times New Roman"/>
              </a:rPr>
              <a:t>инструмент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для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чтения/записи/исполнения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spc="-50" dirty="0">
                <a:latin typeface="Times New Roman"/>
                <a:cs typeface="Times New Roman"/>
              </a:rPr>
              <a:t>в </a:t>
            </a:r>
            <a:r>
              <a:rPr sz="2600" dirty="0">
                <a:latin typeface="Times New Roman"/>
                <a:cs typeface="Times New Roman"/>
              </a:rPr>
              <a:t>память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целевого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процесса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1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Linux,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</a:t>
            </a:r>
            <a:r>
              <a:rPr sz="2600" spc="1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возможностью</a:t>
            </a:r>
            <a:r>
              <a:rPr sz="2600" spc="1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фильтрации</a:t>
            </a:r>
            <a:r>
              <a:rPr sz="2600" spc="114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по </a:t>
            </a:r>
            <a:r>
              <a:rPr sz="2600" dirty="0">
                <a:latin typeface="Times New Roman"/>
                <a:cs typeface="Times New Roman"/>
              </a:rPr>
              <a:t>контексту</a:t>
            </a:r>
            <a:r>
              <a:rPr sz="2600" spc="40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(поток,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модуль,</a:t>
            </a:r>
            <a:r>
              <a:rPr sz="2600" spc="4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системный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вызов,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адресный</a:t>
            </a:r>
            <a:r>
              <a:rPr sz="2600" spc="42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диапазон).</a:t>
            </a:r>
            <a:endParaRPr sz="2600" dirty="0">
              <a:latin typeface="Times New Roman"/>
              <a:cs typeface="Times New Roman"/>
            </a:endParaRPr>
          </a:p>
          <a:p>
            <a:pPr marL="927100" algn="just">
              <a:lnSpc>
                <a:spcPct val="100000"/>
              </a:lnSpc>
            </a:pPr>
            <a:r>
              <a:rPr sz="2600" b="1" dirty="0">
                <a:latin typeface="Times New Roman"/>
                <a:cs typeface="Times New Roman"/>
              </a:rPr>
              <a:t>Задачи</a:t>
            </a:r>
            <a:r>
              <a:rPr sz="2600" b="1" spc="-140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исследования:</a:t>
            </a:r>
            <a:endParaRPr sz="2600" dirty="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4F81BC"/>
                </a:solidFill>
                <a:latin typeface="Times New Roman"/>
                <a:cs typeface="Times New Roman"/>
              </a:rPr>
              <a:t>1)</a:t>
            </a:r>
            <a:r>
              <a:rPr sz="1800" spc="355" dirty="0">
                <a:solidFill>
                  <a:srgbClr val="4F81BC"/>
                </a:solidFill>
                <a:latin typeface="Times New Roman"/>
                <a:cs typeface="Times New Roman"/>
              </a:rPr>
              <a:t>   </a:t>
            </a:r>
            <a:r>
              <a:rPr sz="2600" spc="-10" dirty="0">
                <a:latin typeface="Times New Roman"/>
                <a:cs typeface="Times New Roman"/>
              </a:rPr>
              <a:t>Проанализировать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существующие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подходов</a:t>
            </a:r>
            <a:r>
              <a:rPr sz="2600" spc="-7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мониторингу;</a:t>
            </a:r>
            <a:endParaRPr sz="26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sz="1800" spc="-25" dirty="0">
                <a:solidFill>
                  <a:srgbClr val="4F81BC"/>
                </a:solidFill>
                <a:latin typeface="Times New Roman"/>
                <a:cs typeface="Times New Roman"/>
              </a:rPr>
              <a:t>2)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1F02AB4-9FDB-3ECD-B03E-D2782D75E608}"/>
              </a:ext>
            </a:extLst>
          </p:cNvPr>
          <p:cNvSpPr txBox="1"/>
          <p:nvPr/>
        </p:nvSpPr>
        <p:spPr>
          <a:xfrm>
            <a:off x="1217777" y="3551682"/>
            <a:ext cx="9409430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594610" algn="l"/>
                <a:tab pos="4636770" algn="l"/>
                <a:tab pos="6746240" algn="l"/>
                <a:tab pos="7543800" algn="l"/>
              </a:tabLst>
            </a:pPr>
            <a:r>
              <a:rPr sz="2600" spc="-10" dirty="0">
                <a:latin typeface="Times New Roman"/>
                <a:cs typeface="Times New Roman"/>
              </a:rPr>
              <a:t>Спроектировать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архитектуру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инструмента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для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контекстного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3F302A09-2714-F4E3-AC20-D3EFEDE3B954}"/>
              </a:ext>
            </a:extLst>
          </p:cNvPr>
          <p:cNvSpPr txBox="1"/>
          <p:nvPr/>
        </p:nvSpPr>
        <p:spPr>
          <a:xfrm>
            <a:off x="702665" y="3872705"/>
            <a:ext cx="9921875" cy="183896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527685">
              <a:lnSpc>
                <a:spcPct val="100000"/>
              </a:lnSpc>
              <a:spcBef>
                <a:spcPts val="695"/>
              </a:spcBef>
            </a:pP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памяти;</a:t>
            </a:r>
            <a:endParaRPr sz="2600">
              <a:latin typeface="Times New Roman"/>
              <a:cs typeface="Times New Roman"/>
            </a:endParaRPr>
          </a:p>
          <a:p>
            <a:pPr marL="527685" marR="5080" indent="-515620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AutoNum type="arabicParenR" startAt="3"/>
              <a:tabLst>
                <a:tab pos="527685" algn="l"/>
                <a:tab pos="2662555" algn="l"/>
                <a:tab pos="3291204" algn="l"/>
                <a:tab pos="5426075" algn="l"/>
                <a:tab pos="7179309" algn="l"/>
                <a:tab pos="9424035" algn="l"/>
              </a:tabLst>
            </a:pPr>
            <a:r>
              <a:rPr sz="2600" spc="-10" dirty="0">
                <a:latin typeface="Times New Roman"/>
                <a:cs typeface="Times New Roman"/>
              </a:rPr>
              <a:t>Разработать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50" dirty="0">
                <a:latin typeface="Times New Roman"/>
                <a:cs typeface="Times New Roman"/>
              </a:rPr>
              <a:t>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реализовать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прототип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инструмента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для </a:t>
            </a: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памяти;</a:t>
            </a:r>
            <a:endParaRPr sz="2600">
              <a:latin typeface="Times New Roman"/>
              <a:cs typeface="Times New Roman"/>
            </a:endParaRPr>
          </a:p>
          <a:p>
            <a:pPr marL="527685" indent="-514984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AutoNum type="arabicParenR" startAt="3"/>
              <a:tabLst>
                <a:tab pos="527685" algn="l"/>
              </a:tabLst>
            </a:pPr>
            <a:r>
              <a:rPr sz="2600" dirty="0">
                <a:latin typeface="Times New Roman"/>
                <a:cs typeface="Times New Roman"/>
              </a:rPr>
              <a:t>Провести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тестирование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разработанного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прототипа;</a:t>
            </a:r>
            <a:endParaRPr sz="2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BF04-0530-1845-8DC9-0DB2A064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Объект и предмет исследования</a:t>
            </a:r>
            <a:endParaRPr lang="ru-RU" b="1" dirty="0"/>
          </a:p>
        </p:txBody>
      </p:sp>
      <p:sp>
        <p:nvSpPr>
          <p:cNvPr id="13315" name="Номер слайда 3">
            <a:extLst>
              <a:ext uri="{FF2B5EF4-FFF2-40B4-BE49-F238E27FC236}">
                <a16:creationId xmlns:a16="http://schemas.microsoft.com/office/drawing/2014/main" id="{2B1C81ED-CD10-C38C-C75E-A8A511A6D1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2CB205B-245A-4848-B7E7-21E708D5CB6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9C0113A6-48F5-1E81-ECCC-564D6FCA2D7A}"/>
              </a:ext>
            </a:extLst>
          </p:cNvPr>
          <p:cNvSpPr txBox="1"/>
          <p:nvPr/>
        </p:nvSpPr>
        <p:spPr>
          <a:xfrm>
            <a:off x="751840" y="1700808"/>
            <a:ext cx="9926320" cy="28930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6350" algn="just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Объект</a:t>
            </a:r>
            <a:r>
              <a:rPr sz="2600" b="1" spc="61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исследования</a:t>
            </a:r>
            <a:r>
              <a:rPr sz="2600" b="1" spc="6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—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мониторинг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к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памяти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spc="-50" dirty="0">
                <a:latin typeface="Times New Roman"/>
                <a:cs typeface="Times New Roman"/>
              </a:rPr>
              <a:t>в </a:t>
            </a:r>
            <a:r>
              <a:rPr sz="2600" dirty="0">
                <a:latin typeface="Times New Roman"/>
                <a:cs typeface="Times New Roman"/>
              </a:rPr>
              <a:t>операционной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системе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Linux,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включая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методы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инструменты</a:t>
            </a:r>
            <a:r>
              <a:rPr sz="2600" spc="575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для </a:t>
            </a:r>
            <a:r>
              <a:rPr sz="2600" dirty="0">
                <a:latin typeface="Times New Roman"/>
                <a:cs typeface="Times New Roman"/>
              </a:rPr>
              <a:t>отслеживания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-7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памятью.</a:t>
            </a:r>
            <a:endParaRPr sz="2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35"/>
              </a:spcBef>
            </a:pPr>
            <a:endParaRPr sz="26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00000"/>
              </a:lnSpc>
            </a:pPr>
            <a:r>
              <a:rPr sz="2600" b="1" dirty="0">
                <a:latin typeface="Times New Roman"/>
                <a:cs typeface="Times New Roman"/>
              </a:rPr>
              <a:t>Предмет</a:t>
            </a:r>
            <a:r>
              <a:rPr sz="2600" b="1" spc="41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исследования</a:t>
            </a:r>
            <a:r>
              <a:rPr sz="2600" b="1" spc="39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–</a:t>
            </a:r>
            <a:r>
              <a:rPr sz="2600" spc="43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разработка</a:t>
            </a:r>
            <a:r>
              <a:rPr sz="2400" spc="3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инструмента,</a:t>
            </a:r>
            <a:r>
              <a:rPr sz="2400" spc="3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который</a:t>
            </a:r>
            <a:r>
              <a:rPr sz="2400" spc="39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обеспечит </a:t>
            </a:r>
            <a:r>
              <a:rPr sz="2400" dirty="0">
                <a:latin typeface="Times New Roman"/>
                <a:cs typeface="Times New Roman"/>
              </a:rPr>
              <a:t>контекстный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мониторинг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доступа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к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памяти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в</a:t>
            </a:r>
            <a:r>
              <a:rPr sz="2400" spc="17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Linux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с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spc="-10" dirty="0">
                <a:latin typeface="Times New Roman"/>
                <a:cs typeface="Times New Roman"/>
              </a:rPr>
              <a:t>возможностью </a:t>
            </a:r>
            <a:r>
              <a:rPr sz="2400" dirty="0">
                <a:latin typeface="Times New Roman"/>
                <a:cs typeface="Times New Roman"/>
              </a:rPr>
              <a:t>фильтрации</a:t>
            </a:r>
            <a:r>
              <a:rPr sz="2400" spc="509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операций</a:t>
            </a:r>
            <a:r>
              <a:rPr sz="2400" spc="5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по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потоку,</a:t>
            </a:r>
            <a:r>
              <a:rPr sz="2400" spc="49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модулю,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системному</a:t>
            </a:r>
            <a:r>
              <a:rPr sz="2400" spc="509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вызову</a:t>
            </a:r>
            <a:r>
              <a:rPr sz="2400" spc="5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адресу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BF04-0530-1845-8DC9-0DB2A064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131" y="980728"/>
            <a:ext cx="1081154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Основные</a:t>
            </a:r>
            <a:r>
              <a:rPr lang="ru-RU" sz="3200" b="1" cap="small" spc="20" dirty="0"/>
              <a:t> </a:t>
            </a:r>
            <a:r>
              <a:rPr lang="ru-RU" sz="3200" b="1" cap="small" dirty="0"/>
              <a:t>сценарии</a:t>
            </a:r>
            <a:r>
              <a:rPr lang="ru-RU" sz="3200" b="1" cap="small" spc="30" dirty="0"/>
              <a:t> </a:t>
            </a:r>
            <a:r>
              <a:rPr lang="ru-RU" sz="3200" b="1" cap="small" spc="-10" dirty="0"/>
              <a:t>использования</a:t>
            </a:r>
            <a:r>
              <a:rPr lang="ru-RU" sz="3200" b="1" cap="small" spc="15" dirty="0"/>
              <a:t> </a:t>
            </a:r>
            <a:r>
              <a:rPr lang="ru-RU" sz="3200" b="1" cap="small" spc="-10" dirty="0"/>
              <a:t>мониторинга</a:t>
            </a:r>
            <a:r>
              <a:rPr lang="ru-RU" sz="3200" b="1" cap="small" spc="20" dirty="0"/>
              <a:t> </a:t>
            </a:r>
            <a:r>
              <a:rPr lang="ru-RU" sz="3200" b="1" cap="small" spc="-25" dirty="0"/>
              <a:t>памяти</a:t>
            </a:r>
            <a:endParaRPr lang="ru-RU" b="1" dirty="0"/>
          </a:p>
        </p:txBody>
      </p:sp>
      <p:sp>
        <p:nvSpPr>
          <p:cNvPr id="13315" name="Номер слайда 3">
            <a:extLst>
              <a:ext uri="{FF2B5EF4-FFF2-40B4-BE49-F238E27FC236}">
                <a16:creationId xmlns:a16="http://schemas.microsoft.com/office/drawing/2014/main" id="{2B1C81ED-CD10-C38C-C75E-A8A511A6D1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2CB205B-245A-4848-B7E7-21E708D5CB6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24DB8F2-C192-4D19-3606-6FA06FD3BF54}"/>
              </a:ext>
            </a:extLst>
          </p:cNvPr>
          <p:cNvSpPr txBox="1"/>
          <p:nvPr/>
        </p:nvSpPr>
        <p:spPr>
          <a:xfrm>
            <a:off x="1046163" y="2420888"/>
            <a:ext cx="9928225" cy="32734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-27305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b="1" dirty="0">
                <a:latin typeface="Times New Roman"/>
                <a:cs typeface="Times New Roman"/>
              </a:rPr>
              <a:t>Защита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обрабатываемой</a:t>
            </a:r>
            <a:r>
              <a:rPr sz="2600" b="1" spc="7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информации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в</a:t>
            </a:r>
            <a:r>
              <a:rPr sz="2600" b="1" spc="6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памяти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–</a:t>
            </a:r>
            <a:r>
              <a:rPr sz="2600" spc="7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выявление </a:t>
            </a:r>
            <a:r>
              <a:rPr sz="2600" dirty="0">
                <a:latin typeface="Times New Roman"/>
                <a:cs typeface="Times New Roman"/>
              </a:rPr>
              <a:t>несанкционированных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с  конфиденциальными</a:t>
            </a:r>
            <a:r>
              <a:rPr sz="2600" spc="1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данными </a:t>
            </a:r>
            <a:r>
              <a:rPr sz="2600" dirty="0">
                <a:latin typeface="Times New Roman"/>
                <a:cs typeface="Times New Roman"/>
              </a:rPr>
              <a:t>(ключи,</a:t>
            </a:r>
            <a:r>
              <a:rPr sz="2600" spc="30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персональная</a:t>
            </a:r>
            <a:r>
              <a:rPr sz="2600" spc="2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информация)</a:t>
            </a:r>
            <a:r>
              <a:rPr sz="2600" spc="3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3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памяти,</a:t>
            </a:r>
            <a:r>
              <a:rPr sz="2600" spc="3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определяя</a:t>
            </a:r>
            <a:r>
              <a:rPr sz="2600" spc="31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источник доступа.</a:t>
            </a:r>
            <a:endParaRPr sz="2600" dirty="0">
              <a:latin typeface="Times New Roman"/>
              <a:cs typeface="Times New Roman"/>
            </a:endParaRPr>
          </a:p>
          <a:p>
            <a:pPr marL="285115" marR="10160" indent="-27305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b="1" dirty="0">
                <a:latin typeface="Times New Roman"/>
                <a:cs typeface="Times New Roman"/>
              </a:rPr>
              <a:t>Контроль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целостности</a:t>
            </a:r>
            <a:r>
              <a:rPr sz="2600" b="1" spc="63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глобальных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флагов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в</a:t>
            </a:r>
            <a:r>
              <a:rPr sz="2600" b="1" spc="62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памяти</a:t>
            </a:r>
            <a:r>
              <a:rPr sz="2600" b="1" spc="625" dirty="0">
                <a:latin typeface="Times New Roman"/>
                <a:cs typeface="Times New Roman"/>
              </a:rPr>
              <a:t>  </a:t>
            </a:r>
            <a:r>
              <a:rPr sz="2600" spc="-50" dirty="0">
                <a:latin typeface="Times New Roman"/>
                <a:cs typeface="Times New Roman"/>
              </a:rPr>
              <a:t>– </a:t>
            </a:r>
            <a:r>
              <a:rPr sz="2600" dirty="0">
                <a:latin typeface="Times New Roman"/>
                <a:cs typeface="Times New Roman"/>
              </a:rPr>
              <a:t>обнаружение</a:t>
            </a:r>
            <a:r>
              <a:rPr sz="2600" spc="4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несанкционированных</a:t>
            </a:r>
            <a:r>
              <a:rPr sz="2600" spc="409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модификации</a:t>
            </a:r>
            <a:r>
              <a:rPr sz="2600" spc="405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критических </a:t>
            </a:r>
            <a:r>
              <a:rPr sz="2600" dirty="0">
                <a:latin typeface="Times New Roman"/>
                <a:cs typeface="Times New Roman"/>
              </a:rPr>
              <a:t>данных</a:t>
            </a:r>
            <a:r>
              <a:rPr sz="2600" spc="2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(флагов</a:t>
            </a:r>
            <a:r>
              <a:rPr sz="2600" spc="2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аутентификации,</a:t>
            </a:r>
            <a:r>
              <a:rPr sz="2600" spc="22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указателей),</a:t>
            </a:r>
            <a:r>
              <a:rPr sz="2600" spc="22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обеспечивая</a:t>
            </a:r>
            <a:r>
              <a:rPr sz="2600" spc="24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защиту </a:t>
            </a:r>
            <a:r>
              <a:rPr sz="2600" dirty="0">
                <a:latin typeface="Times New Roman"/>
                <a:cs typeface="Times New Roman"/>
              </a:rPr>
              <a:t>от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атак,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направленных</a:t>
            </a:r>
            <a:r>
              <a:rPr sz="2600" spc="-8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нарушение</a:t>
            </a:r>
            <a:r>
              <a:rPr sz="2600" spc="-8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логики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работы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программы.</a:t>
            </a:r>
            <a:endParaRPr sz="2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01113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48FB69-5DF9-4D88-F8CC-391CB14FF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spc="-40" dirty="0"/>
              <a:t>Задачи</a:t>
            </a:r>
            <a:r>
              <a:rPr lang="ru-RU" sz="3200" b="1" cap="small" spc="-60" dirty="0"/>
              <a:t> </a:t>
            </a:r>
            <a:r>
              <a:rPr lang="ru-RU" sz="3200" b="1" cap="small" spc="-114" dirty="0"/>
              <a:t>этапа</a:t>
            </a:r>
            <a:endParaRPr lang="ru-RU" b="1" dirty="0"/>
          </a:p>
        </p:txBody>
      </p:sp>
      <p:sp>
        <p:nvSpPr>
          <p:cNvPr id="15363" name="Номер слайда 3">
            <a:extLst>
              <a:ext uri="{FF2B5EF4-FFF2-40B4-BE49-F238E27FC236}">
                <a16:creationId xmlns:a16="http://schemas.microsoft.com/office/drawing/2014/main" id="{3249FF91-60FA-6F3F-582E-67AC3B4FAD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5FD65D4-433E-D34B-869F-455470156A5D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E44420D4-9086-1F38-E173-8E93BDA29C4B}"/>
              </a:ext>
            </a:extLst>
          </p:cNvPr>
          <p:cNvSpPr txBox="1"/>
          <p:nvPr/>
        </p:nvSpPr>
        <p:spPr>
          <a:xfrm>
            <a:off x="695400" y="1340768"/>
            <a:ext cx="9843770" cy="89062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Основные</a:t>
            </a:r>
            <a:r>
              <a:rPr sz="2600" b="1" spc="-10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задачи</a:t>
            </a:r>
            <a:r>
              <a:rPr sz="2600" b="1" spc="-70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на</a:t>
            </a:r>
            <a:r>
              <a:rPr sz="2600" b="1" spc="-65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семестр:</a:t>
            </a:r>
            <a:endParaRPr sz="2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5"/>
              </a:spcBef>
            </a:pPr>
            <a:r>
              <a:rPr lang="en-US" sz="26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</a:t>
            </a:r>
            <a:r>
              <a:rPr lang="ru-RU" sz="260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О</a:t>
            </a:r>
            <a:endParaRPr sz="2600" dirty="0">
              <a:solidFill>
                <a:srgbClr val="FF0000"/>
              </a:solidFill>
              <a:highlight>
                <a:srgbClr val="FFFF00"/>
              </a:highlight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32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 </a:t>
            </a:r>
            <a:r>
              <a:rPr lang="ru-RU" sz="32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ГЛАВА 1</a:t>
            </a:r>
            <a:endParaRPr lang="ru-RU" b="1" dirty="0"/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ru-RU" sz="1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32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 </a:t>
            </a:r>
            <a:r>
              <a:rPr lang="ru-RU" sz="32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ГЛАВА 2</a:t>
            </a:r>
            <a:endParaRPr lang="ru-RU" b="1" dirty="0"/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ru-RU" sz="14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251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32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 </a:t>
            </a:r>
            <a:r>
              <a:rPr lang="ru-RU" sz="32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ГЛАВА 3</a:t>
            </a:r>
            <a:endParaRPr lang="ru-RU" b="1" dirty="0"/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ru-RU" sz="14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9201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Результаты работы и основные выводы</a:t>
            </a:r>
            <a:endParaRPr lang="ru-RU" b="1" dirty="0"/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5A3B0C6E-3E26-2007-AB7C-36D06FF9316E}"/>
              </a:ext>
            </a:extLst>
          </p:cNvPr>
          <p:cNvSpPr txBox="1"/>
          <p:nvPr/>
        </p:nvSpPr>
        <p:spPr>
          <a:xfrm>
            <a:off x="630123" y="926439"/>
            <a:ext cx="9926320" cy="14729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95250" indent="537845" algn="just">
              <a:lnSpc>
                <a:spcPct val="119200"/>
              </a:lnSpc>
              <a:spcBef>
                <a:spcPts val="100"/>
              </a:spcBef>
            </a:pP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-25" dirty="0">
                <a:latin typeface="Times New Roman"/>
                <a:cs typeface="Times New Roman"/>
              </a:rPr>
              <a:t> результате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выполнения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научно-</a:t>
            </a:r>
            <a:r>
              <a:rPr sz="2600" spc="-20" dirty="0">
                <a:latin typeface="Times New Roman"/>
                <a:cs typeface="Times New Roman"/>
              </a:rPr>
              <a:t>исследовательской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работы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были </a:t>
            </a:r>
            <a:r>
              <a:rPr sz="2600" dirty="0">
                <a:latin typeface="Times New Roman"/>
                <a:cs typeface="Times New Roman"/>
              </a:rPr>
              <a:t>решены</a:t>
            </a:r>
            <a:r>
              <a:rPr sz="2600" spc="-7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поставленные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задачи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этот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10" dirty="0" err="1">
                <a:latin typeface="Times New Roman"/>
                <a:cs typeface="Times New Roman"/>
              </a:rPr>
              <a:t>семестр</a:t>
            </a:r>
            <a:r>
              <a:rPr sz="2600" spc="-10" dirty="0">
                <a:latin typeface="Times New Roman"/>
                <a:cs typeface="Times New Roman"/>
              </a:rPr>
              <a:t>.</a:t>
            </a:r>
            <a:endParaRPr lang="ru-RU" sz="2600" spc="-10" dirty="0">
              <a:latin typeface="Times New Roman"/>
              <a:cs typeface="Times New Roman"/>
            </a:endParaRPr>
          </a:p>
          <a:p>
            <a:pPr marL="285115" indent="-272415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en-US" sz="28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</a:t>
            </a:r>
            <a:endParaRPr lang="ru-RU" sz="2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Дальнейшие</a:t>
            </a:r>
            <a:r>
              <a:rPr lang="ru-RU" sz="3200" b="1" cap="small" spc="55" dirty="0"/>
              <a:t> </a:t>
            </a:r>
            <a:r>
              <a:rPr lang="ru-RU" sz="3200" b="1" cap="small" spc="-25" dirty="0"/>
              <a:t>направления</a:t>
            </a:r>
            <a:r>
              <a:rPr lang="ru-RU" sz="3200" b="1" cap="small" spc="60" dirty="0"/>
              <a:t> </a:t>
            </a:r>
            <a:r>
              <a:rPr lang="ru-RU" sz="3200" b="1" cap="small" spc="-45" dirty="0"/>
              <a:t>исследований</a:t>
            </a:r>
            <a:endParaRPr lang="ru-RU" b="1" dirty="0"/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0138B1D-F4FA-61D6-E86B-04822E35CEFD}"/>
              </a:ext>
            </a:extLst>
          </p:cNvPr>
          <p:cNvSpPr txBox="1"/>
          <p:nvPr/>
        </p:nvSpPr>
        <p:spPr>
          <a:xfrm>
            <a:off x="839416" y="1484784"/>
            <a:ext cx="7194550" cy="520014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69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 err="1">
                <a:latin typeface="Times New Roman"/>
                <a:cs typeface="Times New Roman"/>
              </a:rPr>
              <a:t>Разработка</a:t>
            </a:r>
            <a:r>
              <a:rPr lang="ru-RU" sz="2600" dirty="0">
                <a:latin typeface="Times New Roman"/>
                <a:cs typeface="Times New Roman"/>
              </a:rPr>
              <a:t> </a:t>
            </a:r>
            <a:r>
              <a:rPr lang="en-US" sz="2800" dirty="0">
                <a:solidFill>
                  <a:srgbClr val="FF0000"/>
                </a:solidFill>
                <a:highlight>
                  <a:srgbClr val="FFFF00"/>
                </a:highlight>
                <a:latin typeface="Times New Roman"/>
                <a:cs typeface="Times New Roman"/>
              </a:rPr>
              <a:t>TODO</a:t>
            </a:r>
            <a:endParaRPr sz="2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4851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efault Them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710</TotalTime>
  <Words>805</Words>
  <Application>Microsoft Office PowerPoint</Application>
  <PresentationFormat>Widescreen</PresentationFormat>
  <Paragraphs>114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MT</vt:lpstr>
      <vt:lpstr>Calibri</vt:lpstr>
      <vt:lpstr>Microsoft Sans Serif</vt:lpstr>
      <vt:lpstr>Times New Roman</vt:lpstr>
      <vt:lpstr>Wingdings</vt:lpstr>
      <vt:lpstr>Wingdings 2</vt:lpstr>
      <vt:lpstr>Default Theme</vt:lpstr>
      <vt:lpstr>РАЗРАБОТКА ИНСТРУМЕНТА ДЛЯ МОНИТОРИНГА ДОСТУПА К ПАМЯТИ В ЗАДАННОМ ПРОГРАММНОМ КОНТЕКСТЕ В ОПЕРАЦИОННОЙ СИСТЕМЕ LINUX</vt:lpstr>
      <vt:lpstr>Актуальность исследования: государство и общество</vt:lpstr>
      <vt:lpstr>Актуальность исследования: потребности индустрии</vt:lpstr>
      <vt:lpstr>Степень научной разработанности темы</vt:lpstr>
      <vt:lpstr>Цель и задачи исследования</vt:lpstr>
      <vt:lpstr>Объект и предмет исследования</vt:lpstr>
      <vt:lpstr>Основные сценарии использования мониторинга памяти</vt:lpstr>
      <vt:lpstr>Задачи этапа</vt:lpstr>
      <vt:lpstr>TODO ГЛАВА 1</vt:lpstr>
      <vt:lpstr>TODO ГЛАВА 2</vt:lpstr>
      <vt:lpstr>TODO ГЛАВА 3</vt:lpstr>
      <vt:lpstr>Результаты работы и основные выводы</vt:lpstr>
      <vt:lpstr>Дальнейшие направления исследований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презентации для защиты ВКР</dc:title>
  <dc:subject/>
  <dc:creator>InnoFlow.ru</dc:creator>
  <cp:keywords/>
  <dc:description>Шаблон составлен редакцией InnoFlow. Компания InnoFlow является правообладателем данного шаблона и запрещает удаление водяного знака (логотипа).</dc:description>
  <cp:lastModifiedBy>Владимир Доценко</cp:lastModifiedBy>
  <cp:revision>124</cp:revision>
  <dcterms:created xsi:type="dcterms:W3CDTF">2014-02-19T15:54:17Z</dcterms:created>
  <dcterms:modified xsi:type="dcterms:W3CDTF">2026-05-30T18:47:35Z</dcterms:modified>
  <cp:category/>
</cp:coreProperties>
</file>