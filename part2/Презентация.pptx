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9"/>
  </p:notesMasterIdLst>
  <p:handoutMasterIdLst>
    <p:handoutMasterId r:id="rId20"/>
  </p:handoutMasterIdLst>
  <p:sldIdLst>
    <p:sldId id="256" r:id="rId2"/>
    <p:sldId id="352" r:id="rId3"/>
    <p:sldId id="336" r:id="rId4"/>
    <p:sldId id="337" r:id="rId5"/>
    <p:sldId id="338" r:id="rId6"/>
    <p:sldId id="339" r:id="rId7"/>
    <p:sldId id="356" r:id="rId8"/>
    <p:sldId id="341" r:id="rId9"/>
    <p:sldId id="357" r:id="rId10"/>
    <p:sldId id="353" r:id="rId11"/>
    <p:sldId id="358" r:id="rId12"/>
    <p:sldId id="354" r:id="rId13"/>
    <p:sldId id="362" r:id="rId14"/>
    <p:sldId id="344" r:id="rId15"/>
    <p:sldId id="355" r:id="rId16"/>
    <p:sldId id="361" r:id="rId17"/>
    <p:sldId id="360" r:id="rId18"/>
  </p:sldIdLst>
  <p:sldSz cx="12192000" cy="6858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965" autoAdjust="0"/>
    <p:restoredTop sz="94607" autoAdjust="0"/>
  </p:normalViewPr>
  <p:slideViewPr>
    <p:cSldViewPr>
      <p:cViewPr varScale="1">
        <p:scale>
          <a:sx n="147" d="100"/>
          <a:sy n="147" d="100"/>
        </p:scale>
        <p:origin x="900" y="8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CC0522FF-D8B0-1DF9-4AAD-A01C0D6631C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0A5F4365-384E-1ED6-F3D1-29EC74399F9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5B039E84-DAE0-CC4D-8627-F8F843ACD5F7}" type="datetimeFigureOut">
              <a:rPr lang="ru-RU"/>
              <a:pPr>
                <a:defRPr/>
              </a:pPr>
              <a:t>16.06.2026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9E8EA34D-36A0-29D1-2AE2-3D0D272CC71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3246993-28A3-F807-A53C-FB7F1C4B293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D0930717-6DD1-8149-BBCD-68A43D74C974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7CB3C62F-C735-C5BC-9117-A791591245E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53E75FEE-4A99-0522-41AF-A69BCFAEB6E5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E937DCF1-74F6-7349-AA2A-231545C3B88B}" type="datetimeFigureOut">
              <a:rPr lang="ru-RU"/>
              <a:pPr>
                <a:defRPr/>
              </a:pPr>
              <a:t>16.06.2026</a:t>
            </a:fld>
            <a:endParaRPr lang="ru-RU"/>
          </a:p>
        </p:txBody>
      </p:sp>
      <p:sp>
        <p:nvSpPr>
          <p:cNvPr id="4" name="Образ слайда 3">
            <a:extLst>
              <a:ext uri="{FF2B5EF4-FFF2-40B4-BE49-F238E27FC236}">
                <a16:creationId xmlns:a16="http://schemas.microsoft.com/office/drawing/2014/main" id="{0A8D845D-50F9-E5B5-EB73-4AE06F8925D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ru-RU" noProof="0"/>
          </a:p>
        </p:txBody>
      </p:sp>
      <p:sp>
        <p:nvSpPr>
          <p:cNvPr id="5" name="Заметки 4">
            <a:extLst>
              <a:ext uri="{FF2B5EF4-FFF2-40B4-BE49-F238E27FC236}">
                <a16:creationId xmlns:a16="http://schemas.microsoft.com/office/drawing/2014/main" id="{3EA7025B-0540-D16B-E1AD-6244AFA477A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noProof="0"/>
              <a:t>Образец текста</a:t>
            </a:r>
          </a:p>
          <a:p>
            <a:pPr lvl="1"/>
            <a:r>
              <a:rPr lang="ru-RU" noProof="0"/>
              <a:t>Второй уровень</a:t>
            </a:r>
          </a:p>
          <a:p>
            <a:pPr lvl="2"/>
            <a:r>
              <a:rPr lang="ru-RU" noProof="0"/>
              <a:t>Третий уровень</a:t>
            </a:r>
          </a:p>
          <a:p>
            <a:pPr lvl="3"/>
            <a:r>
              <a:rPr lang="ru-RU" noProof="0"/>
              <a:t>Четвертый уровень</a:t>
            </a:r>
          </a:p>
          <a:p>
            <a:pPr lvl="4"/>
            <a:r>
              <a:rPr lang="ru-RU" noProof="0"/>
              <a:t>Пятый уровень</a:t>
            </a:r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1C0046D-02BB-B72A-13E1-2559DA26E8F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D998EC5-A677-7559-4113-B79642D04E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CE30FF1B-434B-0F41-BB90-ADED13DA2E6A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Образ слайда 1">
            <a:extLst>
              <a:ext uri="{FF2B5EF4-FFF2-40B4-BE49-F238E27FC236}">
                <a16:creationId xmlns:a16="http://schemas.microsoft.com/office/drawing/2014/main" id="{1BACA29E-1ACA-3A4B-4AC2-23A2BE75F99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218" name="Заметки 2">
            <a:extLst>
              <a:ext uri="{FF2B5EF4-FFF2-40B4-BE49-F238E27FC236}">
                <a16:creationId xmlns:a16="http://schemas.microsoft.com/office/drawing/2014/main" id="{04DF7A68-D6CF-32FB-D633-13261081865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ru-RU" altLang="ru-RU"/>
          </a:p>
        </p:txBody>
      </p:sp>
      <p:sp>
        <p:nvSpPr>
          <p:cNvPr id="9219" name="Номер слайда 3">
            <a:extLst>
              <a:ext uri="{FF2B5EF4-FFF2-40B4-BE49-F238E27FC236}">
                <a16:creationId xmlns:a16="http://schemas.microsoft.com/office/drawing/2014/main" id="{4BCAAD3C-43B8-8AD7-820C-A79EA38CED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68668ED-607B-2E43-9D45-77CB9AC53F19}" type="slidenum">
              <a:rPr lang="ru-RU" altLang="ru-RU"/>
              <a:pPr>
                <a:spcBef>
                  <a:spcPct val="0"/>
                </a:spcBef>
              </a:pPr>
              <a:t>1</a:t>
            </a:fld>
            <a:endParaRPr lang="ru-RU" altLang="ru-RU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E30FF1B-434B-0F41-BB90-ADED13DA2E6A}" type="slidenum">
              <a:rPr lang="ru-RU" altLang="ru-RU" smtClean="0"/>
              <a:pPr>
                <a:defRPr/>
              </a:pPr>
              <a:t>12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9254509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2653D61D-CD8D-7A2E-CF79-BF71DF763C85}"/>
              </a:ext>
            </a:extLst>
          </p:cNvPr>
          <p:cNvSpPr/>
          <p:nvPr/>
        </p:nvSpPr>
        <p:spPr bwMode="auto">
          <a:xfrm>
            <a:off x="508000" y="0"/>
            <a:ext cx="812800" cy="6858000"/>
          </a:xfrm>
          <a:prstGeom prst="rect">
            <a:avLst/>
          </a:prstGeom>
          <a:solidFill>
            <a:srgbClr val="EAEAF3">
              <a:alpha val="54000"/>
            </a:srgb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868707FC-9780-B858-B15F-C12DF7B70DBB}"/>
              </a:ext>
            </a:extLst>
          </p:cNvPr>
          <p:cNvSpPr/>
          <p:nvPr/>
        </p:nvSpPr>
        <p:spPr bwMode="auto">
          <a:xfrm>
            <a:off x="1320800" y="0"/>
            <a:ext cx="242888" cy="6858000"/>
          </a:xfrm>
          <a:prstGeom prst="rect">
            <a:avLst/>
          </a:prstGeom>
          <a:solidFill>
            <a:srgbClr val="EAEAF3">
              <a:alpha val="70000"/>
            </a:srgb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8C6D381-F16A-F313-E26B-F9832BF72233}"/>
              </a:ext>
            </a:extLst>
          </p:cNvPr>
          <p:cNvSpPr/>
          <p:nvPr/>
        </p:nvSpPr>
        <p:spPr bwMode="auto">
          <a:xfrm>
            <a:off x="1522413" y="0"/>
            <a:ext cx="306387" cy="6858000"/>
          </a:xfrm>
          <a:prstGeom prst="rect">
            <a:avLst/>
          </a:prstGeom>
          <a:solidFill>
            <a:srgbClr val="EAEAF3">
              <a:alpha val="71000"/>
            </a:srgb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Прямая соединительная линия 5">
            <a:extLst>
              <a:ext uri="{FF2B5EF4-FFF2-40B4-BE49-F238E27FC236}">
                <a16:creationId xmlns:a16="http://schemas.microsoft.com/office/drawing/2014/main" id="{08110E0C-DD7E-0744-C105-87566DA11674}"/>
              </a:ext>
            </a:extLst>
          </p:cNvPr>
          <p:cNvSpPr>
            <a:spLocks noChangeShapeType="1"/>
          </p:cNvSpPr>
          <p:nvPr/>
        </p:nvSpPr>
        <p:spPr bwMode="auto">
          <a:xfrm>
            <a:off x="141288" y="0"/>
            <a:ext cx="0" cy="6858000"/>
          </a:xfrm>
          <a:prstGeom prst="line">
            <a:avLst/>
          </a:prstGeom>
          <a:noFill/>
          <a:ln w="57150" algn="ctr">
            <a:solidFill>
              <a:srgbClr val="EAEAF3">
                <a:alpha val="72940"/>
              </a:srgb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6" name="Прямая соединительная линия 7">
            <a:extLst>
              <a:ext uri="{FF2B5EF4-FFF2-40B4-BE49-F238E27FC236}">
                <a16:creationId xmlns:a16="http://schemas.microsoft.com/office/drawing/2014/main" id="{8F7EE00D-A3B5-09E1-3591-AAB8798F30A0}"/>
              </a:ext>
            </a:extLst>
          </p:cNvPr>
          <p:cNvSpPr>
            <a:spLocks noChangeShapeType="1"/>
          </p:cNvSpPr>
          <p:nvPr/>
        </p:nvSpPr>
        <p:spPr bwMode="auto">
          <a:xfrm>
            <a:off x="1219200" y="0"/>
            <a:ext cx="0" cy="6858000"/>
          </a:xfrm>
          <a:prstGeom prst="line">
            <a:avLst/>
          </a:prstGeom>
          <a:noFill/>
          <a:ln w="57150" algn="ctr">
            <a:solidFill>
              <a:srgbClr val="EAEAF3">
                <a:alpha val="83136"/>
              </a:srgb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7" name="Прямая соединительная линия 8">
            <a:extLst>
              <a:ext uri="{FF2B5EF4-FFF2-40B4-BE49-F238E27FC236}">
                <a16:creationId xmlns:a16="http://schemas.microsoft.com/office/drawing/2014/main" id="{C088A429-8EE4-7DBB-7CA9-25246F53AF2B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1138238" y="0"/>
            <a:ext cx="0" cy="6858000"/>
          </a:xfrm>
          <a:prstGeom prst="line">
            <a:avLst/>
          </a:prstGeom>
          <a:noFill/>
          <a:ln w="57150" algn="ctr">
            <a:solidFill>
              <a:srgbClr val="EAEAF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10" name="Прямая соединительная линия 10">
            <a:extLst>
              <a:ext uri="{FF2B5EF4-FFF2-40B4-BE49-F238E27FC236}">
                <a16:creationId xmlns:a16="http://schemas.microsoft.com/office/drawing/2014/main" id="{4D958B3E-7C42-6615-C183-D2F28BA99423}"/>
              </a:ext>
            </a:extLst>
          </p:cNvPr>
          <p:cNvSpPr>
            <a:spLocks noChangeShapeType="1"/>
          </p:cNvSpPr>
          <p:nvPr/>
        </p:nvSpPr>
        <p:spPr bwMode="auto">
          <a:xfrm>
            <a:off x="2303463" y="0"/>
            <a:ext cx="0" cy="6858000"/>
          </a:xfrm>
          <a:prstGeom prst="line">
            <a:avLst/>
          </a:prstGeom>
          <a:noFill/>
          <a:ln w="28575" algn="ctr">
            <a:solidFill>
              <a:srgbClr val="EAEAF3">
                <a:alpha val="81960"/>
              </a:srgb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11" name="Прямая соединительная линия 12">
            <a:extLst>
              <a:ext uri="{FF2B5EF4-FFF2-40B4-BE49-F238E27FC236}">
                <a16:creationId xmlns:a16="http://schemas.microsoft.com/office/drawing/2014/main" id="{49FDFAF9-877C-D74A-5E14-198CB61F0E87}"/>
              </a:ext>
            </a:extLst>
          </p:cNvPr>
          <p:cNvSpPr>
            <a:spLocks noChangeShapeType="1"/>
          </p:cNvSpPr>
          <p:nvPr/>
        </p:nvSpPr>
        <p:spPr bwMode="auto">
          <a:xfrm>
            <a:off x="1422400" y="0"/>
            <a:ext cx="0" cy="6858000"/>
          </a:xfrm>
          <a:prstGeom prst="line">
            <a:avLst/>
          </a:prstGeom>
          <a:noFill/>
          <a:ln w="9525" algn="ctr">
            <a:solidFill>
              <a:srgbClr val="5C7AE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12" name="Прямая соединительная линия 13">
            <a:extLst>
              <a:ext uri="{FF2B5EF4-FFF2-40B4-BE49-F238E27FC236}">
                <a16:creationId xmlns:a16="http://schemas.microsoft.com/office/drawing/2014/main" id="{15148043-87B8-81CA-F22D-63AF3CB7449B}"/>
              </a:ext>
            </a:extLst>
          </p:cNvPr>
          <p:cNvSpPr>
            <a:spLocks noChangeShapeType="1"/>
          </p:cNvSpPr>
          <p:nvPr/>
        </p:nvSpPr>
        <p:spPr bwMode="auto">
          <a:xfrm>
            <a:off x="12152313" y="0"/>
            <a:ext cx="0" cy="6858000"/>
          </a:xfrm>
          <a:prstGeom prst="line">
            <a:avLst/>
          </a:prstGeom>
          <a:noFill/>
          <a:ln w="57150" cmpd="thickThin" algn="ctr">
            <a:solidFill>
              <a:srgbClr val="EAEAF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A1D5164D-65EB-7D92-36AA-E10A2E698A5E}"/>
              </a:ext>
            </a:extLst>
          </p:cNvPr>
          <p:cNvSpPr/>
          <p:nvPr/>
        </p:nvSpPr>
        <p:spPr bwMode="auto">
          <a:xfrm>
            <a:off x="1625600" y="0"/>
            <a:ext cx="101600" cy="6858000"/>
          </a:xfrm>
          <a:prstGeom prst="rect">
            <a:avLst/>
          </a:prstGeom>
          <a:solidFill>
            <a:srgbClr val="5C7AE1">
              <a:alpha val="51000"/>
            </a:srgb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4" name="Овал 13">
            <a:extLst>
              <a:ext uri="{FF2B5EF4-FFF2-40B4-BE49-F238E27FC236}">
                <a16:creationId xmlns:a16="http://schemas.microsoft.com/office/drawing/2014/main" id="{63F688CB-E988-CF80-BAEE-E5556FBB608E}"/>
              </a:ext>
            </a:extLst>
          </p:cNvPr>
          <p:cNvSpPr/>
          <p:nvPr/>
        </p:nvSpPr>
        <p:spPr bwMode="auto">
          <a:xfrm>
            <a:off x="1746250" y="4867275"/>
            <a:ext cx="550863" cy="550863"/>
          </a:xfrm>
          <a:prstGeom prst="ellipse">
            <a:avLst/>
          </a:prstGeom>
          <a:solidFill>
            <a:srgbClr val="5C7AE1"/>
          </a:solidFill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5" name="Овал 14">
            <a:extLst>
              <a:ext uri="{FF2B5EF4-FFF2-40B4-BE49-F238E27FC236}">
                <a16:creationId xmlns:a16="http://schemas.microsoft.com/office/drawing/2014/main" id="{E95833F2-51F9-21C3-1927-47A5558E3F3C}"/>
              </a:ext>
            </a:extLst>
          </p:cNvPr>
          <p:cNvSpPr/>
          <p:nvPr/>
        </p:nvSpPr>
        <p:spPr bwMode="auto">
          <a:xfrm>
            <a:off x="1454150" y="5500688"/>
            <a:ext cx="144463" cy="144462"/>
          </a:xfrm>
          <a:prstGeom prst="ellipse">
            <a:avLst/>
          </a:prstGeom>
          <a:solidFill>
            <a:srgbClr val="5C7AE1"/>
          </a:solidFill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6" name="Овал 15">
            <a:extLst>
              <a:ext uri="{FF2B5EF4-FFF2-40B4-BE49-F238E27FC236}">
                <a16:creationId xmlns:a16="http://schemas.microsoft.com/office/drawing/2014/main" id="{F610954B-A23C-A63E-F77F-56B442258BDC}"/>
              </a:ext>
            </a:extLst>
          </p:cNvPr>
          <p:cNvSpPr/>
          <p:nvPr/>
        </p:nvSpPr>
        <p:spPr bwMode="auto">
          <a:xfrm>
            <a:off x="2185988" y="5759450"/>
            <a:ext cx="252412" cy="252413"/>
          </a:xfrm>
          <a:prstGeom prst="ellipse">
            <a:avLst/>
          </a:prstGeom>
          <a:solidFill>
            <a:srgbClr val="5C7AE1"/>
          </a:solidFill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7" name="Овал 16">
            <a:extLst>
              <a:ext uri="{FF2B5EF4-FFF2-40B4-BE49-F238E27FC236}">
                <a16:creationId xmlns:a16="http://schemas.microsoft.com/office/drawing/2014/main" id="{9065BCB1-BC7F-ADD3-63BB-0BBEC9303D9D}"/>
              </a:ext>
            </a:extLst>
          </p:cNvPr>
          <p:cNvSpPr/>
          <p:nvPr/>
        </p:nvSpPr>
        <p:spPr>
          <a:xfrm>
            <a:off x="1111250" y="4551363"/>
            <a:ext cx="307975" cy="315912"/>
          </a:xfrm>
          <a:prstGeom prst="ellipse">
            <a:avLst/>
          </a:prstGeom>
          <a:solidFill>
            <a:srgbClr val="5C7AE1"/>
          </a:solidFill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8" name="Прямая соединительная линия 20">
            <a:extLst>
              <a:ext uri="{FF2B5EF4-FFF2-40B4-BE49-F238E27FC236}">
                <a16:creationId xmlns:a16="http://schemas.microsoft.com/office/drawing/2014/main" id="{1EBCD8BB-C159-0C88-B31B-3474138F2A39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1165225" y="0"/>
            <a:ext cx="0" cy="6858000"/>
          </a:xfrm>
          <a:prstGeom prst="line">
            <a:avLst/>
          </a:prstGeom>
          <a:noFill/>
          <a:ln w="9525" algn="ctr">
            <a:solidFill>
              <a:srgbClr val="5C7AE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19" name="Прямая соединительная линия 23">
            <a:extLst>
              <a:ext uri="{FF2B5EF4-FFF2-40B4-BE49-F238E27FC236}">
                <a16:creationId xmlns:a16="http://schemas.microsoft.com/office/drawing/2014/main" id="{8C5DD74B-E76D-574A-F92B-218FABA01A5F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407988" y="0"/>
            <a:ext cx="0" cy="6858000"/>
          </a:xfrm>
          <a:prstGeom prst="line">
            <a:avLst/>
          </a:prstGeom>
          <a:noFill/>
          <a:ln w="28575" algn="ctr">
            <a:solidFill>
              <a:srgbClr val="EAEAF3">
                <a:alpha val="81960"/>
              </a:srgb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8" name="Заголовок 7"/>
          <p:cNvSpPr>
            <a:spLocks noGrp="1"/>
          </p:cNvSpPr>
          <p:nvPr>
            <p:ph type="ctrTitle"/>
          </p:nvPr>
        </p:nvSpPr>
        <p:spPr>
          <a:xfrm>
            <a:off x="3048000" y="3124200"/>
            <a:ext cx="82296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lang="ru-RU" dirty="0"/>
              <a:t>Образец заголовка</a:t>
            </a:r>
            <a:endParaRPr lang="en-US" dirty="0"/>
          </a:p>
        </p:txBody>
      </p:sp>
      <p:sp>
        <p:nvSpPr>
          <p:cNvPr id="9" name="Подзаголовок 8"/>
          <p:cNvSpPr>
            <a:spLocks noGrp="1"/>
          </p:cNvSpPr>
          <p:nvPr>
            <p:ph type="subTitle" idx="1"/>
          </p:nvPr>
        </p:nvSpPr>
        <p:spPr>
          <a:xfrm>
            <a:off x="3048000" y="5003322"/>
            <a:ext cx="8229600" cy="1371600"/>
          </a:xfrm>
          <a:noFill/>
        </p:spPr>
        <p:txBody>
          <a:bodyPr/>
          <a:lstStyle>
            <a:lvl1pPr marL="0" indent="0" algn="l">
              <a:buNone/>
              <a:defRPr sz="1800" b="1">
                <a:solidFill>
                  <a:srgbClr val="5C7AE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ru-RU" dirty="0"/>
              <a:t>Образец подзаголовка</a:t>
            </a:r>
            <a:endParaRPr lang="en-US" dirty="0"/>
          </a:p>
        </p:txBody>
      </p:sp>
      <p:sp>
        <p:nvSpPr>
          <p:cNvPr id="20" name="Номер слайда 28">
            <a:extLst>
              <a:ext uri="{FF2B5EF4-FFF2-40B4-BE49-F238E27FC236}">
                <a16:creationId xmlns:a16="http://schemas.microsoft.com/office/drawing/2014/main" id="{E3A9C46B-B923-6BBA-9699-B438A2F55F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>
          <a:xfrm>
            <a:off x="1757363" y="4868863"/>
            <a:ext cx="522287" cy="522287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F1853FEA-5305-7A4D-B6CC-90400BA4ECFB}" type="slidenum">
              <a:rPr lang="en-US" altLang="ru-RU"/>
              <a:pPr>
                <a:defRPr/>
              </a:pPr>
              <a:t>‹#›</a:t>
            </a:fld>
            <a:endParaRPr lang="en-US" altLang="ru-RU" dirty="0"/>
          </a:p>
        </p:txBody>
      </p:sp>
    </p:spTree>
    <p:extLst>
      <p:ext uri="{BB962C8B-B14F-4D97-AF65-F5344CB8AC3E}">
        <p14:creationId xmlns:p14="http://schemas.microsoft.com/office/powerpoint/2010/main" val="64418218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Образец заголовка</a:t>
            </a:r>
            <a:endParaRPr lang="en-US" dirty="0"/>
          </a:p>
        </p:txBody>
      </p:sp>
      <p:sp>
        <p:nvSpPr>
          <p:cNvPr id="8" name="Содержимое 7"/>
          <p:cNvSpPr>
            <a:spLocks noGrp="1"/>
          </p:cNvSpPr>
          <p:nvPr>
            <p:ph sz="quarter" idx="1"/>
          </p:nvPr>
        </p:nvSpPr>
        <p:spPr>
          <a:xfrm>
            <a:off x="609600" y="1600200"/>
            <a:ext cx="9956800" cy="487375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3" name="Номер слайда 22">
            <a:extLst>
              <a:ext uri="{FF2B5EF4-FFF2-40B4-BE49-F238E27FC236}">
                <a16:creationId xmlns:a16="http://schemas.microsoft.com/office/drawing/2014/main" id="{AF1D8000-9413-5311-36BC-077BA5D2A2D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3404835-CD55-5C43-BF3E-BC881939682E}" type="slidenum">
              <a:rPr lang="en-US" altLang="ru-RU"/>
              <a:pPr>
                <a:defRPr/>
              </a:pPr>
              <a:t>‹#›</a:t>
            </a:fld>
            <a:endParaRPr lang="en-US" altLang="ru-RU" dirty="0"/>
          </a:p>
        </p:txBody>
      </p:sp>
    </p:spTree>
    <p:extLst>
      <p:ext uri="{BB962C8B-B14F-4D97-AF65-F5344CB8AC3E}">
        <p14:creationId xmlns:p14="http://schemas.microsoft.com/office/powerpoint/2010/main" val="5130222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Номер слайда 22">
            <a:extLst>
              <a:ext uri="{FF2B5EF4-FFF2-40B4-BE49-F238E27FC236}">
                <a16:creationId xmlns:a16="http://schemas.microsoft.com/office/drawing/2014/main" id="{B34288D2-0FE3-F2A2-8715-8B2FFAFB10B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516400-A28E-5440-B67B-2C467CD720E3}" type="slidenum">
              <a:rPr lang="en-US" altLang="ru-RU"/>
              <a:pPr>
                <a:defRPr/>
              </a:pPr>
              <a:t>‹#›</a:t>
            </a:fld>
            <a:endParaRPr lang="en-US" altLang="ru-RU" dirty="0"/>
          </a:p>
        </p:txBody>
      </p:sp>
    </p:spTree>
    <p:extLst>
      <p:ext uri="{BB962C8B-B14F-4D97-AF65-F5344CB8AC3E}">
        <p14:creationId xmlns:p14="http://schemas.microsoft.com/office/powerpoint/2010/main" val="20630541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22">
            <a:extLst>
              <a:ext uri="{FF2B5EF4-FFF2-40B4-BE49-F238E27FC236}">
                <a16:creationId xmlns:a16="http://schemas.microsoft.com/office/drawing/2014/main" id="{022F5947-7DB7-E7E1-A4DA-ECBDB16C28F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8E0D70-732E-2E42-AC9E-060723961D49}" type="slidenum">
              <a:rPr lang="en-US" altLang="ru-RU"/>
              <a:pPr>
                <a:defRPr/>
              </a:pPr>
              <a:t>‹#›</a:t>
            </a:fld>
            <a:endParaRPr lang="en-US" altLang="ru-RU" dirty="0"/>
          </a:p>
        </p:txBody>
      </p:sp>
    </p:spTree>
    <p:extLst>
      <p:ext uri="{BB962C8B-B14F-4D97-AF65-F5344CB8AC3E}">
        <p14:creationId xmlns:p14="http://schemas.microsoft.com/office/powerpoint/2010/main" val="25518056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Прямая соединительная линия 15">
            <a:extLst>
              <a:ext uri="{FF2B5EF4-FFF2-40B4-BE49-F238E27FC236}">
                <a16:creationId xmlns:a16="http://schemas.microsoft.com/office/drawing/2014/main" id="{7F51E42E-5D18-FA00-36EB-3CAF6CA7692F}"/>
              </a:ext>
            </a:extLst>
          </p:cNvPr>
          <p:cNvSpPr>
            <a:spLocks noChangeShapeType="1"/>
          </p:cNvSpPr>
          <p:nvPr/>
        </p:nvSpPr>
        <p:spPr bwMode="auto">
          <a:xfrm>
            <a:off x="11684000" y="0"/>
            <a:ext cx="0" cy="6858000"/>
          </a:xfrm>
          <a:prstGeom prst="line">
            <a:avLst/>
          </a:prstGeom>
          <a:noFill/>
          <a:ln w="38100" algn="ctr">
            <a:solidFill>
              <a:srgbClr val="5C7AE1">
                <a:alpha val="92940"/>
              </a:srgb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22" name="Заголовок 21">
            <a:extLst>
              <a:ext uri="{FF2B5EF4-FFF2-40B4-BE49-F238E27FC236}">
                <a16:creationId xmlns:a16="http://schemas.microsoft.com/office/drawing/2014/main" id="{30B88449-78D2-C0C6-FE53-B80B5054B2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9956800" cy="1143000"/>
          </a:xfrm>
          <a:prstGeom prst="rect">
            <a:avLst/>
          </a:prstGeom>
        </p:spPr>
        <p:txBody>
          <a:bodyPr vert="horz" anchor="ctr" anchorCtr="1">
            <a:normAutofit/>
          </a:bodyPr>
          <a:lstStyle/>
          <a:p>
            <a:r>
              <a:rPr lang="ru-RU" dirty="0"/>
              <a:t>Образец заголовка</a:t>
            </a:r>
            <a:endParaRPr lang="en-US" dirty="0"/>
          </a:p>
        </p:txBody>
      </p:sp>
      <p:sp>
        <p:nvSpPr>
          <p:cNvPr id="1028" name="Текст 12">
            <a:extLst>
              <a:ext uri="{FF2B5EF4-FFF2-40B4-BE49-F238E27FC236}">
                <a16:creationId xmlns:a16="http://schemas.microsoft.com/office/drawing/2014/main" id="{CEF0E1BF-E5EB-6D24-33E6-EE103C5E2C2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09600" y="1600200"/>
            <a:ext cx="9956800" cy="4873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ru-RU"/>
              <a:t>Образец текста</a:t>
            </a:r>
          </a:p>
          <a:p>
            <a:pPr lvl="1"/>
            <a:r>
              <a:rPr lang="ru-RU" altLang="ru-RU"/>
              <a:t>Второй уровень</a:t>
            </a:r>
          </a:p>
          <a:p>
            <a:pPr lvl="2"/>
            <a:r>
              <a:rPr lang="ru-RU" altLang="ru-RU"/>
              <a:t>Третий уровень</a:t>
            </a:r>
          </a:p>
          <a:p>
            <a:pPr lvl="3"/>
            <a:r>
              <a:rPr lang="ru-RU" altLang="ru-RU"/>
              <a:t>Четвертый уровень</a:t>
            </a:r>
          </a:p>
          <a:p>
            <a:pPr lvl="4"/>
            <a:r>
              <a:rPr lang="ru-RU" altLang="ru-RU"/>
              <a:t>Пятый уровень</a:t>
            </a:r>
            <a:endParaRPr lang="en-US" altLang="ru-RU"/>
          </a:p>
        </p:txBody>
      </p:sp>
      <p:sp>
        <p:nvSpPr>
          <p:cNvPr id="1029" name="Прямая соединительная линия 6">
            <a:extLst>
              <a:ext uri="{FF2B5EF4-FFF2-40B4-BE49-F238E27FC236}">
                <a16:creationId xmlns:a16="http://schemas.microsoft.com/office/drawing/2014/main" id="{A07F4E20-4BC3-DF0C-CA0F-34C0DC002F29}"/>
              </a:ext>
            </a:extLst>
          </p:cNvPr>
          <p:cNvSpPr>
            <a:spLocks noChangeShapeType="1"/>
          </p:cNvSpPr>
          <p:nvPr/>
        </p:nvSpPr>
        <p:spPr bwMode="auto">
          <a:xfrm>
            <a:off x="101600" y="0"/>
            <a:ext cx="0" cy="6858000"/>
          </a:xfrm>
          <a:prstGeom prst="line">
            <a:avLst/>
          </a:prstGeom>
          <a:noFill/>
          <a:ln w="57150" cmpd="thickThin" algn="ctr">
            <a:solidFill>
              <a:srgbClr val="5C7AE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1030" name="Прямая соединительная линия 8">
            <a:extLst>
              <a:ext uri="{FF2B5EF4-FFF2-40B4-BE49-F238E27FC236}">
                <a16:creationId xmlns:a16="http://schemas.microsoft.com/office/drawing/2014/main" id="{BA747B7E-3DE4-71B5-E470-CDB15529E4E8}"/>
              </a:ext>
            </a:extLst>
          </p:cNvPr>
          <p:cNvSpPr>
            <a:spLocks noChangeShapeType="1"/>
          </p:cNvSpPr>
          <p:nvPr/>
        </p:nvSpPr>
        <p:spPr bwMode="auto">
          <a:xfrm>
            <a:off x="11988800" y="0"/>
            <a:ext cx="0" cy="6858000"/>
          </a:xfrm>
          <a:prstGeom prst="line">
            <a:avLst/>
          </a:prstGeom>
          <a:noFill/>
          <a:ln w="1905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0EE24F7C-B83E-0906-AAB3-88655A5021FB}"/>
              </a:ext>
            </a:extLst>
          </p:cNvPr>
          <p:cNvSpPr/>
          <p:nvPr/>
        </p:nvSpPr>
        <p:spPr bwMode="auto">
          <a:xfrm>
            <a:off x="11785600" y="0"/>
            <a:ext cx="406400" cy="6858000"/>
          </a:xfrm>
          <a:prstGeom prst="rect">
            <a:avLst/>
          </a:prstGeom>
          <a:solidFill>
            <a:srgbClr val="EAEAF3">
              <a:alpha val="87000"/>
            </a:srgb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032" name="Прямая соединительная линия 10">
            <a:extLst>
              <a:ext uri="{FF2B5EF4-FFF2-40B4-BE49-F238E27FC236}">
                <a16:creationId xmlns:a16="http://schemas.microsoft.com/office/drawing/2014/main" id="{FA19B79F-C210-8566-2611-D254212BCDAD}"/>
              </a:ext>
            </a:extLst>
          </p:cNvPr>
          <p:cNvSpPr>
            <a:spLocks noChangeShapeType="1"/>
          </p:cNvSpPr>
          <p:nvPr/>
        </p:nvSpPr>
        <p:spPr bwMode="auto">
          <a:xfrm>
            <a:off x="11887200" y="0"/>
            <a:ext cx="0" cy="6858000"/>
          </a:xfrm>
          <a:prstGeom prst="line">
            <a:avLst/>
          </a:prstGeom>
          <a:noFill/>
          <a:ln w="9525" algn="ctr">
            <a:solidFill>
              <a:srgbClr val="5C7AE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12" name="Овал 11">
            <a:extLst>
              <a:ext uri="{FF2B5EF4-FFF2-40B4-BE49-F238E27FC236}">
                <a16:creationId xmlns:a16="http://schemas.microsoft.com/office/drawing/2014/main" id="{943E2897-3DA2-9A29-6258-C6503A2C6D5E}"/>
              </a:ext>
            </a:extLst>
          </p:cNvPr>
          <p:cNvSpPr/>
          <p:nvPr/>
        </p:nvSpPr>
        <p:spPr>
          <a:xfrm>
            <a:off x="10960100" y="6073775"/>
            <a:ext cx="550863" cy="550863"/>
          </a:xfrm>
          <a:prstGeom prst="ellipse">
            <a:avLst/>
          </a:prstGeom>
          <a:solidFill>
            <a:srgbClr val="5C7AE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23" name="Номер слайда 22">
            <a:extLst>
              <a:ext uri="{FF2B5EF4-FFF2-40B4-BE49-F238E27FC236}">
                <a16:creationId xmlns:a16="http://schemas.microsoft.com/office/drawing/2014/main" id="{41041575-D270-8245-FC6E-14B8DDE006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74388" y="6092825"/>
            <a:ext cx="522287" cy="522288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400" b="1" smtClean="0">
                <a:solidFill>
                  <a:srgbClr val="FFFFFF"/>
                </a:solidFill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04892001-5858-D947-BF12-C7932B4A31BB}" type="slidenum">
              <a:rPr lang="en-US" altLang="ru-RU"/>
              <a:pPr>
                <a:defRPr/>
              </a:pPr>
              <a:t>‹#›</a:t>
            </a:fld>
            <a:endParaRPr lang="en-US" altLang="ru-RU" dirty="0"/>
          </a:p>
        </p:txBody>
      </p:sp>
      <p:pic>
        <p:nvPicPr>
          <p:cNvPr id="1035" name="Рисунок 1">
            <a:extLst>
              <a:ext uri="{FF2B5EF4-FFF2-40B4-BE49-F238E27FC236}">
                <a16:creationId xmlns:a16="http://schemas.microsoft.com/office/drawing/2014/main" id="{4B45F73E-69B0-4180-5985-0BE12BA0D55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-5400000">
            <a:off x="11583194" y="6133307"/>
            <a:ext cx="920750" cy="296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74" r:id="rId1"/>
    <p:sldLayoutId id="2147483971" r:id="rId2"/>
    <p:sldLayoutId id="2147483972" r:id="rId3"/>
    <p:sldLayoutId id="2147483973" r:id="rId4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000" kern="1200" cap="small">
          <a:solidFill>
            <a:srgbClr val="5C7AE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000">
          <a:solidFill>
            <a:srgbClr val="5C7AE1"/>
          </a:solidFill>
          <a:latin typeface="Times New Roman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000">
          <a:solidFill>
            <a:srgbClr val="5C7AE1"/>
          </a:solidFill>
          <a:latin typeface="Times New Roman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000">
          <a:solidFill>
            <a:srgbClr val="5C7AE1"/>
          </a:solidFill>
          <a:latin typeface="Times New Roman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000">
          <a:solidFill>
            <a:srgbClr val="5C7AE1"/>
          </a:solidFill>
          <a:latin typeface="Times New Roman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Times New Roman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Times New Roman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Times New Roman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Times New Roman" pitchFamily="18" charset="0"/>
        </a:defRPr>
      </a:lvl9pPr>
    </p:titleStyle>
    <p:bodyStyle>
      <a:lvl1pPr marL="273050" indent="-273050" algn="l" rtl="0" eaLnBrk="0" fontAlgn="base" hangingPunct="0">
        <a:spcBef>
          <a:spcPts val="600"/>
        </a:spcBef>
        <a:spcAft>
          <a:spcPct val="0"/>
        </a:spcAft>
        <a:buClr>
          <a:schemeClr val="accent1"/>
        </a:buClr>
        <a:buSzPct val="70000"/>
        <a:buFont typeface="Wingdings" pitchFamily="2" charset="2"/>
        <a:buChar char="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39763" indent="-2730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80000"/>
        <a:buFont typeface="Wingdings 2" pitchFamily="2" charset="2"/>
        <a:buChar char="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563" algn="l" rtl="0" eaLnBrk="0" fontAlgn="base" hangingPunct="0">
        <a:spcBef>
          <a:spcPct val="20000"/>
        </a:spcBef>
        <a:spcAft>
          <a:spcPct val="0"/>
        </a:spcAft>
        <a:buClr>
          <a:srgbClr val="4471A6"/>
        </a:buClr>
        <a:buSzPct val="60000"/>
        <a:buFont typeface="Wingdings" pitchFamily="2" charset="2"/>
        <a:buChar char="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187450" indent="-182563" algn="l" rtl="0" eaLnBrk="0" fontAlgn="base" hangingPunct="0">
        <a:spcBef>
          <a:spcPct val="20000"/>
        </a:spcBef>
        <a:spcAft>
          <a:spcPct val="0"/>
        </a:spcAft>
        <a:buClr>
          <a:srgbClr val="B2C1DB"/>
        </a:buClr>
        <a:buSzPct val="60000"/>
        <a:buFont typeface="Wingdings" pitchFamily="2" charset="2"/>
        <a:buChar char="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2088" indent="-182563" algn="l" rtl="0" eaLnBrk="0" fontAlgn="base" hangingPunct="0">
        <a:spcBef>
          <a:spcPct val="20000"/>
        </a:spcBef>
        <a:spcAft>
          <a:spcPct val="0"/>
        </a:spcAft>
        <a:buClr>
          <a:srgbClr val="DCB3B2"/>
        </a:buClr>
        <a:buSzPct val="68000"/>
        <a:buFont typeface="Wingdings 2" pitchFamily="2" charset="2"/>
        <a:buChar char="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4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base.garant.ru/71556224/" TargetMode="External"/><Relationship Id="rId2" Type="http://schemas.openxmlformats.org/officeDocument/2006/relationships/hyperlink" Target="https://www.consultant.ru/document/cons_doc_LAW_389271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consultant.ru/document/cons_doc_LAW_61798/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esearchgate.net/publication/221635127_Runtime_Execution_Monitoring_REM_to_Detect_and_Prevent_Malicious_Code_Execution" TargetMode="External"/><Relationship Id="rId2" Type="http://schemas.openxmlformats.org/officeDocument/2006/relationships/hyperlink" Target="https://www.grandviewresearch.com/industry-analysis/monitoring-tools-market-report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ndss-symposium.org/wp-content/uploads/2025-294-paper.pdf" TargetMode="External"/><Relationship Id="rId5" Type="http://schemas.openxmlformats.org/officeDocument/2006/relationships/hyperlink" Target="https://arxiv.org/abs/2408.12866" TargetMode="External"/><Relationship Id="rId4" Type="http://schemas.openxmlformats.org/officeDocument/2006/relationships/hyperlink" Target="https://dl.acm.org/doi/10.1145/3764580" TargetMode="Externa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E3D9495-C681-ECB9-ED85-32FC002A1D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74285" y="1295448"/>
            <a:ext cx="8953500" cy="1561306"/>
          </a:xfrm>
        </p:spPr>
        <p:txBody>
          <a:bodyPr>
            <a:normAutofit fontScale="90000"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ru-RU" sz="2800" dirty="0">
                <a:solidFill>
                  <a:srgbClr val="1D2F6A"/>
                </a:solidFill>
              </a:rPr>
              <a:t>РАЗРАБОТКА ИНСТРУМЕНТА ДЛЯ МОНИТОРИНГА ДОСТУПА К ПАМЯТИ В ЗАДАННОМ ПРОГРАММНОМ КОНТЕКСТЕ В ОПЕРАЦИОННОЙ СИСТЕМЕ LINUX</a:t>
            </a:r>
          </a:p>
        </p:txBody>
      </p:sp>
      <p:sp>
        <p:nvSpPr>
          <p:cNvPr id="23555" name="Подзаголовок 2">
            <a:extLst>
              <a:ext uri="{FF2B5EF4-FFF2-40B4-BE49-F238E27FC236}">
                <a16:creationId xmlns:a16="http://schemas.microsoft.com/office/drawing/2014/main" id="{A83B3885-069B-EA62-25A8-844E8C349E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88383" y="2756392"/>
            <a:ext cx="6853733" cy="523874"/>
          </a:xfrm>
        </p:spPr>
        <p:txBody>
          <a:bodyPr/>
          <a:lstStyle/>
          <a:p>
            <a:pPr algn="ctr" eaLnBrk="1" hangingPunct="1">
              <a:defRPr/>
            </a:pPr>
            <a:r>
              <a:rPr lang="ru-RU" altLang="ru-RU" sz="2800" dirty="0">
                <a:latin typeface="+mj-lt"/>
              </a:rPr>
              <a:t>Научная исследовательская работа</a:t>
            </a:r>
            <a:endParaRPr lang="ru-RU" altLang="ru-RU" sz="2800" dirty="0">
              <a:solidFill>
                <a:srgbClr val="1D2F6A"/>
              </a:solidFill>
              <a:latin typeface="+mj-lt"/>
            </a:endParaRPr>
          </a:p>
        </p:txBody>
      </p:sp>
      <p:sp>
        <p:nvSpPr>
          <p:cNvPr id="8195" name="Подзаголовок 2">
            <a:extLst>
              <a:ext uri="{FF2B5EF4-FFF2-40B4-BE49-F238E27FC236}">
                <a16:creationId xmlns:a16="http://schemas.microsoft.com/office/drawing/2014/main" id="{167D1051-E921-53E1-DA6A-56406EF5EE40}"/>
              </a:ext>
            </a:extLst>
          </p:cNvPr>
          <p:cNvSpPr txBox="1">
            <a:spLocks/>
          </p:cNvSpPr>
          <p:nvPr/>
        </p:nvSpPr>
        <p:spPr bwMode="auto">
          <a:xfrm>
            <a:off x="2662238" y="4221163"/>
            <a:ext cx="4321175" cy="73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indent="-341313">
              <a:spcBef>
                <a:spcPts val="600"/>
              </a:spcBef>
              <a:buClr>
                <a:schemeClr val="accent1"/>
              </a:buClr>
              <a:buSzPct val="70000"/>
              <a:buFont typeface="Wingdings" pitchFamily="2" charset="2"/>
              <a:buChar char=""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639763" indent="-273050">
              <a:spcBef>
                <a:spcPct val="20000"/>
              </a:spcBef>
              <a:buClr>
                <a:schemeClr val="accent1"/>
              </a:buClr>
              <a:buSzPct val="80000"/>
              <a:buFont typeface="Wingdings 2" pitchFamily="2" charset="2"/>
              <a:buChar char=""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  <a:defRPr sz="21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indent="-182563">
              <a:spcBef>
                <a:spcPct val="20000"/>
              </a:spcBef>
              <a:buClr>
                <a:srgbClr val="4471A6"/>
              </a:buClr>
              <a:buSzPct val="60000"/>
              <a:buFont typeface="Wingdings" pitchFamily="2" charset="2"/>
              <a:buChar char=""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187450" indent="-182563">
              <a:spcBef>
                <a:spcPct val="20000"/>
              </a:spcBef>
              <a:buClr>
                <a:srgbClr val="B2C1DB"/>
              </a:buClr>
              <a:buSzPct val="60000"/>
              <a:buFont typeface="Wingdings" pitchFamily="2" charset="2"/>
              <a:buChar char=""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1462088" indent="-182563">
              <a:spcBef>
                <a:spcPct val="20000"/>
              </a:spcBef>
              <a:buClr>
                <a:srgbClr val="DCB3B2"/>
              </a:buClr>
              <a:buSzPct val="68000"/>
              <a:buFont typeface="Wingdings 2" pitchFamily="2" charset="2"/>
              <a:buChar char=""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1919288" indent="-182563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DCB3B2"/>
              </a:buClr>
              <a:buSzPct val="68000"/>
              <a:buFont typeface="Wingdings 2" pitchFamily="2" charset="2"/>
              <a:buChar char=""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376488" indent="-182563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DCB3B2"/>
              </a:buClr>
              <a:buSzPct val="68000"/>
              <a:buFont typeface="Wingdings 2" pitchFamily="2" charset="2"/>
              <a:buChar char=""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2833688" indent="-182563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DCB3B2"/>
              </a:buClr>
              <a:buSzPct val="68000"/>
              <a:buFont typeface="Wingdings 2" pitchFamily="2" charset="2"/>
              <a:buChar char=""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290888" indent="-182563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DCB3B2"/>
              </a:buClr>
              <a:buSzPct val="68000"/>
              <a:buFont typeface="Wingdings 2" pitchFamily="2" charset="2"/>
              <a:buChar char=""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buClrTx/>
              <a:buSzPct val="80000"/>
              <a:buFont typeface="Wingdings" pitchFamily="2" charset="2"/>
              <a:buNone/>
            </a:pPr>
            <a:r>
              <a:rPr lang="ru-RU" altLang="ru-RU" sz="2200" b="1" dirty="0">
                <a:cs typeface="Times New Roman" panose="02020603050405020304" pitchFamily="18" charset="0"/>
              </a:rPr>
              <a:t>Автор:</a:t>
            </a:r>
            <a:br>
              <a:rPr lang="ru-RU" altLang="ru-RU" sz="2200" b="1" dirty="0">
                <a:cs typeface="Times New Roman" panose="02020603050405020304" pitchFamily="18" charset="0"/>
              </a:rPr>
            </a:br>
            <a:r>
              <a:rPr lang="ru-RU" altLang="ru-RU" sz="2200" b="1" dirty="0">
                <a:solidFill>
                  <a:srgbClr val="5C7AE1"/>
                </a:solidFill>
                <a:cs typeface="Times New Roman" panose="02020603050405020304" pitchFamily="18" charset="0"/>
              </a:rPr>
              <a:t>Доценко Владимир Алексеевич</a:t>
            </a:r>
            <a:endParaRPr lang="ru-RU" altLang="ru-RU" sz="2200" b="1" dirty="0">
              <a:cs typeface="Times New Roman" panose="02020603050405020304" pitchFamily="18" charset="0"/>
            </a:endParaRPr>
          </a:p>
        </p:txBody>
      </p:sp>
      <p:sp>
        <p:nvSpPr>
          <p:cNvPr id="8196" name="Google Shape;50;p1">
            <a:extLst>
              <a:ext uri="{FF2B5EF4-FFF2-40B4-BE49-F238E27FC236}">
                <a16:creationId xmlns:a16="http://schemas.microsoft.com/office/drawing/2014/main" id="{CAABE75E-248A-2602-1492-D03C0AAF59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55800" y="101600"/>
            <a:ext cx="1392238" cy="1392238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12700">
            <a:solidFill>
              <a:srgbClr val="4062D7"/>
            </a:solidFill>
            <a:miter lim="800000"/>
            <a:headEnd type="none" w="sm" len="sm"/>
            <a:tailEnd type="none" w="sm" len="sm"/>
          </a:ln>
        </p:spPr>
        <p:txBody>
          <a:bodyPr lIns="91425" tIns="45700" rIns="91425" bIns="4570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endParaRPr lang="ru-RU" altLang="ru-RU">
              <a:solidFill>
                <a:srgbClr val="FFFFFF"/>
              </a:solidFill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8198" name="Google Shape;50;p1">
            <a:extLst>
              <a:ext uri="{FF2B5EF4-FFF2-40B4-BE49-F238E27FC236}">
                <a16:creationId xmlns:a16="http://schemas.microsoft.com/office/drawing/2014/main" id="{8AD07005-CB36-E07D-BE8A-F0473FEA28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44688" y="1692275"/>
            <a:ext cx="1392237" cy="139065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12700">
            <a:solidFill>
              <a:srgbClr val="4062D7"/>
            </a:solidFill>
            <a:miter lim="800000"/>
            <a:headEnd type="none" w="sm" len="sm"/>
            <a:tailEnd type="none" w="sm" len="sm"/>
          </a:ln>
        </p:spPr>
        <p:txBody>
          <a:bodyPr lIns="91425" tIns="45700" rIns="91425" bIns="4570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endParaRPr lang="ru-RU" altLang="ru-RU">
              <a:solidFill>
                <a:srgbClr val="FFFFFF"/>
              </a:solidFill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8200" name="Подзаголовок 2">
            <a:extLst>
              <a:ext uri="{FF2B5EF4-FFF2-40B4-BE49-F238E27FC236}">
                <a16:creationId xmlns:a16="http://schemas.microsoft.com/office/drawing/2014/main" id="{056BFC60-C895-2E1A-5BD6-2DA1662D60C4}"/>
              </a:ext>
            </a:extLst>
          </p:cNvPr>
          <p:cNvSpPr txBox="1">
            <a:spLocks/>
          </p:cNvSpPr>
          <p:nvPr/>
        </p:nvSpPr>
        <p:spPr bwMode="auto">
          <a:xfrm>
            <a:off x="2662238" y="5065713"/>
            <a:ext cx="7429500" cy="884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indent="-341313">
              <a:spcBef>
                <a:spcPts val="600"/>
              </a:spcBef>
              <a:buClr>
                <a:schemeClr val="accent1"/>
              </a:buClr>
              <a:buSzPct val="70000"/>
              <a:buFont typeface="Wingdings" pitchFamily="2" charset="2"/>
              <a:buChar char=""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639763" indent="-273050">
              <a:spcBef>
                <a:spcPct val="20000"/>
              </a:spcBef>
              <a:buClr>
                <a:schemeClr val="accent1"/>
              </a:buClr>
              <a:buSzPct val="80000"/>
              <a:buFont typeface="Wingdings 2" pitchFamily="2" charset="2"/>
              <a:buChar char=""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  <a:defRPr sz="21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indent="-182563">
              <a:spcBef>
                <a:spcPct val="20000"/>
              </a:spcBef>
              <a:buClr>
                <a:srgbClr val="4471A6"/>
              </a:buClr>
              <a:buSzPct val="60000"/>
              <a:buFont typeface="Wingdings" pitchFamily="2" charset="2"/>
              <a:buChar char=""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187450" indent="-182563">
              <a:spcBef>
                <a:spcPct val="20000"/>
              </a:spcBef>
              <a:buClr>
                <a:srgbClr val="B2C1DB"/>
              </a:buClr>
              <a:buSzPct val="60000"/>
              <a:buFont typeface="Wingdings" pitchFamily="2" charset="2"/>
              <a:buChar char=""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1462088" indent="-182563">
              <a:spcBef>
                <a:spcPct val="20000"/>
              </a:spcBef>
              <a:buClr>
                <a:srgbClr val="DCB3B2"/>
              </a:buClr>
              <a:buSzPct val="68000"/>
              <a:buFont typeface="Wingdings 2" pitchFamily="2" charset="2"/>
              <a:buChar char=""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1919288" indent="-182563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DCB3B2"/>
              </a:buClr>
              <a:buSzPct val="68000"/>
              <a:buFont typeface="Wingdings 2" pitchFamily="2" charset="2"/>
              <a:buChar char=""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376488" indent="-182563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DCB3B2"/>
              </a:buClr>
              <a:buSzPct val="68000"/>
              <a:buFont typeface="Wingdings 2" pitchFamily="2" charset="2"/>
              <a:buChar char=""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2833688" indent="-182563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DCB3B2"/>
              </a:buClr>
              <a:buSzPct val="68000"/>
              <a:buFont typeface="Wingdings 2" pitchFamily="2" charset="2"/>
              <a:buChar char=""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290888" indent="-182563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DCB3B2"/>
              </a:buClr>
              <a:buSzPct val="68000"/>
              <a:buFont typeface="Wingdings 2" pitchFamily="2" charset="2"/>
              <a:buChar char=""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buClrTx/>
              <a:buSzPct val="80000"/>
              <a:buFont typeface="Wingdings" pitchFamily="2" charset="2"/>
              <a:buNone/>
            </a:pPr>
            <a:r>
              <a:rPr lang="ru-RU" altLang="ru-RU" sz="2200" b="1" dirty="0">
                <a:cs typeface="Times New Roman" panose="02020603050405020304" pitchFamily="18" charset="0"/>
              </a:rPr>
              <a:t>Научный руководитель: </a:t>
            </a:r>
          </a:p>
          <a:p>
            <a:pPr eaLnBrk="1" hangingPunct="1">
              <a:buClrTx/>
              <a:buSzPct val="80000"/>
              <a:buFont typeface="Wingdings" pitchFamily="2" charset="2"/>
              <a:buNone/>
            </a:pPr>
            <a:r>
              <a:rPr lang="ru-RU" altLang="ru-RU" sz="2200" b="1" dirty="0">
                <a:solidFill>
                  <a:srgbClr val="5C7AE1"/>
                </a:solidFill>
                <a:cs typeface="Times New Roman" panose="02020603050405020304" pitchFamily="18" charset="0"/>
              </a:rPr>
              <a:t>Коркин Игорь Юрьевич, к.т.н.</a:t>
            </a:r>
          </a:p>
        </p:txBody>
      </p:sp>
      <p:sp>
        <p:nvSpPr>
          <p:cNvPr id="8201" name="Подзаголовок 2">
            <a:extLst>
              <a:ext uri="{FF2B5EF4-FFF2-40B4-BE49-F238E27FC236}">
                <a16:creationId xmlns:a16="http://schemas.microsoft.com/office/drawing/2014/main" id="{059731DE-B013-C72D-CE1B-63E69FA1ACD4}"/>
              </a:ext>
            </a:extLst>
          </p:cNvPr>
          <p:cNvSpPr txBox="1">
            <a:spLocks/>
          </p:cNvSpPr>
          <p:nvPr/>
        </p:nvSpPr>
        <p:spPr bwMode="auto">
          <a:xfrm>
            <a:off x="4919663" y="6308725"/>
            <a:ext cx="4319587" cy="379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indent="-341313">
              <a:spcBef>
                <a:spcPts val="600"/>
              </a:spcBef>
              <a:buClr>
                <a:schemeClr val="accent1"/>
              </a:buClr>
              <a:buSzPct val="70000"/>
              <a:buFont typeface="Wingdings" pitchFamily="2" charset="2"/>
              <a:buChar char=""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639763" indent="-273050">
              <a:spcBef>
                <a:spcPct val="20000"/>
              </a:spcBef>
              <a:buClr>
                <a:schemeClr val="accent1"/>
              </a:buClr>
              <a:buSzPct val="80000"/>
              <a:buFont typeface="Wingdings 2" pitchFamily="2" charset="2"/>
              <a:buChar char=""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  <a:defRPr sz="21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indent="-182563">
              <a:spcBef>
                <a:spcPct val="20000"/>
              </a:spcBef>
              <a:buClr>
                <a:srgbClr val="4471A6"/>
              </a:buClr>
              <a:buSzPct val="60000"/>
              <a:buFont typeface="Wingdings" pitchFamily="2" charset="2"/>
              <a:buChar char=""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187450" indent="-182563">
              <a:spcBef>
                <a:spcPct val="20000"/>
              </a:spcBef>
              <a:buClr>
                <a:srgbClr val="B2C1DB"/>
              </a:buClr>
              <a:buSzPct val="60000"/>
              <a:buFont typeface="Wingdings" pitchFamily="2" charset="2"/>
              <a:buChar char=""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1462088" indent="-182563">
              <a:spcBef>
                <a:spcPct val="20000"/>
              </a:spcBef>
              <a:buClr>
                <a:srgbClr val="DCB3B2"/>
              </a:buClr>
              <a:buSzPct val="68000"/>
              <a:buFont typeface="Wingdings 2" pitchFamily="2" charset="2"/>
              <a:buChar char=""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1919288" indent="-182563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DCB3B2"/>
              </a:buClr>
              <a:buSzPct val="68000"/>
              <a:buFont typeface="Wingdings 2" pitchFamily="2" charset="2"/>
              <a:buChar char=""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376488" indent="-182563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DCB3B2"/>
              </a:buClr>
              <a:buSzPct val="68000"/>
              <a:buFont typeface="Wingdings 2" pitchFamily="2" charset="2"/>
              <a:buChar char=""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2833688" indent="-182563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DCB3B2"/>
              </a:buClr>
              <a:buSzPct val="68000"/>
              <a:buFont typeface="Wingdings 2" pitchFamily="2" charset="2"/>
              <a:buChar char=""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290888" indent="-182563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DCB3B2"/>
              </a:buClr>
              <a:buSzPct val="68000"/>
              <a:buFont typeface="Wingdings 2" pitchFamily="2" charset="2"/>
              <a:buChar char=""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ClrTx/>
              <a:buSzPct val="80000"/>
              <a:buFont typeface="Wingdings" pitchFamily="2" charset="2"/>
              <a:buNone/>
            </a:pPr>
            <a:r>
              <a:rPr lang="en-US" altLang="ru-RU" sz="2000" dirty="0">
                <a:solidFill>
                  <a:srgbClr val="AAA9B2"/>
                </a:solidFill>
                <a:cs typeface="Times New Roman" panose="02020603050405020304" pitchFamily="18" charset="0"/>
              </a:rPr>
              <a:t>2026 </a:t>
            </a:r>
            <a:r>
              <a:rPr lang="ru-RU" altLang="ru-RU" sz="2000" dirty="0">
                <a:solidFill>
                  <a:srgbClr val="AAA9B2"/>
                </a:solidFill>
                <a:cs typeface="Times New Roman" panose="02020603050405020304" pitchFamily="18" charset="0"/>
              </a:rPr>
              <a:t>Москва</a:t>
            </a:r>
          </a:p>
        </p:txBody>
      </p:sp>
      <p:sp>
        <p:nvSpPr>
          <p:cNvPr id="21" name="Подзаголовок 2">
            <a:extLst>
              <a:ext uri="{FF2B5EF4-FFF2-40B4-BE49-F238E27FC236}">
                <a16:creationId xmlns:a16="http://schemas.microsoft.com/office/drawing/2014/main" id="{3660ABE3-C65D-BD68-5245-16DF60178C42}"/>
              </a:ext>
            </a:extLst>
          </p:cNvPr>
          <p:cNvSpPr txBox="1">
            <a:spLocks/>
          </p:cNvSpPr>
          <p:nvPr/>
        </p:nvSpPr>
        <p:spPr bwMode="auto">
          <a:xfrm>
            <a:off x="3976141" y="141310"/>
            <a:ext cx="7165975" cy="796553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0" indent="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None/>
              <a:defRPr sz="1800" b="1" kern="1200">
                <a:solidFill>
                  <a:srgbClr val="5C7AE1"/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2" pitchFamily="2" charset="2"/>
              <a:buNone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471A6"/>
              </a:buClr>
              <a:buSzPct val="60000"/>
              <a:buFont typeface="Wingdings" pitchFamily="2" charset="2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2C1DB"/>
              </a:buClr>
              <a:buSzPct val="60000"/>
              <a:buFont typeface="Wingdings" pitchFamily="2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DCB3B2"/>
              </a:buClr>
              <a:buSzPct val="68000"/>
              <a:buFont typeface="Wingdings 2" pitchFamily="2" charset="2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rtl="0" eaLnBrk="1" latinLnBrk="0" hangingPunct="1">
              <a:spcBef>
                <a:spcPct val="20000"/>
              </a:spcBef>
              <a:buClr>
                <a:schemeClr val="accent1"/>
              </a:buClr>
              <a:buNone/>
              <a:defRPr kumimoji="0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743200" indent="0" algn="ctr" rtl="0" eaLnBrk="1" latinLnBrk="0" hangingPunct="1">
              <a:spcBef>
                <a:spcPct val="20000"/>
              </a:spcBef>
              <a:buClr>
                <a:schemeClr val="accent1">
                  <a:tint val="60000"/>
                </a:schemeClr>
              </a:buClr>
              <a:buSzPct val="60000"/>
              <a:buFont typeface="Wingdings"/>
              <a:buNone/>
              <a:defRPr kumimoji="0"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200400" indent="0" algn="ctr" rtl="0" eaLnBrk="1" latinLnBrk="0" hangingPunct="1">
              <a:spcBef>
                <a:spcPct val="20000"/>
              </a:spcBef>
              <a:buClr>
                <a:schemeClr val="accent2"/>
              </a:buClr>
              <a:buNone/>
              <a:defRPr kumimoji="0" sz="1400" kern="1200" cap="small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3657600" indent="0" algn="ctr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None/>
              <a:defRPr kumimoji="0"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hangingPunct="1">
              <a:defRPr/>
            </a:pPr>
            <a:r>
              <a:rPr lang="ru-RU" altLang="ru-RU" sz="2400" b="0" dirty="0">
                <a:solidFill>
                  <a:srgbClr val="AAA9B2"/>
                </a:solidFill>
                <a:latin typeface="+mj-lt"/>
              </a:rPr>
              <a:t>Национальный исследовательский ядерный</a:t>
            </a:r>
            <a:r>
              <a:rPr lang="en-US" altLang="ru-RU" sz="2400" b="0" dirty="0">
                <a:solidFill>
                  <a:srgbClr val="AAA9B2"/>
                </a:solidFill>
                <a:latin typeface="+mj-lt"/>
              </a:rPr>
              <a:t> </a:t>
            </a:r>
            <a:r>
              <a:rPr lang="ru-RU" altLang="ru-RU" sz="2400" b="0" dirty="0">
                <a:solidFill>
                  <a:srgbClr val="AAA9B2"/>
                </a:solidFill>
                <a:latin typeface="+mj-lt"/>
              </a:rPr>
              <a:t>университет «МИФИ»</a:t>
            </a:r>
            <a:endParaRPr lang="ru-RU" altLang="ru-RU" sz="2800" dirty="0">
              <a:solidFill>
                <a:srgbClr val="1D2F6A"/>
              </a:solidFill>
              <a:latin typeface="+mj-lt"/>
            </a:endParaRPr>
          </a:p>
        </p:txBody>
      </p:sp>
      <p:sp>
        <p:nvSpPr>
          <p:cNvPr id="22" name="Подзаголовок 2">
            <a:extLst>
              <a:ext uri="{FF2B5EF4-FFF2-40B4-BE49-F238E27FC236}">
                <a16:creationId xmlns:a16="http://schemas.microsoft.com/office/drawing/2014/main" id="{5F32A0CC-5B92-C2C9-7088-36DF1ED7E94F}"/>
              </a:ext>
            </a:extLst>
          </p:cNvPr>
          <p:cNvSpPr txBox="1">
            <a:spLocks/>
          </p:cNvSpPr>
          <p:nvPr/>
        </p:nvSpPr>
        <p:spPr bwMode="auto">
          <a:xfrm>
            <a:off x="4132261" y="969963"/>
            <a:ext cx="7165975" cy="52387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0" indent="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None/>
              <a:defRPr sz="1800" b="1" kern="1200">
                <a:solidFill>
                  <a:srgbClr val="5C7AE1"/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2" pitchFamily="2" charset="2"/>
              <a:buNone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471A6"/>
              </a:buClr>
              <a:buSzPct val="60000"/>
              <a:buFont typeface="Wingdings" pitchFamily="2" charset="2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2C1DB"/>
              </a:buClr>
              <a:buSzPct val="60000"/>
              <a:buFont typeface="Wingdings" pitchFamily="2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DCB3B2"/>
              </a:buClr>
              <a:buSzPct val="68000"/>
              <a:buFont typeface="Wingdings 2" pitchFamily="2" charset="2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rtl="0" eaLnBrk="1" latinLnBrk="0" hangingPunct="1">
              <a:spcBef>
                <a:spcPct val="20000"/>
              </a:spcBef>
              <a:buClr>
                <a:schemeClr val="accent1"/>
              </a:buClr>
              <a:buNone/>
              <a:defRPr kumimoji="0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743200" indent="0" algn="ctr" rtl="0" eaLnBrk="1" latinLnBrk="0" hangingPunct="1">
              <a:spcBef>
                <a:spcPct val="20000"/>
              </a:spcBef>
              <a:buClr>
                <a:schemeClr val="accent1">
                  <a:tint val="60000"/>
                </a:schemeClr>
              </a:buClr>
              <a:buSzPct val="60000"/>
              <a:buFont typeface="Wingdings"/>
              <a:buNone/>
              <a:defRPr kumimoji="0"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200400" indent="0" algn="ctr" rtl="0" eaLnBrk="1" latinLnBrk="0" hangingPunct="1">
              <a:spcBef>
                <a:spcPct val="20000"/>
              </a:spcBef>
              <a:buClr>
                <a:schemeClr val="accent2"/>
              </a:buClr>
              <a:buNone/>
              <a:defRPr kumimoji="0" sz="1400" kern="1200" cap="small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3657600" indent="0" algn="ctr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None/>
              <a:defRPr kumimoji="0"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hangingPunct="1">
              <a:defRPr/>
            </a:pPr>
            <a:r>
              <a:rPr lang="ru-RU" altLang="ru-RU" sz="2400" b="0" dirty="0">
                <a:solidFill>
                  <a:srgbClr val="AAA9B2"/>
                </a:solidFill>
                <a:latin typeface="+mj-lt"/>
              </a:rPr>
              <a:t>Кафедра №42 «Криптологии и кибербезопасности»</a:t>
            </a:r>
            <a:endParaRPr lang="ru-RU" altLang="ru-RU" sz="2800" dirty="0">
              <a:solidFill>
                <a:srgbClr val="1D2F6A"/>
              </a:solidFill>
              <a:latin typeface="+mj-lt"/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B32EC52F-72E2-B695-F192-3D5A7791B731}"/>
              </a:ext>
            </a:extLst>
          </p:cNvPr>
          <p:cNvSpPr txBox="1">
            <a:spLocks/>
          </p:cNvSpPr>
          <p:nvPr/>
        </p:nvSpPr>
        <p:spPr bwMode="auto">
          <a:xfrm>
            <a:off x="5156558" y="3240992"/>
            <a:ext cx="5117380" cy="6734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indent="-341313">
              <a:spcBef>
                <a:spcPts val="600"/>
              </a:spcBef>
              <a:buClr>
                <a:schemeClr val="accent1"/>
              </a:buClr>
              <a:buSzPct val="70000"/>
              <a:buFont typeface="Wingdings" pitchFamily="2" charset="2"/>
              <a:buChar char=""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639763" indent="-273050">
              <a:spcBef>
                <a:spcPct val="20000"/>
              </a:spcBef>
              <a:buClr>
                <a:schemeClr val="accent1"/>
              </a:buClr>
              <a:buSzPct val="80000"/>
              <a:buFont typeface="Wingdings 2" pitchFamily="2" charset="2"/>
              <a:buChar char=""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  <a:defRPr sz="21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indent="-182563">
              <a:spcBef>
                <a:spcPct val="20000"/>
              </a:spcBef>
              <a:buClr>
                <a:srgbClr val="4471A6"/>
              </a:buClr>
              <a:buSzPct val="60000"/>
              <a:buFont typeface="Wingdings" pitchFamily="2" charset="2"/>
              <a:buChar char=""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187450" indent="-182563">
              <a:spcBef>
                <a:spcPct val="20000"/>
              </a:spcBef>
              <a:buClr>
                <a:srgbClr val="B2C1DB"/>
              </a:buClr>
              <a:buSzPct val="60000"/>
              <a:buFont typeface="Wingdings" pitchFamily="2" charset="2"/>
              <a:buChar char=""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1462088" indent="-182563">
              <a:spcBef>
                <a:spcPct val="20000"/>
              </a:spcBef>
              <a:buClr>
                <a:srgbClr val="DCB3B2"/>
              </a:buClr>
              <a:buSzPct val="68000"/>
              <a:buFont typeface="Wingdings 2" pitchFamily="2" charset="2"/>
              <a:buChar char=""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1919288" indent="-182563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DCB3B2"/>
              </a:buClr>
              <a:buSzPct val="68000"/>
              <a:buFont typeface="Wingdings 2" pitchFamily="2" charset="2"/>
              <a:buChar char=""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376488" indent="-182563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DCB3B2"/>
              </a:buClr>
              <a:buSzPct val="68000"/>
              <a:buFont typeface="Wingdings 2" pitchFamily="2" charset="2"/>
              <a:buChar char=""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2833688" indent="-182563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DCB3B2"/>
              </a:buClr>
              <a:buSzPct val="68000"/>
              <a:buFont typeface="Wingdings 2" pitchFamily="2" charset="2"/>
              <a:buChar char=""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290888" indent="-182563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DCB3B2"/>
              </a:buClr>
              <a:buSzPct val="68000"/>
              <a:buFont typeface="Wingdings 2" pitchFamily="2" charset="2"/>
              <a:buChar char=""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ClrTx/>
              <a:buSzPct val="80000"/>
              <a:buFont typeface="Wingdings" pitchFamily="2" charset="2"/>
              <a:buNone/>
            </a:pPr>
            <a:r>
              <a:rPr lang="ru-RU" altLang="ru-RU" sz="1400" dirty="0">
                <a:solidFill>
                  <a:srgbClr val="AAA9B2"/>
                </a:solidFill>
                <a:cs typeface="Times New Roman" panose="02020603050405020304" pitchFamily="18" charset="0"/>
              </a:rPr>
              <a:t>Б23-505</a:t>
            </a:r>
          </a:p>
          <a:p>
            <a:pPr algn="ctr" eaLnBrk="1" hangingPunct="1">
              <a:buClrTx/>
              <a:buSzPct val="80000"/>
              <a:buFont typeface="Wingdings" pitchFamily="2" charset="2"/>
              <a:buNone/>
            </a:pPr>
            <a:r>
              <a:rPr lang="ru-RU" altLang="ru-RU" sz="1400" dirty="0">
                <a:solidFill>
                  <a:srgbClr val="AAA9B2"/>
                </a:solidFill>
                <a:cs typeface="Times New Roman" panose="02020603050405020304" pitchFamily="18" charset="0"/>
              </a:rPr>
              <a:t>Инновационные технологии компьютерной безопасности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7A01993-7EC0-A053-DCDA-A32406D23B1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7485" y="45565"/>
            <a:ext cx="1390008" cy="1390008"/>
          </a:xfrm>
          <a:prstGeom prst="rect">
            <a:avLst/>
          </a:prstGeom>
        </p:spPr>
      </p:pic>
      <p:pic>
        <p:nvPicPr>
          <p:cNvPr id="6" name="object 10" descr="A black and white logo  AI-generated content may be incorrect.">
            <a:extLst>
              <a:ext uri="{FF2B5EF4-FFF2-40B4-BE49-F238E27FC236}">
                <a16:creationId xmlns:a16="http://schemas.microsoft.com/office/drawing/2014/main" id="{EF7B6992-EB79-736E-03B7-AC14B7C165C8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991011" y="1727454"/>
            <a:ext cx="1321816" cy="132029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983404A-72AE-3D9F-E0B5-FCED9111F2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416" y="183233"/>
            <a:ext cx="9926955" cy="725487"/>
          </a:xfrm>
        </p:spPr>
        <p:txBody>
          <a:bodyPr>
            <a:normAutofit fontScale="90000"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ru-RU" sz="3200" b="1" dirty="0"/>
              <a:t>Актуальность исследования</a:t>
            </a:r>
            <a:r>
              <a:rPr lang="en-US" sz="3200" b="1" dirty="0"/>
              <a:t>: </a:t>
            </a:r>
            <a:r>
              <a:rPr lang="ru-RU" b="1" cap="small" spc="-10" dirty="0"/>
              <a:t>государство</a:t>
            </a:r>
            <a:r>
              <a:rPr lang="ru-RU" b="1" cap="small" spc="75" dirty="0"/>
              <a:t> </a:t>
            </a:r>
            <a:r>
              <a:rPr lang="ru-RU" b="1" cap="small" dirty="0"/>
              <a:t>и</a:t>
            </a:r>
            <a:r>
              <a:rPr lang="ru-RU" b="1" cap="small" spc="25" dirty="0"/>
              <a:t> </a:t>
            </a:r>
            <a:r>
              <a:rPr lang="ru-RU" b="1" cap="small" spc="-10" dirty="0"/>
              <a:t>общество</a:t>
            </a:r>
            <a:endParaRPr lang="ru-RU" b="1" dirty="0"/>
          </a:p>
        </p:txBody>
      </p:sp>
      <p:sp>
        <p:nvSpPr>
          <p:cNvPr id="10242" name="Содержимое 2">
            <a:extLst>
              <a:ext uri="{FF2B5EF4-FFF2-40B4-BE49-F238E27FC236}">
                <a16:creationId xmlns:a16="http://schemas.microsoft.com/office/drawing/2014/main" id="{A48628D8-A160-B9DF-2F47-8B7F581CB333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23888" y="1000125"/>
            <a:ext cx="10080625" cy="5614988"/>
          </a:xfrm>
        </p:spPr>
        <p:txBody>
          <a:bodyPr/>
          <a:lstStyle/>
          <a:p>
            <a:pPr algn="just" eaLnBrk="1" hangingPunct="1">
              <a:buFont typeface="Wingdings" pitchFamily="2" charset="2"/>
              <a:buNone/>
            </a:pPr>
            <a:r>
              <a:rPr lang="ru-RU" altLang="ru-RU" sz="2600" dirty="0"/>
              <a:t>	</a:t>
            </a:r>
          </a:p>
        </p:txBody>
      </p:sp>
      <p:sp>
        <p:nvSpPr>
          <p:cNvPr id="10243" name="Номер слайда 3">
            <a:extLst>
              <a:ext uri="{FF2B5EF4-FFF2-40B4-BE49-F238E27FC236}">
                <a16:creationId xmlns:a16="http://schemas.microsoft.com/office/drawing/2014/main" id="{7634238C-54C8-DCF1-CA63-CFE329694C7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accent1"/>
              </a:buClr>
              <a:buSzPct val="70000"/>
              <a:buFont typeface="Wingdings" pitchFamily="2" charset="2"/>
              <a:buChar char="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 2" pitchFamily="2" charset="2"/>
              <a:buChar char=""/>
              <a:defRPr sz="21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rgbClr val="4471A6"/>
              </a:buClr>
              <a:buSzPct val="60000"/>
              <a:buFont typeface="Wingdings" pitchFamily="2" charset="2"/>
              <a:buChar char="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B2C1DB"/>
              </a:buClr>
              <a:buSzPct val="60000"/>
              <a:buFont typeface="Wingdings" pitchFamily="2" charset="2"/>
              <a:buChar char="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DCB3B2"/>
              </a:buClr>
              <a:buSzPct val="68000"/>
              <a:buFont typeface="Wingdings 2" pitchFamily="2" charset="2"/>
              <a:buChar char="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DCB3B2"/>
              </a:buClr>
              <a:buSzPct val="68000"/>
              <a:buFont typeface="Wingdings 2" pitchFamily="2" charset="2"/>
              <a:buChar char="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DCB3B2"/>
              </a:buClr>
              <a:buSzPct val="68000"/>
              <a:buFont typeface="Wingdings 2" pitchFamily="2" charset="2"/>
              <a:buChar char="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DCB3B2"/>
              </a:buClr>
              <a:buSzPct val="68000"/>
              <a:buFont typeface="Wingdings 2" pitchFamily="2" charset="2"/>
              <a:buChar char="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DCB3B2"/>
              </a:buClr>
              <a:buSzPct val="68000"/>
              <a:buFont typeface="Wingdings 2" pitchFamily="2" charset="2"/>
              <a:buChar char="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1E612AB-852B-F145-82BA-3F1608B456E8}" type="slidenum">
              <a:rPr lang="en-US" altLang="ru-RU" sz="1400">
                <a:solidFill>
                  <a:srgbClr val="FFFFFF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</a:t>
            </a:fld>
            <a:endParaRPr lang="en-US" altLang="ru-RU" sz="1400">
              <a:solidFill>
                <a:srgbClr val="FFFFFF"/>
              </a:solidFill>
            </a:endParaRPr>
          </a:p>
        </p:txBody>
      </p:sp>
      <p:sp>
        <p:nvSpPr>
          <p:cNvPr id="13" name="object 3">
            <a:extLst>
              <a:ext uri="{FF2B5EF4-FFF2-40B4-BE49-F238E27FC236}">
                <a16:creationId xmlns:a16="http://schemas.microsoft.com/office/drawing/2014/main" id="{65E64DC5-85FA-ABAC-4E2E-405421BE71B9}"/>
              </a:ext>
            </a:extLst>
          </p:cNvPr>
          <p:cNvSpPr txBox="1"/>
          <p:nvPr/>
        </p:nvSpPr>
        <p:spPr>
          <a:xfrm>
            <a:off x="767408" y="908720"/>
            <a:ext cx="4481195" cy="422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dirty="0">
                <a:latin typeface="Times New Roman"/>
                <a:cs typeface="Times New Roman"/>
              </a:rPr>
              <a:t>Запрос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со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стороны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государства:</a:t>
            </a:r>
            <a:endParaRPr sz="2600" dirty="0">
              <a:latin typeface="Times New Roman"/>
              <a:cs typeface="Times New Roman"/>
            </a:endParaRPr>
          </a:p>
        </p:txBody>
      </p:sp>
      <p:sp>
        <p:nvSpPr>
          <p:cNvPr id="14" name="object 4">
            <a:extLst>
              <a:ext uri="{FF2B5EF4-FFF2-40B4-BE49-F238E27FC236}">
                <a16:creationId xmlns:a16="http://schemas.microsoft.com/office/drawing/2014/main" id="{9D9DF68C-B82E-4748-5516-AE68EC03CC46}"/>
              </a:ext>
            </a:extLst>
          </p:cNvPr>
          <p:cNvSpPr txBox="1"/>
          <p:nvPr/>
        </p:nvSpPr>
        <p:spPr>
          <a:xfrm>
            <a:off x="767408" y="1381415"/>
            <a:ext cx="4719955" cy="422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5115" indent="-272415">
              <a:lnSpc>
                <a:spcPct val="100000"/>
              </a:lnSpc>
              <a:spcBef>
                <a:spcPts val="105"/>
              </a:spcBef>
              <a:buClr>
                <a:srgbClr val="4F81BC"/>
              </a:buClr>
              <a:buSzPct val="69230"/>
              <a:buFont typeface="Wingdings"/>
              <a:buChar char=""/>
              <a:tabLst>
                <a:tab pos="285115" algn="l"/>
                <a:tab pos="1382395" algn="l"/>
                <a:tab pos="3490595" algn="l"/>
                <a:tab pos="4391025" algn="l"/>
              </a:tabLst>
            </a:pPr>
            <a:r>
              <a:rPr sz="2600" spc="-20" dirty="0">
                <a:latin typeface="Times New Roman"/>
                <a:cs typeface="Times New Roman"/>
              </a:rPr>
              <a:t>Указ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10" dirty="0">
                <a:latin typeface="Times New Roman"/>
                <a:cs typeface="Times New Roman"/>
              </a:rPr>
              <a:t>Президента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25" dirty="0">
                <a:latin typeface="Times New Roman"/>
                <a:cs typeface="Times New Roman"/>
              </a:rPr>
              <a:t>РФ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50" dirty="0">
                <a:latin typeface="Times New Roman"/>
                <a:cs typeface="Times New Roman"/>
              </a:rPr>
              <a:t>№</a:t>
            </a:r>
            <a:endParaRPr sz="2600" dirty="0">
              <a:latin typeface="Times New Roman"/>
              <a:cs typeface="Times New Roman"/>
            </a:endParaRPr>
          </a:p>
        </p:txBody>
      </p:sp>
      <p:sp>
        <p:nvSpPr>
          <p:cNvPr id="15" name="object 5">
            <a:extLst>
              <a:ext uri="{FF2B5EF4-FFF2-40B4-BE49-F238E27FC236}">
                <a16:creationId xmlns:a16="http://schemas.microsoft.com/office/drawing/2014/main" id="{1D1478CC-38E6-0758-E039-48F663CD36B8}"/>
              </a:ext>
            </a:extLst>
          </p:cNvPr>
          <p:cNvSpPr txBox="1"/>
          <p:nvPr/>
        </p:nvSpPr>
        <p:spPr>
          <a:xfrm>
            <a:off x="1040204" y="1777655"/>
            <a:ext cx="4736465" cy="422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2867025" algn="l"/>
              </a:tabLst>
            </a:pPr>
            <a:r>
              <a:rPr sz="2600" spc="-10" dirty="0">
                <a:latin typeface="Times New Roman"/>
                <a:cs typeface="Times New Roman"/>
              </a:rPr>
              <a:t>технологического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10" dirty="0">
                <a:latin typeface="Times New Roman"/>
                <a:cs typeface="Times New Roman"/>
              </a:rPr>
              <a:t>суверенитета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16" name="object 6">
            <a:extLst>
              <a:ext uri="{FF2B5EF4-FFF2-40B4-BE49-F238E27FC236}">
                <a16:creationId xmlns:a16="http://schemas.microsoft.com/office/drawing/2014/main" id="{7599A44B-ABD9-DBCD-79A4-4DCF001A0DFB}"/>
              </a:ext>
            </a:extLst>
          </p:cNvPr>
          <p:cNvSpPr txBox="1"/>
          <p:nvPr/>
        </p:nvSpPr>
        <p:spPr>
          <a:xfrm>
            <a:off x="5922236" y="1381415"/>
            <a:ext cx="4770120" cy="8185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98120" marR="5080" indent="-186055">
              <a:lnSpc>
                <a:spcPct val="100000"/>
              </a:lnSpc>
              <a:spcBef>
                <a:spcPts val="105"/>
              </a:spcBef>
              <a:tabLst>
                <a:tab pos="731520" algn="l"/>
                <a:tab pos="969644" algn="l"/>
                <a:tab pos="2980055" algn="l"/>
                <a:tab pos="3001010" algn="l"/>
              </a:tabLst>
            </a:pPr>
            <a:r>
              <a:rPr sz="2600" spc="-25" dirty="0">
                <a:latin typeface="Times New Roman"/>
                <a:cs typeface="Times New Roman"/>
              </a:rPr>
              <a:t>400</a:t>
            </a:r>
            <a:r>
              <a:rPr sz="2600" dirty="0">
                <a:latin typeface="Times New Roman"/>
                <a:cs typeface="Times New Roman"/>
              </a:rPr>
              <a:t>		</a:t>
            </a:r>
            <a:r>
              <a:rPr sz="2600" spc="-10" dirty="0">
                <a:latin typeface="Times New Roman"/>
                <a:cs typeface="Times New Roman"/>
              </a:rPr>
              <a:t>определяет</a:t>
            </a:r>
            <a:r>
              <a:rPr sz="2600" dirty="0">
                <a:latin typeface="Times New Roman"/>
                <a:cs typeface="Times New Roman"/>
              </a:rPr>
              <a:t>		</a:t>
            </a:r>
            <a:r>
              <a:rPr sz="2600" spc="-10" dirty="0">
                <a:latin typeface="Times New Roman"/>
                <a:cs typeface="Times New Roman"/>
              </a:rPr>
              <a:t>обеспечение </a:t>
            </a:r>
            <a:r>
              <a:rPr sz="2600" spc="-50" dirty="0">
                <a:latin typeface="Times New Roman"/>
                <a:cs typeface="Times New Roman"/>
              </a:rPr>
              <a:t>и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10" dirty="0">
                <a:latin typeface="Times New Roman"/>
                <a:cs typeface="Times New Roman"/>
              </a:rPr>
              <a:t>безопасности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10" dirty="0">
                <a:latin typeface="Times New Roman"/>
                <a:cs typeface="Times New Roman"/>
              </a:rPr>
              <a:t>критической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17" name="object 7">
            <a:extLst>
              <a:ext uri="{FF2B5EF4-FFF2-40B4-BE49-F238E27FC236}">
                <a16:creationId xmlns:a16="http://schemas.microsoft.com/office/drawing/2014/main" id="{04C23830-E6F6-943C-53C6-A3951048601F}"/>
              </a:ext>
            </a:extLst>
          </p:cNvPr>
          <p:cNvSpPr txBox="1"/>
          <p:nvPr/>
        </p:nvSpPr>
        <p:spPr>
          <a:xfrm>
            <a:off x="767408" y="2173895"/>
            <a:ext cx="9926955" cy="2084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5115" marR="8255" algn="just">
              <a:lnSpc>
                <a:spcPct val="100000"/>
              </a:lnSpc>
              <a:spcBef>
                <a:spcPts val="105"/>
              </a:spcBef>
            </a:pPr>
            <a:r>
              <a:rPr sz="2600" dirty="0">
                <a:latin typeface="Times New Roman"/>
                <a:cs typeface="Times New Roman"/>
              </a:rPr>
              <a:t>информационной</a:t>
            </a:r>
            <a:r>
              <a:rPr sz="2600" spc="10" dirty="0">
                <a:latin typeface="Times New Roman"/>
                <a:cs typeface="Times New Roman"/>
              </a:rPr>
              <a:t>  </a:t>
            </a:r>
            <a:r>
              <a:rPr sz="2600" dirty="0">
                <a:latin typeface="Times New Roman"/>
                <a:cs typeface="Times New Roman"/>
              </a:rPr>
              <a:t>инфраструктуры</a:t>
            </a:r>
            <a:r>
              <a:rPr sz="2600" spc="15" dirty="0">
                <a:latin typeface="Times New Roman"/>
                <a:cs typeface="Times New Roman"/>
              </a:rPr>
              <a:t>  </a:t>
            </a:r>
            <a:r>
              <a:rPr sz="2600" dirty="0">
                <a:latin typeface="Times New Roman"/>
                <a:cs typeface="Times New Roman"/>
              </a:rPr>
              <a:t>как</a:t>
            </a:r>
            <a:r>
              <a:rPr sz="2600" spc="5" dirty="0">
                <a:latin typeface="Times New Roman"/>
                <a:cs typeface="Times New Roman"/>
              </a:rPr>
              <a:t>  </a:t>
            </a:r>
            <a:r>
              <a:rPr sz="2600" dirty="0">
                <a:latin typeface="Times New Roman"/>
                <a:cs typeface="Times New Roman"/>
              </a:rPr>
              <a:t>стратегический</a:t>
            </a:r>
            <a:r>
              <a:rPr sz="2600" spc="15" dirty="0">
                <a:latin typeface="Times New Roman"/>
                <a:cs typeface="Times New Roman"/>
              </a:rPr>
              <a:t>  </a:t>
            </a:r>
            <a:r>
              <a:rPr sz="2600" spc="-10" dirty="0">
                <a:latin typeface="Times New Roman"/>
                <a:cs typeface="Times New Roman"/>
              </a:rPr>
              <a:t>приоритет </a:t>
            </a:r>
            <a:r>
              <a:rPr sz="2600" spc="-20" dirty="0">
                <a:latin typeface="Times New Roman"/>
                <a:cs typeface="Times New Roman"/>
              </a:rPr>
              <a:t>[1].</a:t>
            </a:r>
            <a:endParaRPr sz="2600" dirty="0">
              <a:latin typeface="Times New Roman"/>
              <a:cs typeface="Times New Roman"/>
            </a:endParaRPr>
          </a:p>
          <a:p>
            <a:pPr marL="285115" marR="5080" indent="-273050" algn="just">
              <a:lnSpc>
                <a:spcPct val="100000"/>
              </a:lnSpc>
              <a:spcBef>
                <a:spcPts val="600"/>
              </a:spcBef>
              <a:buClr>
                <a:srgbClr val="4F81BC"/>
              </a:buClr>
              <a:buSzPct val="69230"/>
              <a:buFont typeface="Wingdings"/>
              <a:buChar char=""/>
              <a:tabLst>
                <a:tab pos="285115" algn="l"/>
              </a:tabLst>
            </a:pPr>
            <a:r>
              <a:rPr sz="2600" dirty="0">
                <a:latin typeface="Times New Roman"/>
                <a:cs typeface="Times New Roman"/>
              </a:rPr>
              <a:t>Доктрина</a:t>
            </a:r>
            <a:r>
              <a:rPr sz="2600" spc="390" dirty="0">
                <a:latin typeface="Times New Roman"/>
                <a:cs typeface="Times New Roman"/>
              </a:rPr>
              <a:t>     </a:t>
            </a:r>
            <a:r>
              <a:rPr sz="2600" dirty="0">
                <a:latin typeface="Times New Roman"/>
                <a:cs typeface="Times New Roman"/>
              </a:rPr>
              <a:t>информационной</a:t>
            </a:r>
            <a:r>
              <a:rPr sz="2600" spc="390" dirty="0">
                <a:latin typeface="Times New Roman"/>
                <a:cs typeface="Times New Roman"/>
              </a:rPr>
              <a:t>     </a:t>
            </a:r>
            <a:r>
              <a:rPr sz="2600" dirty="0">
                <a:latin typeface="Times New Roman"/>
                <a:cs typeface="Times New Roman"/>
              </a:rPr>
              <a:t>безопасности</a:t>
            </a:r>
            <a:r>
              <a:rPr sz="2600" spc="390" dirty="0">
                <a:latin typeface="Times New Roman"/>
                <a:cs typeface="Times New Roman"/>
              </a:rPr>
              <a:t>     </a:t>
            </a:r>
            <a:r>
              <a:rPr sz="2600" spc="-10" dirty="0">
                <a:latin typeface="Times New Roman"/>
                <a:cs typeface="Times New Roman"/>
              </a:rPr>
              <a:t>подчёркивает </a:t>
            </a:r>
            <a:r>
              <a:rPr sz="2600" dirty="0">
                <a:latin typeface="Times New Roman"/>
                <a:cs typeface="Times New Roman"/>
              </a:rPr>
              <a:t>необходимость</a:t>
            </a:r>
            <a:r>
              <a:rPr sz="2600" spc="610" dirty="0">
                <a:latin typeface="Times New Roman"/>
                <a:cs typeface="Times New Roman"/>
              </a:rPr>
              <a:t>  </a:t>
            </a:r>
            <a:r>
              <a:rPr sz="2600" dirty="0">
                <a:latin typeface="Times New Roman"/>
                <a:cs typeface="Times New Roman"/>
              </a:rPr>
              <a:t>развития</a:t>
            </a:r>
            <a:r>
              <a:rPr sz="2600" spc="605" dirty="0">
                <a:latin typeface="Times New Roman"/>
                <a:cs typeface="Times New Roman"/>
              </a:rPr>
              <a:t>  </a:t>
            </a:r>
            <a:r>
              <a:rPr sz="2600" dirty="0">
                <a:latin typeface="Times New Roman"/>
                <a:cs typeface="Times New Roman"/>
              </a:rPr>
              <a:t>защищённых</a:t>
            </a:r>
            <a:r>
              <a:rPr sz="2600" spc="610" dirty="0">
                <a:latin typeface="Times New Roman"/>
                <a:cs typeface="Times New Roman"/>
              </a:rPr>
              <a:t>  </a:t>
            </a:r>
            <a:r>
              <a:rPr sz="2600" dirty="0">
                <a:latin typeface="Times New Roman"/>
                <a:cs typeface="Times New Roman"/>
              </a:rPr>
              <a:t>технологий</a:t>
            </a:r>
            <a:r>
              <a:rPr sz="2600" spc="600" dirty="0">
                <a:latin typeface="Times New Roman"/>
                <a:cs typeface="Times New Roman"/>
              </a:rPr>
              <a:t>  </a:t>
            </a:r>
            <a:r>
              <a:rPr sz="2600" dirty="0">
                <a:latin typeface="Times New Roman"/>
                <a:cs typeface="Times New Roman"/>
              </a:rPr>
              <a:t>и</a:t>
            </a:r>
            <a:r>
              <a:rPr sz="2600" spc="610" dirty="0">
                <a:latin typeface="Times New Roman"/>
                <a:cs typeface="Times New Roman"/>
              </a:rPr>
              <a:t>  </a:t>
            </a:r>
            <a:r>
              <a:rPr sz="2600" spc="-10" dirty="0">
                <a:latin typeface="Times New Roman"/>
                <a:cs typeface="Times New Roman"/>
              </a:rPr>
              <a:t>систем обнаружения</a:t>
            </a:r>
            <a:r>
              <a:rPr sz="2600" spc="-9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киберугроз</a:t>
            </a:r>
            <a:r>
              <a:rPr sz="2600" spc="-110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Times New Roman"/>
                <a:cs typeface="Times New Roman"/>
              </a:rPr>
              <a:t>[2].</a:t>
            </a:r>
            <a:endParaRPr sz="2600" dirty="0">
              <a:latin typeface="Times New Roman"/>
              <a:cs typeface="Times New Roman"/>
            </a:endParaRPr>
          </a:p>
        </p:txBody>
      </p:sp>
      <p:sp>
        <p:nvSpPr>
          <p:cNvPr id="18" name="object 8">
            <a:extLst>
              <a:ext uri="{FF2B5EF4-FFF2-40B4-BE49-F238E27FC236}">
                <a16:creationId xmlns:a16="http://schemas.microsoft.com/office/drawing/2014/main" id="{9EA7A515-1EAB-3765-9531-EBC79788C44E}"/>
              </a:ext>
            </a:extLst>
          </p:cNvPr>
          <p:cNvSpPr txBox="1"/>
          <p:nvPr/>
        </p:nvSpPr>
        <p:spPr>
          <a:xfrm>
            <a:off x="767408" y="4307571"/>
            <a:ext cx="7572375" cy="20478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5115" marR="5080" indent="-273050" algn="just">
              <a:lnSpc>
                <a:spcPct val="100000"/>
              </a:lnSpc>
              <a:spcBef>
                <a:spcPts val="105"/>
              </a:spcBef>
              <a:buClr>
                <a:srgbClr val="4F81BC"/>
              </a:buClr>
              <a:buSzPct val="69230"/>
              <a:buFont typeface="Wingdings"/>
              <a:buChar char=""/>
              <a:tabLst>
                <a:tab pos="285115" algn="l"/>
              </a:tabLst>
            </a:pPr>
            <a:r>
              <a:rPr sz="2600" dirty="0">
                <a:latin typeface="Times New Roman"/>
                <a:cs typeface="Times New Roman"/>
              </a:rPr>
              <a:t>Федеральный</a:t>
            </a:r>
            <a:r>
              <a:rPr sz="2600" spc="520" dirty="0">
                <a:latin typeface="Times New Roman"/>
                <a:cs typeface="Times New Roman"/>
              </a:rPr>
              <a:t>  </a:t>
            </a:r>
            <a:r>
              <a:rPr sz="2600" dirty="0">
                <a:latin typeface="Times New Roman"/>
                <a:cs typeface="Times New Roman"/>
              </a:rPr>
              <a:t>закон</a:t>
            </a:r>
            <a:r>
              <a:rPr sz="2600" spc="509" dirty="0">
                <a:latin typeface="Times New Roman"/>
                <a:cs typeface="Times New Roman"/>
              </a:rPr>
              <a:t>  </a:t>
            </a:r>
            <a:r>
              <a:rPr sz="2600" dirty="0">
                <a:latin typeface="Times New Roman"/>
                <a:cs typeface="Times New Roman"/>
              </a:rPr>
              <a:t>№</a:t>
            </a:r>
            <a:r>
              <a:rPr sz="2600" spc="520" dirty="0">
                <a:latin typeface="Times New Roman"/>
                <a:cs typeface="Times New Roman"/>
              </a:rPr>
              <a:t>  </a:t>
            </a:r>
            <a:r>
              <a:rPr sz="2600" spc="-10" dirty="0">
                <a:latin typeface="Times New Roman"/>
                <a:cs typeface="Times New Roman"/>
              </a:rPr>
              <a:t>149-</a:t>
            </a:r>
            <a:r>
              <a:rPr sz="2600" dirty="0">
                <a:latin typeface="Times New Roman"/>
                <a:cs typeface="Times New Roman"/>
              </a:rPr>
              <a:t>ФЗ</a:t>
            </a:r>
            <a:r>
              <a:rPr sz="2600" spc="520" dirty="0">
                <a:latin typeface="Times New Roman"/>
                <a:cs typeface="Times New Roman"/>
              </a:rPr>
              <a:t>  </a:t>
            </a:r>
            <a:r>
              <a:rPr sz="2600" spc="-10" dirty="0">
                <a:latin typeface="Times New Roman"/>
                <a:cs typeface="Times New Roman"/>
              </a:rPr>
              <a:t>устанавливает </a:t>
            </a:r>
            <a:r>
              <a:rPr sz="2600" dirty="0">
                <a:latin typeface="Times New Roman"/>
                <a:cs typeface="Times New Roman"/>
              </a:rPr>
              <a:t>обеспечению</a:t>
            </a:r>
            <a:r>
              <a:rPr sz="2600" spc="360" dirty="0">
                <a:latin typeface="Times New Roman"/>
                <a:cs typeface="Times New Roman"/>
              </a:rPr>
              <a:t>    </a:t>
            </a:r>
            <a:r>
              <a:rPr sz="2600" dirty="0">
                <a:latin typeface="Times New Roman"/>
                <a:cs typeface="Times New Roman"/>
              </a:rPr>
              <a:t>безопасности</a:t>
            </a:r>
            <a:r>
              <a:rPr sz="2600" spc="365" dirty="0">
                <a:latin typeface="Times New Roman"/>
                <a:cs typeface="Times New Roman"/>
              </a:rPr>
              <a:t>    </a:t>
            </a:r>
            <a:r>
              <a:rPr sz="2600" dirty="0">
                <a:latin typeface="Times New Roman"/>
                <a:cs typeface="Times New Roman"/>
              </a:rPr>
              <a:t>информации</a:t>
            </a:r>
            <a:r>
              <a:rPr sz="2600" spc="355" dirty="0">
                <a:latin typeface="Times New Roman"/>
                <a:cs typeface="Times New Roman"/>
              </a:rPr>
              <a:t>    </a:t>
            </a:r>
            <a:r>
              <a:rPr sz="2600" spc="-50" dirty="0">
                <a:latin typeface="Times New Roman"/>
                <a:cs typeface="Times New Roman"/>
              </a:rPr>
              <a:t>и </a:t>
            </a:r>
            <a:r>
              <a:rPr sz="2600" dirty="0">
                <a:latin typeface="Times New Roman"/>
                <a:cs typeface="Times New Roman"/>
              </a:rPr>
              <a:t>несанкционированного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доступа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Times New Roman"/>
                <a:cs typeface="Times New Roman"/>
              </a:rPr>
              <a:t>[3].</a:t>
            </a:r>
            <a:endParaRPr sz="2600" dirty="0">
              <a:latin typeface="Times New Roman"/>
              <a:cs typeface="Times New Roman"/>
            </a:endParaRPr>
          </a:p>
          <a:p>
            <a:pPr marL="211454" indent="-139700">
              <a:lnSpc>
                <a:spcPct val="100000"/>
              </a:lnSpc>
              <a:spcBef>
                <a:spcPts val="790"/>
              </a:spcBef>
              <a:buAutoNum type="arabicPeriod"/>
              <a:tabLst>
                <a:tab pos="211454" algn="l"/>
              </a:tabLst>
            </a:pPr>
            <a:r>
              <a:rPr sz="1200" u="sng" spc="-1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Microsoft Sans Serif"/>
                <a:cs typeface="Microsoft Sans Serif"/>
                <a:hlinkClick r:id="rId2"/>
              </a:rPr>
              <a:t> </a:t>
            </a:r>
            <a:r>
              <a:rPr sz="1200" u="sng" spc="-4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Microsoft Sans Serif"/>
                <a:cs typeface="Microsoft Sans Serif"/>
                <a:hlinkClick r:id="rId2"/>
              </a:rPr>
              <a:t>Указ</a:t>
            </a:r>
            <a:r>
              <a:rPr sz="1200" u="sng" spc="-2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Microsoft Sans Serif"/>
                <a:cs typeface="Microsoft Sans Serif"/>
                <a:hlinkClick r:id="rId2"/>
              </a:rPr>
              <a:t> </a:t>
            </a:r>
            <a:r>
              <a:rPr sz="12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Microsoft Sans Serif"/>
                <a:cs typeface="Microsoft Sans Serif"/>
                <a:hlinkClick r:id="rId2"/>
              </a:rPr>
              <a:t>Президента</a:t>
            </a:r>
            <a:r>
              <a:rPr sz="1200" u="sng" spc="-3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Microsoft Sans Serif"/>
                <a:cs typeface="Microsoft Sans Serif"/>
                <a:hlinkClick r:id="rId2"/>
              </a:rPr>
              <a:t> РФ</a:t>
            </a:r>
            <a:r>
              <a:rPr sz="1200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Microsoft Sans Serif"/>
                <a:cs typeface="Microsoft Sans Serif"/>
                <a:hlinkClick r:id="rId2"/>
              </a:rPr>
              <a:t> </a:t>
            </a:r>
            <a:r>
              <a:rPr sz="1200" u="sng" spc="8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Microsoft Sans Serif"/>
                <a:cs typeface="Microsoft Sans Serif"/>
                <a:hlinkClick r:id="rId2"/>
              </a:rPr>
              <a:t>№</a:t>
            </a:r>
            <a:r>
              <a:rPr sz="1200" u="sng" spc="-8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Microsoft Sans Serif"/>
                <a:cs typeface="Microsoft Sans Serif"/>
                <a:hlinkClick r:id="rId2"/>
              </a:rPr>
              <a:t> </a:t>
            </a:r>
            <a:r>
              <a:rPr sz="1200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Microsoft Sans Serif"/>
                <a:cs typeface="Microsoft Sans Serif"/>
                <a:hlinkClick r:id="rId2"/>
              </a:rPr>
              <a:t>400</a:t>
            </a:r>
            <a:r>
              <a:rPr sz="1200" u="sng" spc="-1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Microsoft Sans Serif"/>
                <a:cs typeface="Microsoft Sans Serif"/>
                <a:hlinkClick r:id="rId2"/>
              </a:rPr>
              <a:t> </a:t>
            </a:r>
            <a:r>
              <a:rPr sz="1200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Microsoft Sans Serif"/>
                <a:cs typeface="Microsoft Sans Serif"/>
                <a:hlinkClick r:id="rId2"/>
              </a:rPr>
              <a:t>«О</a:t>
            </a:r>
            <a:r>
              <a:rPr sz="12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Microsoft Sans Serif"/>
                <a:cs typeface="Microsoft Sans Serif"/>
                <a:hlinkClick r:id="rId2"/>
              </a:rPr>
              <a:t> Стратегии</a:t>
            </a:r>
            <a:r>
              <a:rPr sz="1200" u="sng" spc="-2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Microsoft Sans Serif"/>
                <a:cs typeface="Microsoft Sans Serif"/>
                <a:hlinkClick r:id="rId2"/>
              </a:rPr>
              <a:t> </a:t>
            </a:r>
            <a:r>
              <a:rPr sz="1200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Microsoft Sans Serif"/>
                <a:cs typeface="Microsoft Sans Serif"/>
                <a:hlinkClick r:id="rId2"/>
              </a:rPr>
              <a:t>национальной</a:t>
            </a:r>
            <a:r>
              <a:rPr sz="12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Microsoft Sans Serif"/>
                <a:cs typeface="Microsoft Sans Serif"/>
                <a:hlinkClick r:id="rId2"/>
              </a:rPr>
              <a:t> </a:t>
            </a:r>
            <a:r>
              <a:rPr sz="1200" u="sng" spc="-2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Microsoft Sans Serif"/>
                <a:cs typeface="Microsoft Sans Serif"/>
                <a:hlinkClick r:id="rId2"/>
              </a:rPr>
              <a:t>безопасности</a:t>
            </a:r>
            <a:r>
              <a:rPr sz="1200" u="sng" spc="-3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Microsoft Sans Serif"/>
                <a:cs typeface="Microsoft Sans Serif"/>
                <a:hlinkClick r:id="rId2"/>
              </a:rPr>
              <a:t> </a:t>
            </a:r>
            <a:r>
              <a:rPr sz="12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Microsoft Sans Serif"/>
                <a:cs typeface="Microsoft Sans Serif"/>
                <a:hlinkClick r:id="rId2"/>
              </a:rPr>
              <a:t>Российской Федерации»</a:t>
            </a:r>
            <a:endParaRPr sz="1200" dirty="0">
              <a:latin typeface="Microsoft Sans Serif"/>
              <a:cs typeface="Microsoft Sans Serif"/>
            </a:endParaRPr>
          </a:p>
          <a:p>
            <a:pPr marL="211454" indent="-139700">
              <a:lnSpc>
                <a:spcPct val="100000"/>
              </a:lnSpc>
              <a:buAutoNum type="arabicPeriod"/>
              <a:tabLst>
                <a:tab pos="211454" algn="l"/>
              </a:tabLst>
            </a:pPr>
            <a:r>
              <a:rPr sz="1200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Microsoft Sans Serif"/>
                <a:cs typeface="Microsoft Sans Serif"/>
                <a:hlinkClick r:id="rId3"/>
              </a:rPr>
              <a:t> </a:t>
            </a:r>
            <a:r>
              <a:rPr sz="1200" u="sng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Microsoft Sans Serif"/>
                <a:cs typeface="Microsoft Sans Serif"/>
                <a:hlinkClick r:id="rId3"/>
              </a:rPr>
              <a:t>Доктрина</a:t>
            </a:r>
            <a:r>
              <a:rPr sz="12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Microsoft Sans Serif"/>
                <a:cs typeface="Microsoft Sans Serif"/>
                <a:hlinkClick r:id="rId3"/>
              </a:rPr>
              <a:t> информационной</a:t>
            </a:r>
            <a:r>
              <a:rPr sz="1200" u="sng" spc="-1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Microsoft Sans Serif"/>
                <a:cs typeface="Microsoft Sans Serif"/>
                <a:hlinkClick r:id="rId3"/>
              </a:rPr>
              <a:t> </a:t>
            </a:r>
            <a:r>
              <a:rPr sz="1200" u="sng" spc="-2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Microsoft Sans Serif"/>
                <a:cs typeface="Microsoft Sans Serif"/>
                <a:hlinkClick r:id="rId3"/>
              </a:rPr>
              <a:t>безопасности </a:t>
            </a:r>
            <a:r>
              <a:rPr sz="12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Microsoft Sans Serif"/>
                <a:cs typeface="Microsoft Sans Serif"/>
                <a:hlinkClick r:id="rId3"/>
              </a:rPr>
              <a:t>Российской</a:t>
            </a:r>
            <a:r>
              <a:rPr sz="1200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Microsoft Sans Serif"/>
                <a:cs typeface="Microsoft Sans Serif"/>
                <a:hlinkClick r:id="rId3"/>
              </a:rPr>
              <a:t> </a:t>
            </a:r>
            <a:r>
              <a:rPr sz="1200" u="sng" spc="-2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Microsoft Sans Serif"/>
                <a:cs typeface="Microsoft Sans Serif"/>
                <a:hlinkClick r:id="rId3"/>
              </a:rPr>
              <a:t>Федерации</a:t>
            </a:r>
            <a:r>
              <a:rPr sz="12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Microsoft Sans Serif"/>
                <a:cs typeface="Microsoft Sans Serif"/>
                <a:hlinkClick r:id="rId3"/>
              </a:rPr>
              <a:t> (утверждена</a:t>
            </a:r>
            <a:r>
              <a:rPr sz="1200" u="sng" spc="-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Microsoft Sans Serif"/>
                <a:cs typeface="Microsoft Sans Serif"/>
                <a:hlinkClick r:id="rId3"/>
              </a:rPr>
              <a:t> </a:t>
            </a:r>
            <a:r>
              <a:rPr sz="1200" u="sng" spc="-3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Microsoft Sans Serif"/>
                <a:cs typeface="Microsoft Sans Serif"/>
                <a:hlinkClick r:id="rId3"/>
              </a:rPr>
              <a:t>Указом</a:t>
            </a:r>
            <a:r>
              <a:rPr sz="1200" u="sng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Microsoft Sans Serif"/>
                <a:cs typeface="Microsoft Sans Serif"/>
                <a:hlinkClick r:id="rId3"/>
              </a:rPr>
              <a:t> </a:t>
            </a:r>
            <a:r>
              <a:rPr sz="12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Microsoft Sans Serif"/>
                <a:cs typeface="Microsoft Sans Serif"/>
                <a:hlinkClick r:id="rId3"/>
              </a:rPr>
              <a:t>Президента</a:t>
            </a:r>
            <a:r>
              <a:rPr sz="1200" u="sng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Microsoft Sans Serif"/>
                <a:cs typeface="Microsoft Sans Serif"/>
                <a:hlinkClick r:id="rId3"/>
              </a:rPr>
              <a:t> РФ</a:t>
            </a:r>
            <a:endParaRPr sz="1200" dirty="0">
              <a:latin typeface="Microsoft Sans Serif"/>
              <a:cs typeface="Microsoft Sans Serif"/>
            </a:endParaRPr>
          </a:p>
          <a:p>
            <a:pPr marL="84455">
              <a:lnSpc>
                <a:spcPct val="100000"/>
              </a:lnSpc>
            </a:pPr>
            <a:r>
              <a:rPr sz="1200" u="sng" spc="8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Microsoft Sans Serif"/>
                <a:cs typeface="Microsoft Sans Serif"/>
                <a:hlinkClick r:id="rId3"/>
              </a:rPr>
              <a:t>№</a:t>
            </a:r>
            <a:r>
              <a:rPr sz="1200" u="sng" spc="-8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Microsoft Sans Serif"/>
                <a:cs typeface="Microsoft Sans Serif"/>
                <a:hlinkClick r:id="rId3"/>
              </a:rPr>
              <a:t> </a:t>
            </a:r>
            <a:r>
              <a:rPr sz="1200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Microsoft Sans Serif"/>
                <a:cs typeface="Microsoft Sans Serif"/>
                <a:hlinkClick r:id="rId3"/>
              </a:rPr>
              <a:t>646 </a:t>
            </a:r>
            <a:r>
              <a:rPr sz="1200" u="sng" spc="-2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Microsoft Sans Serif"/>
                <a:cs typeface="Microsoft Sans Serif"/>
                <a:hlinkClick r:id="rId3"/>
              </a:rPr>
              <a:t>от</a:t>
            </a:r>
            <a:r>
              <a:rPr sz="1200" u="sng" spc="-7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Microsoft Sans Serif"/>
                <a:cs typeface="Microsoft Sans Serif"/>
                <a:hlinkClick r:id="rId3"/>
              </a:rPr>
              <a:t> </a:t>
            </a:r>
            <a:r>
              <a:rPr sz="12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MT"/>
                <a:cs typeface="Arial MT"/>
                <a:hlinkClick r:id="rId3"/>
              </a:rPr>
              <a:t>05.12.2016)</a:t>
            </a:r>
            <a:endParaRPr sz="1200" dirty="0">
              <a:latin typeface="Arial MT"/>
              <a:cs typeface="Arial MT"/>
            </a:endParaRPr>
          </a:p>
          <a:p>
            <a:pPr marL="211454" indent="-139700">
              <a:lnSpc>
                <a:spcPct val="100000"/>
              </a:lnSpc>
              <a:spcBef>
                <a:spcPts val="5"/>
              </a:spcBef>
              <a:buAutoNum type="arabicPeriod" startAt="3"/>
              <a:tabLst>
                <a:tab pos="211454" algn="l"/>
              </a:tabLst>
            </a:pPr>
            <a:r>
              <a:rPr sz="1200" u="sng" spc="-2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MT"/>
                <a:cs typeface="Arial MT"/>
                <a:hlinkClick r:id="rId4"/>
              </a:rPr>
              <a:t> </a:t>
            </a:r>
            <a:r>
              <a:rPr sz="1200" u="sng" spc="-5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Microsoft Sans Serif"/>
                <a:cs typeface="Microsoft Sans Serif"/>
                <a:hlinkClick r:id="rId4"/>
              </a:rPr>
              <a:t>ФЗ</a:t>
            </a:r>
            <a:r>
              <a:rPr sz="1200" u="sng" spc="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Microsoft Sans Serif"/>
                <a:cs typeface="Microsoft Sans Serif"/>
                <a:hlinkClick r:id="rId4"/>
              </a:rPr>
              <a:t> </a:t>
            </a:r>
            <a:r>
              <a:rPr sz="1200" u="sng" spc="8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Microsoft Sans Serif"/>
                <a:cs typeface="Microsoft Sans Serif"/>
                <a:hlinkClick r:id="rId4"/>
              </a:rPr>
              <a:t>№</a:t>
            </a:r>
            <a:r>
              <a:rPr sz="1200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Microsoft Sans Serif"/>
                <a:cs typeface="Microsoft Sans Serif"/>
                <a:hlinkClick r:id="rId4"/>
              </a:rPr>
              <a:t> 149</a:t>
            </a:r>
            <a:r>
              <a:rPr sz="1200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MT"/>
                <a:cs typeface="Arial MT"/>
                <a:hlinkClick r:id="rId4"/>
              </a:rPr>
              <a:t>-</a:t>
            </a:r>
            <a:r>
              <a:rPr sz="1200" u="sng" spc="-7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Microsoft Sans Serif"/>
                <a:cs typeface="Microsoft Sans Serif"/>
                <a:hlinkClick r:id="rId4"/>
              </a:rPr>
              <a:t>ФЗ</a:t>
            </a:r>
            <a:r>
              <a:rPr sz="1200" u="sng" spc="-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Microsoft Sans Serif"/>
                <a:cs typeface="Microsoft Sans Serif"/>
                <a:hlinkClick r:id="rId4"/>
              </a:rPr>
              <a:t> </a:t>
            </a:r>
            <a:r>
              <a:rPr sz="1200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Microsoft Sans Serif"/>
                <a:cs typeface="Microsoft Sans Serif"/>
                <a:hlinkClick r:id="rId4"/>
              </a:rPr>
              <a:t>(27.07.2006)</a:t>
            </a:r>
            <a:r>
              <a:rPr sz="1200" u="sng" spc="-1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Microsoft Sans Serif"/>
                <a:cs typeface="Microsoft Sans Serif"/>
                <a:hlinkClick r:id="rId4"/>
              </a:rPr>
              <a:t> </a:t>
            </a:r>
            <a:r>
              <a:rPr sz="1200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Microsoft Sans Serif"/>
                <a:cs typeface="Microsoft Sans Serif"/>
                <a:hlinkClick r:id="rId4"/>
              </a:rPr>
              <a:t>«Об</a:t>
            </a:r>
            <a:r>
              <a:rPr sz="1200" u="sng" spc="-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Microsoft Sans Serif"/>
                <a:cs typeface="Microsoft Sans Serif"/>
                <a:hlinkClick r:id="rId4"/>
              </a:rPr>
              <a:t> </a:t>
            </a:r>
            <a:r>
              <a:rPr sz="12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Microsoft Sans Serif"/>
                <a:cs typeface="Microsoft Sans Serif"/>
                <a:hlinkClick r:id="rId4"/>
              </a:rPr>
              <a:t>информации,</a:t>
            </a:r>
            <a:r>
              <a:rPr sz="1200" u="sng" spc="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Microsoft Sans Serif"/>
                <a:cs typeface="Microsoft Sans Serif"/>
                <a:hlinkClick r:id="rId4"/>
              </a:rPr>
              <a:t> </a:t>
            </a:r>
            <a:r>
              <a:rPr sz="12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Microsoft Sans Serif"/>
                <a:cs typeface="Microsoft Sans Serif"/>
                <a:hlinkClick r:id="rId4"/>
              </a:rPr>
              <a:t>информационных</a:t>
            </a:r>
            <a:r>
              <a:rPr sz="1200" u="sng" spc="-1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Microsoft Sans Serif"/>
                <a:cs typeface="Microsoft Sans Serif"/>
                <a:hlinkClick r:id="rId4"/>
              </a:rPr>
              <a:t> </a:t>
            </a:r>
            <a:r>
              <a:rPr sz="12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Microsoft Sans Serif"/>
                <a:cs typeface="Microsoft Sans Serif"/>
                <a:hlinkClick r:id="rId4"/>
              </a:rPr>
              <a:t>технологиях</a:t>
            </a:r>
            <a:r>
              <a:rPr sz="1200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Microsoft Sans Serif"/>
                <a:cs typeface="Microsoft Sans Serif"/>
                <a:hlinkClick r:id="rId4"/>
              </a:rPr>
              <a:t> и</a:t>
            </a:r>
            <a:r>
              <a:rPr sz="1200" u="sng" spc="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Microsoft Sans Serif"/>
                <a:cs typeface="Microsoft Sans Serif"/>
                <a:hlinkClick r:id="rId4"/>
              </a:rPr>
              <a:t> </a:t>
            </a:r>
            <a:r>
              <a:rPr sz="1200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Microsoft Sans Serif"/>
                <a:cs typeface="Microsoft Sans Serif"/>
                <a:hlinkClick r:id="rId4"/>
              </a:rPr>
              <a:t>о </a:t>
            </a:r>
            <a:r>
              <a:rPr sz="12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Microsoft Sans Serif"/>
                <a:cs typeface="Microsoft Sans Serif"/>
                <a:hlinkClick r:id="rId4"/>
              </a:rPr>
              <a:t>защите</a:t>
            </a:r>
            <a:r>
              <a:rPr sz="1200" u="sng" spc="-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Microsoft Sans Serif"/>
                <a:cs typeface="Microsoft Sans Serif"/>
                <a:hlinkClick r:id="rId4"/>
              </a:rPr>
              <a:t> </a:t>
            </a:r>
            <a:r>
              <a:rPr sz="12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Microsoft Sans Serif"/>
                <a:cs typeface="Microsoft Sans Serif"/>
                <a:hlinkClick r:id="rId4"/>
              </a:rPr>
              <a:t>информации»</a:t>
            </a:r>
            <a:endParaRPr sz="1200" dirty="0">
              <a:latin typeface="Microsoft Sans Serif"/>
              <a:cs typeface="Microsoft Sans Serif"/>
            </a:endParaRPr>
          </a:p>
        </p:txBody>
      </p:sp>
      <p:sp>
        <p:nvSpPr>
          <p:cNvPr id="19" name="object 9">
            <a:extLst>
              <a:ext uri="{FF2B5EF4-FFF2-40B4-BE49-F238E27FC236}">
                <a16:creationId xmlns:a16="http://schemas.microsoft.com/office/drawing/2014/main" id="{55C6B133-7007-12A6-E779-10995817B753}"/>
              </a:ext>
            </a:extLst>
          </p:cNvPr>
          <p:cNvSpPr txBox="1"/>
          <p:nvPr/>
        </p:nvSpPr>
        <p:spPr>
          <a:xfrm>
            <a:off x="8603207" y="4307571"/>
            <a:ext cx="2087245" cy="8191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7015" marR="5080" indent="-234950">
              <a:lnSpc>
                <a:spcPct val="100000"/>
              </a:lnSpc>
              <a:spcBef>
                <a:spcPts val="105"/>
              </a:spcBef>
              <a:tabLst>
                <a:tab pos="1768475" algn="l"/>
                <a:tab pos="1913255" algn="l"/>
              </a:tabLst>
            </a:pPr>
            <a:r>
              <a:rPr sz="2600" spc="-10" dirty="0">
                <a:latin typeface="Times New Roman"/>
                <a:cs typeface="Times New Roman"/>
              </a:rPr>
              <a:t>требования</a:t>
            </a:r>
            <a:r>
              <a:rPr sz="2600" dirty="0">
                <a:latin typeface="Times New Roman"/>
                <a:cs typeface="Times New Roman"/>
              </a:rPr>
              <a:t>		</a:t>
            </a:r>
            <a:r>
              <a:rPr sz="2600" spc="-50" dirty="0">
                <a:latin typeface="Times New Roman"/>
                <a:cs typeface="Times New Roman"/>
              </a:rPr>
              <a:t>к </a:t>
            </a:r>
            <a:r>
              <a:rPr sz="2600" spc="-10" dirty="0">
                <a:latin typeface="Times New Roman"/>
                <a:cs typeface="Times New Roman"/>
              </a:rPr>
              <a:t>защите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40" dirty="0">
                <a:latin typeface="Times New Roman"/>
                <a:cs typeface="Times New Roman"/>
              </a:rPr>
              <a:t>от</a:t>
            </a:r>
            <a:endParaRPr sz="26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0510189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983404A-72AE-3D9F-E0B5-FCED9111F2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7408" y="201864"/>
            <a:ext cx="10071045" cy="725487"/>
          </a:xfrm>
        </p:spPr>
        <p:txBody>
          <a:bodyPr>
            <a:normAutofit fontScale="90000"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ru-RU" sz="3200" b="1" cap="small" spc="15" dirty="0"/>
              <a:t>Актуа</a:t>
            </a:r>
            <a:r>
              <a:rPr lang="ru-RU" sz="3200" b="1" cap="small" spc="10" dirty="0"/>
              <a:t>л</a:t>
            </a:r>
            <a:r>
              <a:rPr lang="ru-RU" sz="3200" b="1" cap="small" spc="15" dirty="0"/>
              <a:t>ьн</a:t>
            </a:r>
            <a:r>
              <a:rPr lang="ru-RU" sz="3200" b="1" cap="small" spc="55" dirty="0"/>
              <a:t>о</a:t>
            </a:r>
            <a:r>
              <a:rPr lang="ru-RU" sz="3200" b="1" cap="small" spc="10" dirty="0"/>
              <a:t>ст</a:t>
            </a:r>
            <a:r>
              <a:rPr lang="ru-RU" sz="3200" b="1" cap="small" spc="15" dirty="0"/>
              <a:t>ь</a:t>
            </a:r>
            <a:r>
              <a:rPr lang="ru-RU" sz="3200" b="1" cap="small" spc="95" dirty="0"/>
              <a:t> </a:t>
            </a:r>
            <a:r>
              <a:rPr lang="ru-RU" sz="3200" b="1" cap="small" spc="-10" dirty="0"/>
              <a:t>исследования:</a:t>
            </a:r>
            <a:r>
              <a:rPr lang="ru-RU" sz="3200" b="1" cap="small" spc="-55" dirty="0"/>
              <a:t> </a:t>
            </a:r>
            <a:r>
              <a:rPr lang="ru-RU" sz="3200" b="1" cap="small" dirty="0"/>
              <a:t>потребности</a:t>
            </a:r>
            <a:r>
              <a:rPr lang="ru-RU" sz="3200" b="1" cap="small" spc="90" dirty="0"/>
              <a:t> </a:t>
            </a:r>
            <a:r>
              <a:rPr lang="ru-RU" sz="3200" b="1" cap="small" spc="-10" dirty="0"/>
              <a:t>индустрии</a:t>
            </a:r>
            <a:endParaRPr lang="ru-RU" b="1" dirty="0"/>
          </a:p>
        </p:txBody>
      </p:sp>
      <p:sp>
        <p:nvSpPr>
          <p:cNvPr id="10243" name="Номер слайда 3">
            <a:extLst>
              <a:ext uri="{FF2B5EF4-FFF2-40B4-BE49-F238E27FC236}">
                <a16:creationId xmlns:a16="http://schemas.microsoft.com/office/drawing/2014/main" id="{7634238C-54C8-DCF1-CA63-CFE329694C7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accent1"/>
              </a:buClr>
              <a:buSzPct val="70000"/>
              <a:buFont typeface="Wingdings" pitchFamily="2" charset="2"/>
              <a:buChar char="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 2" pitchFamily="2" charset="2"/>
              <a:buChar char=""/>
              <a:defRPr sz="21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rgbClr val="4471A6"/>
              </a:buClr>
              <a:buSzPct val="60000"/>
              <a:buFont typeface="Wingdings" pitchFamily="2" charset="2"/>
              <a:buChar char="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B2C1DB"/>
              </a:buClr>
              <a:buSzPct val="60000"/>
              <a:buFont typeface="Wingdings" pitchFamily="2" charset="2"/>
              <a:buChar char="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DCB3B2"/>
              </a:buClr>
              <a:buSzPct val="68000"/>
              <a:buFont typeface="Wingdings 2" pitchFamily="2" charset="2"/>
              <a:buChar char="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DCB3B2"/>
              </a:buClr>
              <a:buSzPct val="68000"/>
              <a:buFont typeface="Wingdings 2" pitchFamily="2" charset="2"/>
              <a:buChar char="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DCB3B2"/>
              </a:buClr>
              <a:buSzPct val="68000"/>
              <a:buFont typeface="Wingdings 2" pitchFamily="2" charset="2"/>
              <a:buChar char="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DCB3B2"/>
              </a:buClr>
              <a:buSzPct val="68000"/>
              <a:buFont typeface="Wingdings 2" pitchFamily="2" charset="2"/>
              <a:buChar char="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DCB3B2"/>
              </a:buClr>
              <a:buSzPct val="68000"/>
              <a:buFont typeface="Wingdings 2" pitchFamily="2" charset="2"/>
              <a:buChar char="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1E612AB-852B-F145-82BA-3F1608B456E8}" type="slidenum">
              <a:rPr lang="en-US" altLang="ru-RU" sz="1400">
                <a:solidFill>
                  <a:srgbClr val="FFFFFF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</a:t>
            </a:fld>
            <a:endParaRPr lang="en-US" altLang="ru-RU" sz="1400">
              <a:solidFill>
                <a:srgbClr val="FFFFFF"/>
              </a:solidFill>
            </a:endParaRPr>
          </a:p>
        </p:txBody>
      </p:sp>
      <p:sp>
        <p:nvSpPr>
          <p:cNvPr id="29" name="object 3">
            <a:extLst>
              <a:ext uri="{FF2B5EF4-FFF2-40B4-BE49-F238E27FC236}">
                <a16:creationId xmlns:a16="http://schemas.microsoft.com/office/drawing/2014/main" id="{D2E4F60E-5805-7E38-7F8B-481687314DC9}"/>
              </a:ext>
            </a:extLst>
          </p:cNvPr>
          <p:cNvSpPr txBox="1"/>
          <p:nvPr/>
        </p:nvSpPr>
        <p:spPr>
          <a:xfrm>
            <a:off x="623392" y="1074007"/>
            <a:ext cx="859853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84480" indent="-271780">
              <a:lnSpc>
                <a:spcPct val="100000"/>
              </a:lnSpc>
              <a:spcBef>
                <a:spcPts val="95"/>
              </a:spcBef>
              <a:buClr>
                <a:srgbClr val="4F81BC"/>
              </a:buClr>
              <a:buSzPct val="68181"/>
              <a:buFont typeface="Wingdings"/>
              <a:buChar char=""/>
              <a:tabLst>
                <a:tab pos="284480" algn="l"/>
                <a:tab pos="925194" algn="l"/>
                <a:tab pos="2018030" algn="l"/>
                <a:tab pos="3723640" algn="l"/>
                <a:tab pos="5069840" algn="l"/>
                <a:tab pos="6073775" algn="l"/>
                <a:tab pos="7726045" algn="l"/>
                <a:tab pos="8453120" algn="l"/>
              </a:tabLst>
            </a:pPr>
            <a:r>
              <a:rPr sz="2200" spc="-25" dirty="0">
                <a:latin typeface="Times New Roman"/>
                <a:cs typeface="Times New Roman"/>
              </a:rPr>
              <a:t>Всё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10" dirty="0">
                <a:latin typeface="Times New Roman"/>
                <a:cs typeface="Times New Roman"/>
              </a:rPr>
              <a:t>больше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10" dirty="0">
                <a:latin typeface="Times New Roman"/>
                <a:cs typeface="Times New Roman"/>
              </a:rPr>
              <a:t>организаций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10" dirty="0">
                <a:latin typeface="Times New Roman"/>
                <a:cs typeface="Times New Roman"/>
              </a:rPr>
              <a:t>внедряют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10" dirty="0">
                <a:latin typeface="Times New Roman"/>
                <a:cs typeface="Times New Roman"/>
              </a:rPr>
              <a:t>анализ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10" dirty="0">
                <a:latin typeface="Times New Roman"/>
                <a:cs typeface="Times New Roman"/>
              </a:rPr>
              <a:t>выполнения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20" dirty="0">
                <a:latin typeface="Times New Roman"/>
                <a:cs typeface="Times New Roman"/>
              </a:rPr>
              <a:t>кода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50" dirty="0">
                <a:latin typeface="Times New Roman"/>
                <a:cs typeface="Times New Roman"/>
              </a:rPr>
              <a:t>в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30" name="object 4">
            <a:extLst>
              <a:ext uri="{FF2B5EF4-FFF2-40B4-BE49-F238E27FC236}">
                <a16:creationId xmlns:a16="http://schemas.microsoft.com/office/drawing/2014/main" id="{4CD50497-55CA-B439-5F36-1E749B14BFD9}"/>
              </a:ext>
            </a:extLst>
          </p:cNvPr>
          <p:cNvSpPr txBox="1"/>
          <p:nvPr/>
        </p:nvSpPr>
        <p:spPr>
          <a:xfrm>
            <a:off x="4359047" y="1074007"/>
            <a:ext cx="618871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95"/>
              </a:spcBef>
            </a:pPr>
            <a:r>
              <a:rPr sz="2200" spc="-10" dirty="0">
                <a:latin typeface="Times New Roman"/>
                <a:cs typeface="Times New Roman"/>
              </a:rPr>
              <a:t>реальном</a:t>
            </a:r>
            <a:endParaRPr sz="2200">
              <a:latin typeface="Times New Roman"/>
              <a:cs typeface="Times New Roman"/>
            </a:endParaRPr>
          </a:p>
          <a:p>
            <a:pPr marR="6985" algn="r">
              <a:lnSpc>
                <a:spcPct val="100000"/>
              </a:lnSpc>
              <a:tabLst>
                <a:tab pos="603250" algn="l"/>
                <a:tab pos="2770505" algn="l"/>
                <a:tab pos="3467100" algn="l"/>
                <a:tab pos="3811904" algn="l"/>
                <a:tab pos="4928870" algn="l"/>
              </a:tabLst>
            </a:pPr>
            <a:r>
              <a:rPr sz="2200" spc="-25" dirty="0">
                <a:latin typeface="Times New Roman"/>
                <a:cs typeface="Times New Roman"/>
              </a:rPr>
              <a:t>для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10" dirty="0">
                <a:latin typeface="Times New Roman"/>
                <a:cs typeface="Times New Roman"/>
              </a:rPr>
              <a:t>предотвращения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20" dirty="0">
                <a:latin typeface="Times New Roman"/>
                <a:cs typeface="Times New Roman"/>
              </a:rPr>
              <a:t>атак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50" dirty="0">
                <a:latin typeface="Times New Roman"/>
                <a:cs typeface="Times New Roman"/>
              </a:rPr>
              <a:t>и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10" dirty="0">
                <a:latin typeface="Times New Roman"/>
                <a:cs typeface="Times New Roman"/>
              </a:rPr>
              <a:t>анализа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10" dirty="0">
                <a:latin typeface="Times New Roman"/>
                <a:cs typeface="Times New Roman"/>
              </a:rPr>
              <a:t>поведения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31" name="object 5">
            <a:extLst>
              <a:ext uri="{FF2B5EF4-FFF2-40B4-BE49-F238E27FC236}">
                <a16:creationId xmlns:a16="http://schemas.microsoft.com/office/drawing/2014/main" id="{A49759E2-6022-724B-C1F5-0EF2C3B1D32F}"/>
              </a:ext>
            </a:extLst>
          </p:cNvPr>
          <p:cNvSpPr txBox="1"/>
          <p:nvPr/>
        </p:nvSpPr>
        <p:spPr>
          <a:xfrm>
            <a:off x="623392" y="1408983"/>
            <a:ext cx="3567429" cy="11080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85115">
              <a:lnSpc>
                <a:spcPct val="100000"/>
              </a:lnSpc>
              <a:spcBef>
                <a:spcPts val="95"/>
              </a:spcBef>
              <a:tabLst>
                <a:tab pos="1543685" algn="l"/>
                <a:tab pos="2138045" algn="l"/>
              </a:tabLst>
            </a:pPr>
            <a:r>
              <a:rPr sz="2200" spc="-10" dirty="0">
                <a:latin typeface="Times New Roman"/>
                <a:cs typeface="Times New Roman"/>
              </a:rPr>
              <a:t>времени,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25" dirty="0">
                <a:latin typeface="Times New Roman"/>
                <a:cs typeface="Times New Roman"/>
              </a:rPr>
              <a:t>что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25" dirty="0">
                <a:latin typeface="Times New Roman"/>
                <a:cs typeface="Times New Roman"/>
              </a:rPr>
              <a:t>необходимо</a:t>
            </a:r>
            <a:endParaRPr sz="2200">
              <a:latin typeface="Times New Roman"/>
              <a:cs typeface="Times New Roman"/>
            </a:endParaRPr>
          </a:p>
          <a:p>
            <a:pPr marL="285115">
              <a:lnSpc>
                <a:spcPct val="100000"/>
              </a:lnSpc>
              <a:spcBef>
                <a:spcPts val="5"/>
              </a:spcBef>
            </a:pPr>
            <a:r>
              <a:rPr sz="2200" spc="-10" dirty="0">
                <a:latin typeface="Times New Roman"/>
                <a:cs typeface="Times New Roman"/>
              </a:rPr>
              <a:t>приложений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spc="-20" dirty="0">
                <a:latin typeface="Times New Roman"/>
                <a:cs typeface="Times New Roman"/>
              </a:rPr>
              <a:t>[1-</a:t>
            </a:r>
            <a:r>
              <a:rPr sz="2200" spc="-25" dirty="0">
                <a:latin typeface="Times New Roman"/>
                <a:cs typeface="Times New Roman"/>
              </a:rPr>
              <a:t>2].</a:t>
            </a:r>
            <a:endParaRPr sz="2200">
              <a:latin typeface="Times New Roman"/>
              <a:cs typeface="Times New Roman"/>
            </a:endParaRPr>
          </a:p>
          <a:p>
            <a:pPr marL="284480" indent="-271780">
              <a:lnSpc>
                <a:spcPct val="100000"/>
              </a:lnSpc>
              <a:spcBef>
                <a:spcPts val="600"/>
              </a:spcBef>
              <a:buClr>
                <a:srgbClr val="4F81BC"/>
              </a:buClr>
              <a:buSzPct val="68181"/>
              <a:buFont typeface="Wingdings"/>
              <a:buChar char=""/>
              <a:tabLst>
                <a:tab pos="284480" algn="l"/>
                <a:tab pos="1781810" algn="l"/>
              </a:tabLst>
            </a:pPr>
            <a:r>
              <a:rPr sz="2200" spc="-10" dirty="0">
                <a:latin typeface="Times New Roman"/>
                <a:cs typeface="Times New Roman"/>
              </a:rPr>
              <a:t>Обзорные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10" dirty="0">
                <a:latin typeface="Times New Roman"/>
                <a:cs typeface="Times New Roman"/>
              </a:rPr>
              <a:t>исследования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32" name="object 6">
            <a:extLst>
              <a:ext uri="{FF2B5EF4-FFF2-40B4-BE49-F238E27FC236}">
                <a16:creationId xmlns:a16="http://schemas.microsoft.com/office/drawing/2014/main" id="{A4BC09A8-5DCF-4E84-C6F8-1B7F0D84B094}"/>
              </a:ext>
            </a:extLst>
          </p:cNvPr>
          <p:cNvSpPr txBox="1"/>
          <p:nvPr/>
        </p:nvSpPr>
        <p:spPr>
          <a:xfrm>
            <a:off x="4313327" y="2156428"/>
            <a:ext cx="623189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237740" algn="l"/>
                <a:tab pos="2938780" algn="l"/>
                <a:tab pos="4039235" algn="l"/>
                <a:tab pos="5191760" algn="l"/>
              </a:tabLst>
            </a:pPr>
            <a:r>
              <a:rPr sz="2200" spc="-10" dirty="0">
                <a:latin typeface="Times New Roman"/>
                <a:cs typeface="Times New Roman"/>
              </a:rPr>
              <a:t>демонстрируют,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25" dirty="0">
                <a:latin typeface="Times New Roman"/>
                <a:cs typeface="Times New Roman"/>
              </a:rPr>
              <a:t>что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10" dirty="0">
                <a:latin typeface="Times New Roman"/>
                <a:cs typeface="Times New Roman"/>
              </a:rPr>
              <a:t>анализ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10" dirty="0">
                <a:latin typeface="Times New Roman"/>
                <a:cs typeface="Times New Roman"/>
              </a:rPr>
              <a:t>памяти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10" dirty="0">
                <a:latin typeface="Times New Roman"/>
                <a:cs typeface="Times New Roman"/>
              </a:rPr>
              <a:t>является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33" name="object 7">
            <a:extLst>
              <a:ext uri="{FF2B5EF4-FFF2-40B4-BE49-F238E27FC236}">
                <a16:creationId xmlns:a16="http://schemas.microsoft.com/office/drawing/2014/main" id="{ACC8BD64-5930-1AD2-5804-96443BC22F67}"/>
              </a:ext>
            </a:extLst>
          </p:cNvPr>
          <p:cNvSpPr txBox="1"/>
          <p:nvPr/>
        </p:nvSpPr>
        <p:spPr>
          <a:xfrm>
            <a:off x="623392" y="2491708"/>
            <a:ext cx="9924415" cy="2524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85115" marR="5080" algn="just">
              <a:lnSpc>
                <a:spcPct val="100000"/>
              </a:lnSpc>
              <a:spcBef>
                <a:spcPts val="95"/>
              </a:spcBef>
            </a:pPr>
            <a:r>
              <a:rPr sz="2200" dirty="0">
                <a:latin typeface="Times New Roman"/>
                <a:cs typeface="Times New Roman"/>
              </a:rPr>
              <a:t>критически</a:t>
            </a:r>
            <a:r>
              <a:rPr sz="2200" spc="415" dirty="0">
                <a:latin typeface="Times New Roman"/>
                <a:cs typeface="Times New Roman"/>
              </a:rPr>
              <a:t>  </a:t>
            </a:r>
            <a:r>
              <a:rPr sz="2200" dirty="0">
                <a:latin typeface="Times New Roman"/>
                <a:cs typeface="Times New Roman"/>
              </a:rPr>
              <a:t>важным</a:t>
            </a:r>
            <a:r>
              <a:rPr sz="2200" spc="405" dirty="0">
                <a:latin typeface="Times New Roman"/>
                <a:cs typeface="Times New Roman"/>
              </a:rPr>
              <a:t>  </a:t>
            </a:r>
            <a:r>
              <a:rPr sz="2200" dirty="0">
                <a:latin typeface="Times New Roman"/>
                <a:cs typeface="Times New Roman"/>
              </a:rPr>
              <a:t>для</a:t>
            </a:r>
            <a:r>
              <a:rPr sz="2200" spc="409" dirty="0">
                <a:latin typeface="Times New Roman"/>
                <a:cs typeface="Times New Roman"/>
              </a:rPr>
              <a:t>  </a:t>
            </a:r>
            <a:r>
              <a:rPr sz="2200" dirty="0">
                <a:latin typeface="Times New Roman"/>
                <a:cs typeface="Times New Roman"/>
              </a:rPr>
              <a:t>обнаружения</a:t>
            </a:r>
            <a:r>
              <a:rPr sz="2200" spc="405" dirty="0">
                <a:latin typeface="Times New Roman"/>
                <a:cs typeface="Times New Roman"/>
              </a:rPr>
              <a:t>  </a:t>
            </a:r>
            <a:r>
              <a:rPr sz="2200" dirty="0">
                <a:latin typeface="Times New Roman"/>
                <a:cs typeface="Times New Roman"/>
              </a:rPr>
              <a:t>вредоносного</a:t>
            </a:r>
            <a:r>
              <a:rPr sz="2200" spc="405" dirty="0">
                <a:latin typeface="Times New Roman"/>
                <a:cs typeface="Times New Roman"/>
              </a:rPr>
              <a:t>  </a:t>
            </a:r>
            <a:r>
              <a:rPr sz="2200" dirty="0">
                <a:latin typeface="Times New Roman"/>
                <a:cs typeface="Times New Roman"/>
              </a:rPr>
              <a:t>кода,</a:t>
            </a:r>
            <a:r>
              <a:rPr sz="2200" spc="405" dirty="0">
                <a:latin typeface="Times New Roman"/>
                <a:cs typeface="Times New Roman"/>
              </a:rPr>
              <a:t>  </a:t>
            </a:r>
            <a:r>
              <a:rPr sz="2200" dirty="0">
                <a:latin typeface="Times New Roman"/>
                <a:cs typeface="Times New Roman"/>
              </a:rPr>
              <a:t>который</a:t>
            </a:r>
            <a:r>
              <a:rPr sz="2200" spc="409" dirty="0">
                <a:latin typeface="Times New Roman"/>
                <a:cs typeface="Times New Roman"/>
              </a:rPr>
              <a:t>  </a:t>
            </a:r>
            <a:r>
              <a:rPr sz="2200" spc="-25" dirty="0">
                <a:latin typeface="Times New Roman"/>
                <a:cs typeface="Times New Roman"/>
              </a:rPr>
              <a:t>не </a:t>
            </a:r>
            <a:r>
              <a:rPr sz="2200" dirty="0">
                <a:latin typeface="Times New Roman"/>
                <a:cs typeface="Times New Roman"/>
              </a:rPr>
              <a:t>выделяется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традиционными</a:t>
            </a:r>
            <a:r>
              <a:rPr sz="2200" spc="-7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средствами</a:t>
            </a:r>
            <a:r>
              <a:rPr sz="2200" spc="-70" dirty="0">
                <a:latin typeface="Times New Roman"/>
                <a:cs typeface="Times New Roman"/>
              </a:rPr>
              <a:t> </a:t>
            </a:r>
            <a:r>
              <a:rPr sz="2200" spc="-20" dirty="0">
                <a:latin typeface="Times New Roman"/>
                <a:cs typeface="Times New Roman"/>
              </a:rPr>
              <a:t>[3].</a:t>
            </a:r>
            <a:endParaRPr sz="2200" dirty="0">
              <a:latin typeface="Times New Roman"/>
              <a:cs typeface="Times New Roman"/>
            </a:endParaRPr>
          </a:p>
          <a:p>
            <a:pPr marL="283845" marR="5080" indent="-271780" algn="just">
              <a:lnSpc>
                <a:spcPct val="100000"/>
              </a:lnSpc>
              <a:spcBef>
                <a:spcPts val="600"/>
              </a:spcBef>
              <a:buClr>
                <a:srgbClr val="4F81BC"/>
              </a:buClr>
              <a:buSzPct val="68181"/>
              <a:buFont typeface="Wingdings"/>
              <a:buChar char=""/>
              <a:tabLst>
                <a:tab pos="285115" algn="l"/>
              </a:tabLst>
            </a:pPr>
            <a:r>
              <a:rPr sz="2200" dirty="0">
                <a:latin typeface="Times New Roman"/>
                <a:cs typeface="Times New Roman"/>
              </a:rPr>
              <a:t>Извлечение  и</a:t>
            </a:r>
            <a:r>
              <a:rPr sz="2200" spc="5" dirty="0">
                <a:latin typeface="Times New Roman"/>
                <a:cs typeface="Times New Roman"/>
              </a:rPr>
              <a:t>  </a:t>
            </a:r>
            <a:r>
              <a:rPr sz="2200" dirty="0">
                <a:latin typeface="Times New Roman"/>
                <a:cs typeface="Times New Roman"/>
              </a:rPr>
              <a:t>анализ</a:t>
            </a:r>
            <a:r>
              <a:rPr sz="2200" spc="10" dirty="0">
                <a:latin typeface="Times New Roman"/>
                <a:cs typeface="Times New Roman"/>
              </a:rPr>
              <a:t>  </a:t>
            </a:r>
            <a:r>
              <a:rPr sz="2200" dirty="0">
                <a:latin typeface="Times New Roman"/>
                <a:cs typeface="Times New Roman"/>
              </a:rPr>
              <a:t>признаков</a:t>
            </a:r>
            <a:r>
              <a:rPr sz="2200" spc="10" dirty="0">
                <a:latin typeface="Times New Roman"/>
                <a:cs typeface="Times New Roman"/>
              </a:rPr>
              <a:t>  </a:t>
            </a:r>
            <a:r>
              <a:rPr sz="2200" dirty="0">
                <a:latin typeface="Times New Roman"/>
                <a:cs typeface="Times New Roman"/>
              </a:rPr>
              <a:t>из</a:t>
            </a:r>
            <a:r>
              <a:rPr sz="2200" spc="10" dirty="0">
                <a:latin typeface="Times New Roman"/>
                <a:cs typeface="Times New Roman"/>
              </a:rPr>
              <a:t>  </a:t>
            </a:r>
            <a:r>
              <a:rPr sz="2200" dirty="0">
                <a:latin typeface="Times New Roman"/>
                <a:cs typeface="Times New Roman"/>
              </a:rPr>
              <a:t>памяти</a:t>
            </a:r>
            <a:r>
              <a:rPr sz="2200" spc="5" dirty="0">
                <a:latin typeface="Times New Roman"/>
                <a:cs typeface="Times New Roman"/>
              </a:rPr>
              <a:t>  </a:t>
            </a:r>
            <a:r>
              <a:rPr sz="2200" dirty="0">
                <a:latin typeface="Times New Roman"/>
                <a:cs typeface="Times New Roman"/>
              </a:rPr>
              <a:t>значительно</a:t>
            </a:r>
            <a:r>
              <a:rPr sz="2200" spc="15" dirty="0">
                <a:latin typeface="Times New Roman"/>
                <a:cs typeface="Times New Roman"/>
              </a:rPr>
              <a:t>  </a:t>
            </a:r>
            <a:r>
              <a:rPr sz="2200" dirty="0">
                <a:latin typeface="Times New Roman"/>
                <a:cs typeface="Times New Roman"/>
              </a:rPr>
              <a:t>повышает</a:t>
            </a:r>
            <a:r>
              <a:rPr sz="2200" spc="5" dirty="0">
                <a:latin typeface="Times New Roman"/>
                <a:cs typeface="Times New Roman"/>
              </a:rPr>
              <a:t>  </a:t>
            </a:r>
            <a:r>
              <a:rPr sz="2200" spc="-10" dirty="0">
                <a:latin typeface="Times New Roman"/>
                <a:cs typeface="Times New Roman"/>
              </a:rPr>
              <a:t>точность 	обнаружения</a:t>
            </a:r>
            <a:r>
              <a:rPr sz="2200" spc="-7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скрытого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вредоносного</a:t>
            </a:r>
            <a:r>
              <a:rPr sz="2200" spc="-6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ПО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spc="-20" dirty="0">
                <a:latin typeface="Times New Roman"/>
                <a:cs typeface="Times New Roman"/>
              </a:rPr>
              <a:t>[4].</a:t>
            </a:r>
            <a:endParaRPr sz="2200" dirty="0">
              <a:latin typeface="Times New Roman"/>
              <a:cs typeface="Times New Roman"/>
            </a:endParaRPr>
          </a:p>
          <a:p>
            <a:pPr marL="283845" marR="7620" indent="-271780" algn="just">
              <a:lnSpc>
                <a:spcPct val="100000"/>
              </a:lnSpc>
              <a:spcBef>
                <a:spcPts val="600"/>
              </a:spcBef>
              <a:buClr>
                <a:srgbClr val="4F81BC"/>
              </a:buClr>
              <a:buSzPct val="68181"/>
              <a:buFont typeface="Wingdings"/>
              <a:buChar char=""/>
              <a:tabLst>
                <a:tab pos="285115" algn="l"/>
              </a:tabLst>
            </a:pPr>
            <a:r>
              <a:rPr sz="2200" dirty="0">
                <a:latin typeface="Times New Roman"/>
                <a:cs typeface="Times New Roman"/>
              </a:rPr>
              <a:t>Развитие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конфиденциальных</a:t>
            </a:r>
            <a:r>
              <a:rPr sz="2200" spc="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вычислений</a:t>
            </a:r>
            <a:r>
              <a:rPr sz="2200" spc="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(Confidential</a:t>
            </a:r>
            <a:r>
              <a:rPr sz="2200" spc="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Computing),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основанных 	</a:t>
            </a:r>
            <a:r>
              <a:rPr sz="2200" dirty="0">
                <a:latin typeface="Times New Roman"/>
                <a:cs typeface="Times New Roman"/>
              </a:rPr>
              <a:t>на</a:t>
            </a:r>
            <a:r>
              <a:rPr sz="2200" spc="26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изолированных</a:t>
            </a:r>
            <a:r>
              <a:rPr sz="2200" spc="30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средах</a:t>
            </a:r>
            <a:r>
              <a:rPr sz="2200" spc="29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выполнения,</a:t>
            </a:r>
            <a:r>
              <a:rPr sz="2200" spc="29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повышает</a:t>
            </a:r>
            <a:r>
              <a:rPr sz="2200" spc="29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требования</a:t>
            </a:r>
            <a:r>
              <a:rPr sz="2200" spc="30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к</a:t>
            </a:r>
            <a:r>
              <a:rPr sz="2200" spc="29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инструментам 	</a:t>
            </a:r>
            <a:r>
              <a:rPr sz="2200" dirty="0">
                <a:latin typeface="Times New Roman"/>
                <a:cs typeface="Times New Roman"/>
              </a:rPr>
              <a:t>мониторинга</a:t>
            </a:r>
            <a:r>
              <a:rPr sz="2200" spc="-7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операций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с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памятью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для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верификации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безопасности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spc="-20" dirty="0">
                <a:latin typeface="Times New Roman"/>
                <a:cs typeface="Times New Roman"/>
              </a:rPr>
              <a:t>[5].</a:t>
            </a:r>
            <a:endParaRPr sz="2200" dirty="0">
              <a:latin typeface="Times New Roman"/>
              <a:cs typeface="Times New Roman"/>
            </a:endParaRPr>
          </a:p>
        </p:txBody>
      </p:sp>
      <p:sp>
        <p:nvSpPr>
          <p:cNvPr id="34" name="object 9">
            <a:extLst>
              <a:ext uri="{FF2B5EF4-FFF2-40B4-BE49-F238E27FC236}">
                <a16:creationId xmlns:a16="http://schemas.microsoft.com/office/drawing/2014/main" id="{89644D83-E766-BD02-98F9-5DE92B367B4A}"/>
              </a:ext>
            </a:extLst>
          </p:cNvPr>
          <p:cNvSpPr txBox="1"/>
          <p:nvPr/>
        </p:nvSpPr>
        <p:spPr>
          <a:xfrm>
            <a:off x="695325" y="5511642"/>
            <a:ext cx="7543165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9700" indent="-139700">
              <a:lnSpc>
                <a:spcPct val="100000"/>
              </a:lnSpc>
              <a:spcBef>
                <a:spcPts val="100"/>
              </a:spcBef>
              <a:buAutoNum type="arabicPeriod"/>
              <a:tabLst>
                <a:tab pos="139700" algn="l"/>
              </a:tabLst>
            </a:pPr>
            <a:r>
              <a:rPr sz="12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MT"/>
                <a:cs typeface="Arial MT"/>
                <a:hlinkClick r:id="rId2"/>
              </a:rPr>
              <a:t> Monitoring</a:t>
            </a:r>
            <a:r>
              <a:rPr sz="1200" u="sng" spc="-5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MT"/>
                <a:cs typeface="Arial MT"/>
                <a:hlinkClick r:id="rId2"/>
              </a:rPr>
              <a:t> </a:t>
            </a:r>
            <a:r>
              <a:rPr sz="1200" u="sng" spc="-2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MT"/>
                <a:cs typeface="Arial MT"/>
                <a:hlinkClick r:id="rId2"/>
              </a:rPr>
              <a:t>Tools</a:t>
            </a:r>
            <a:r>
              <a:rPr sz="1200" u="sng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MT"/>
                <a:cs typeface="Arial MT"/>
                <a:hlinkClick r:id="rId2"/>
              </a:rPr>
              <a:t> </a:t>
            </a:r>
            <a:r>
              <a:rPr sz="1200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MT"/>
                <a:cs typeface="Arial MT"/>
                <a:hlinkClick r:id="rId2"/>
              </a:rPr>
              <a:t>Market (2023</a:t>
            </a:r>
            <a:r>
              <a:rPr sz="1200" u="sng" spc="-1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MT"/>
                <a:cs typeface="Arial MT"/>
                <a:hlinkClick r:id="rId2"/>
              </a:rPr>
              <a:t> </a:t>
            </a:r>
            <a:r>
              <a:rPr sz="1200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MT"/>
                <a:cs typeface="Arial MT"/>
                <a:hlinkClick r:id="rId2"/>
              </a:rPr>
              <a:t>-</a:t>
            </a:r>
            <a:r>
              <a:rPr sz="1200" u="sng" spc="-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MT"/>
                <a:cs typeface="Arial MT"/>
                <a:hlinkClick r:id="rId2"/>
              </a:rPr>
              <a:t> </a:t>
            </a:r>
            <a:r>
              <a:rPr sz="12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MT"/>
                <a:cs typeface="Arial MT"/>
                <a:hlinkClick r:id="rId2"/>
              </a:rPr>
              <a:t>2030)</a:t>
            </a:r>
            <a:endParaRPr sz="1200">
              <a:latin typeface="Arial MT"/>
              <a:cs typeface="Arial MT"/>
            </a:endParaRPr>
          </a:p>
          <a:p>
            <a:pPr marL="12700" marR="5080" indent="-12700">
              <a:lnSpc>
                <a:spcPct val="100000"/>
              </a:lnSpc>
              <a:buAutoNum type="arabicPeriod"/>
              <a:tabLst>
                <a:tab pos="139700" algn="l"/>
              </a:tabLst>
            </a:pPr>
            <a:r>
              <a:rPr sz="1200" u="sng" spc="-4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MT"/>
                <a:cs typeface="Arial MT"/>
                <a:hlinkClick r:id="rId3"/>
              </a:rPr>
              <a:t> </a:t>
            </a:r>
            <a:r>
              <a:rPr sz="1200" i="1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  <a:hlinkClick r:id="rId3"/>
              </a:rPr>
              <a:t>Runtime</a:t>
            </a:r>
            <a:r>
              <a:rPr sz="1200" i="1" u="sng" spc="-4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  <a:hlinkClick r:id="rId3"/>
              </a:rPr>
              <a:t> </a:t>
            </a:r>
            <a:r>
              <a:rPr sz="1200" i="1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  <a:hlinkClick r:id="rId3"/>
              </a:rPr>
              <a:t>Execution</a:t>
            </a:r>
            <a:r>
              <a:rPr sz="1200" i="1" u="sng" spc="-5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  <a:hlinkClick r:id="rId3"/>
              </a:rPr>
              <a:t> </a:t>
            </a:r>
            <a:r>
              <a:rPr sz="1200" i="1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  <a:hlinkClick r:id="rId3"/>
              </a:rPr>
              <a:t>Monitoring</a:t>
            </a:r>
            <a:r>
              <a:rPr sz="1200" i="1" u="sng" spc="-4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  <a:hlinkClick r:id="rId3"/>
              </a:rPr>
              <a:t> </a:t>
            </a:r>
            <a:r>
              <a:rPr sz="1200" u="sng" spc="-3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Microsoft Sans Serif"/>
                <a:cs typeface="Microsoft Sans Serif"/>
                <a:hlinkClick r:id="rId3"/>
              </a:rPr>
              <a:t>как</a:t>
            </a:r>
            <a:r>
              <a:rPr sz="1200" u="sng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Microsoft Sans Serif"/>
                <a:cs typeface="Microsoft Sans Serif"/>
                <a:hlinkClick r:id="rId3"/>
              </a:rPr>
              <a:t> </a:t>
            </a:r>
            <a:r>
              <a:rPr sz="12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Microsoft Sans Serif"/>
                <a:cs typeface="Microsoft Sans Serif"/>
                <a:hlinkClick r:id="rId3"/>
              </a:rPr>
              <a:t>подходу </a:t>
            </a:r>
            <a:r>
              <a:rPr sz="1200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Microsoft Sans Serif"/>
                <a:cs typeface="Microsoft Sans Serif"/>
                <a:hlinkClick r:id="rId3"/>
              </a:rPr>
              <a:t>к</a:t>
            </a:r>
            <a:r>
              <a:rPr sz="1200" u="sng" spc="-1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Microsoft Sans Serif"/>
                <a:cs typeface="Microsoft Sans Serif"/>
                <a:hlinkClick r:id="rId3"/>
              </a:rPr>
              <a:t> </a:t>
            </a:r>
            <a:r>
              <a:rPr sz="12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Microsoft Sans Serif"/>
                <a:cs typeface="Microsoft Sans Serif"/>
                <a:hlinkClick r:id="rId3"/>
              </a:rPr>
              <a:t>обнаружению</a:t>
            </a:r>
            <a:r>
              <a:rPr sz="1200" u="sng" spc="-4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Microsoft Sans Serif"/>
                <a:cs typeface="Microsoft Sans Serif"/>
                <a:hlinkClick r:id="rId3"/>
              </a:rPr>
              <a:t> </a:t>
            </a:r>
            <a:r>
              <a:rPr sz="1200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Microsoft Sans Serif"/>
                <a:cs typeface="Microsoft Sans Serif"/>
                <a:hlinkClick r:id="rId3"/>
              </a:rPr>
              <a:t>и</a:t>
            </a:r>
            <a:r>
              <a:rPr sz="1200" u="sng" spc="-1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Microsoft Sans Serif"/>
                <a:cs typeface="Microsoft Sans Serif"/>
                <a:hlinkClick r:id="rId3"/>
              </a:rPr>
              <a:t> </a:t>
            </a:r>
            <a:r>
              <a:rPr sz="12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Microsoft Sans Serif"/>
                <a:cs typeface="Microsoft Sans Serif"/>
                <a:hlinkClick r:id="rId3"/>
              </a:rPr>
              <a:t>предотвращению</a:t>
            </a:r>
            <a:r>
              <a:rPr sz="1200" u="sng" spc="-3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Microsoft Sans Serif"/>
                <a:cs typeface="Microsoft Sans Serif"/>
                <a:hlinkClick r:id="rId3"/>
              </a:rPr>
              <a:t> </a:t>
            </a:r>
            <a:r>
              <a:rPr sz="1200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Microsoft Sans Serif"/>
                <a:cs typeface="Microsoft Sans Serif"/>
                <a:hlinkClick r:id="rId3"/>
              </a:rPr>
              <a:t>выполнения</a:t>
            </a:r>
            <a:r>
              <a:rPr sz="1200" u="sng" spc="-3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Microsoft Sans Serif"/>
                <a:cs typeface="Microsoft Sans Serif"/>
                <a:hlinkClick r:id="rId3"/>
              </a:rPr>
              <a:t> </a:t>
            </a:r>
            <a:r>
              <a:rPr sz="12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Microsoft Sans Serif"/>
                <a:cs typeface="Microsoft Sans Serif"/>
                <a:hlinkClick r:id="rId3"/>
              </a:rPr>
              <a:t>вредоносного</a:t>
            </a:r>
            <a:r>
              <a:rPr sz="1200" spc="-10" dirty="0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sz="12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Microsoft Sans Serif"/>
                <a:cs typeface="Microsoft Sans Serif"/>
                <a:hlinkClick r:id="rId3"/>
              </a:rPr>
              <a:t>кода</a:t>
            </a:r>
            <a:r>
              <a:rPr sz="1200" u="sng" spc="-3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Microsoft Sans Serif"/>
                <a:cs typeface="Microsoft Sans Serif"/>
                <a:hlinkClick r:id="rId3"/>
              </a:rPr>
              <a:t> </a:t>
            </a:r>
            <a:r>
              <a:rPr sz="1200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Microsoft Sans Serif"/>
                <a:cs typeface="Microsoft Sans Serif"/>
                <a:hlinkClick r:id="rId3"/>
              </a:rPr>
              <a:t>в</a:t>
            </a:r>
            <a:r>
              <a:rPr sz="1200" u="sng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Microsoft Sans Serif"/>
                <a:cs typeface="Microsoft Sans Serif"/>
                <a:hlinkClick r:id="rId3"/>
              </a:rPr>
              <a:t> </a:t>
            </a:r>
            <a:r>
              <a:rPr sz="1200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Microsoft Sans Serif"/>
                <a:cs typeface="Microsoft Sans Serif"/>
                <a:hlinkClick r:id="rId3"/>
              </a:rPr>
              <a:t>реальном</a:t>
            </a:r>
            <a:r>
              <a:rPr sz="1200" u="sng" spc="-5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Microsoft Sans Serif"/>
                <a:cs typeface="Microsoft Sans Serif"/>
                <a:hlinkClick r:id="rId3"/>
              </a:rPr>
              <a:t> </a:t>
            </a:r>
            <a:r>
              <a:rPr sz="12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Microsoft Sans Serif"/>
                <a:cs typeface="Microsoft Sans Serif"/>
                <a:hlinkClick r:id="rId3"/>
              </a:rPr>
              <a:t>времени</a:t>
            </a:r>
            <a:endParaRPr sz="1200">
              <a:latin typeface="Microsoft Sans Serif"/>
              <a:cs typeface="Microsoft Sans Serif"/>
            </a:endParaRPr>
          </a:p>
          <a:p>
            <a:pPr marL="139700" indent="-139700">
              <a:lnSpc>
                <a:spcPct val="100000"/>
              </a:lnSpc>
              <a:buAutoNum type="arabicPeriod"/>
              <a:tabLst>
                <a:tab pos="139700" algn="l"/>
              </a:tabLst>
            </a:pPr>
            <a:r>
              <a:rPr sz="12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MT"/>
                <a:cs typeface="Arial MT"/>
                <a:hlinkClick r:id="rId4"/>
              </a:rPr>
              <a:t> Memory</a:t>
            </a:r>
            <a:r>
              <a:rPr sz="1200" u="sng" spc="-8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MT"/>
                <a:cs typeface="Arial MT"/>
                <a:hlinkClick r:id="rId4"/>
              </a:rPr>
              <a:t> </a:t>
            </a:r>
            <a:r>
              <a:rPr sz="1200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MT"/>
                <a:cs typeface="Arial MT"/>
                <a:hlinkClick r:id="rId4"/>
              </a:rPr>
              <a:t>Analysis</a:t>
            </a:r>
            <a:r>
              <a:rPr sz="1200" u="sng" spc="-1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MT"/>
                <a:cs typeface="Arial MT"/>
                <a:hlinkClick r:id="rId4"/>
              </a:rPr>
              <a:t> </a:t>
            </a:r>
            <a:r>
              <a:rPr sz="1200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MT"/>
                <a:cs typeface="Arial MT"/>
                <a:hlinkClick r:id="rId4"/>
              </a:rPr>
              <a:t>for</a:t>
            </a:r>
            <a:r>
              <a:rPr sz="1200" u="sng" spc="-1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MT"/>
                <a:cs typeface="Arial MT"/>
                <a:hlinkClick r:id="rId4"/>
              </a:rPr>
              <a:t> </a:t>
            </a:r>
            <a:r>
              <a:rPr sz="1200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MT"/>
                <a:cs typeface="Arial MT"/>
                <a:hlinkClick r:id="rId4"/>
              </a:rPr>
              <a:t>Malware</a:t>
            </a:r>
            <a:r>
              <a:rPr sz="1200" u="sng" spc="-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MT"/>
                <a:cs typeface="Arial MT"/>
                <a:hlinkClick r:id="rId4"/>
              </a:rPr>
              <a:t> </a:t>
            </a:r>
            <a:r>
              <a:rPr sz="12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MT"/>
                <a:cs typeface="Arial MT"/>
                <a:hlinkClick r:id="rId4"/>
              </a:rPr>
              <a:t>Detection:</a:t>
            </a:r>
            <a:r>
              <a:rPr sz="1200" u="sng" spc="-9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MT"/>
                <a:cs typeface="Arial MT"/>
                <a:hlinkClick r:id="rId4"/>
              </a:rPr>
              <a:t> </a:t>
            </a:r>
            <a:r>
              <a:rPr sz="1200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MT"/>
                <a:cs typeface="Arial MT"/>
                <a:hlinkClick r:id="rId4"/>
              </a:rPr>
              <a:t>A</a:t>
            </a:r>
            <a:r>
              <a:rPr sz="1200" u="sng" spc="-7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MT"/>
                <a:cs typeface="Arial MT"/>
                <a:hlinkClick r:id="rId4"/>
              </a:rPr>
              <a:t> </a:t>
            </a:r>
            <a:r>
              <a:rPr sz="1200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MT"/>
                <a:cs typeface="Arial MT"/>
                <a:hlinkClick r:id="rId4"/>
              </a:rPr>
              <a:t>Comprehensive</a:t>
            </a:r>
            <a:r>
              <a:rPr sz="1200" u="sng" spc="-3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MT"/>
                <a:cs typeface="Arial MT"/>
                <a:hlinkClick r:id="rId4"/>
              </a:rPr>
              <a:t> </a:t>
            </a:r>
            <a:r>
              <a:rPr sz="12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MT"/>
                <a:cs typeface="Arial MT"/>
                <a:hlinkClick r:id="rId4"/>
              </a:rPr>
              <a:t>Survey</a:t>
            </a:r>
            <a:endParaRPr sz="1200">
              <a:latin typeface="Arial MT"/>
              <a:cs typeface="Arial MT"/>
            </a:endParaRPr>
          </a:p>
          <a:p>
            <a:pPr marL="139700" indent="-139700">
              <a:lnSpc>
                <a:spcPct val="100000"/>
              </a:lnSpc>
              <a:buAutoNum type="arabicPeriod"/>
              <a:tabLst>
                <a:tab pos="139700" algn="l"/>
              </a:tabLst>
            </a:pPr>
            <a:r>
              <a:rPr sz="1200" u="sng" spc="-3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MT"/>
                <a:cs typeface="Arial MT"/>
                <a:hlinkClick r:id="rId5"/>
              </a:rPr>
              <a:t> </a:t>
            </a:r>
            <a:r>
              <a:rPr sz="1200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MT"/>
                <a:cs typeface="Arial MT"/>
                <a:hlinkClick r:id="rId5"/>
              </a:rPr>
              <a:t>Obfuscated</a:t>
            </a:r>
            <a:r>
              <a:rPr sz="1200" u="sng" spc="-6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MT"/>
                <a:cs typeface="Arial MT"/>
                <a:hlinkClick r:id="rId5"/>
              </a:rPr>
              <a:t> </a:t>
            </a:r>
            <a:r>
              <a:rPr sz="1200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MT"/>
                <a:cs typeface="Arial MT"/>
                <a:hlinkClick r:id="rId5"/>
              </a:rPr>
              <a:t>Memory</a:t>
            </a:r>
            <a:r>
              <a:rPr sz="1200" u="sng" spc="-4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MT"/>
                <a:cs typeface="Arial MT"/>
                <a:hlinkClick r:id="rId5"/>
              </a:rPr>
              <a:t> </a:t>
            </a:r>
            <a:r>
              <a:rPr sz="1200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MT"/>
                <a:cs typeface="Arial MT"/>
                <a:hlinkClick r:id="rId5"/>
              </a:rPr>
              <a:t>Malware</a:t>
            </a:r>
            <a:r>
              <a:rPr sz="12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MT"/>
                <a:cs typeface="Arial MT"/>
                <a:hlinkClick r:id="rId5"/>
              </a:rPr>
              <a:t> Detection</a:t>
            </a:r>
            <a:endParaRPr sz="1200">
              <a:latin typeface="Arial MT"/>
              <a:cs typeface="Arial MT"/>
            </a:endParaRPr>
          </a:p>
          <a:p>
            <a:pPr marL="139700" indent="-139700">
              <a:lnSpc>
                <a:spcPct val="100000"/>
              </a:lnSpc>
              <a:buAutoNum type="arabicPeriod"/>
              <a:tabLst>
                <a:tab pos="139700" algn="l"/>
              </a:tabLst>
            </a:pPr>
            <a:r>
              <a:rPr sz="1200" u="sng" spc="-35" dirty="0">
                <a:solidFill>
                  <a:srgbClr val="800080"/>
                </a:solidFill>
                <a:uFill>
                  <a:solidFill>
                    <a:srgbClr val="800080"/>
                  </a:solidFill>
                </a:uFill>
                <a:latin typeface="Arial MT"/>
                <a:cs typeface="Arial MT"/>
                <a:hlinkClick r:id="rId6"/>
              </a:rPr>
              <a:t> </a:t>
            </a:r>
            <a:r>
              <a:rPr sz="1200" u="sng" dirty="0">
                <a:solidFill>
                  <a:srgbClr val="800080"/>
                </a:solidFill>
                <a:uFill>
                  <a:solidFill>
                    <a:srgbClr val="800080"/>
                  </a:solidFill>
                </a:uFill>
                <a:latin typeface="Arial MT"/>
                <a:cs typeface="Arial MT"/>
                <a:hlinkClick r:id="rId6"/>
              </a:rPr>
              <a:t>Blindfold:</a:t>
            </a:r>
            <a:r>
              <a:rPr sz="1200" u="sng" spc="-50" dirty="0">
                <a:solidFill>
                  <a:srgbClr val="800080"/>
                </a:solidFill>
                <a:uFill>
                  <a:solidFill>
                    <a:srgbClr val="800080"/>
                  </a:solidFill>
                </a:uFill>
                <a:latin typeface="Arial MT"/>
                <a:cs typeface="Arial MT"/>
                <a:hlinkClick r:id="rId6"/>
              </a:rPr>
              <a:t> </a:t>
            </a:r>
            <a:r>
              <a:rPr sz="1200" u="sng" dirty="0">
                <a:solidFill>
                  <a:srgbClr val="800080"/>
                </a:solidFill>
                <a:uFill>
                  <a:solidFill>
                    <a:srgbClr val="800080"/>
                  </a:solidFill>
                </a:uFill>
                <a:latin typeface="Arial MT"/>
                <a:cs typeface="Arial MT"/>
                <a:hlinkClick r:id="rId6"/>
              </a:rPr>
              <a:t>Confidential</a:t>
            </a:r>
            <a:r>
              <a:rPr sz="1200" u="sng" spc="-55" dirty="0">
                <a:solidFill>
                  <a:srgbClr val="800080"/>
                </a:solidFill>
                <a:uFill>
                  <a:solidFill>
                    <a:srgbClr val="800080"/>
                  </a:solidFill>
                </a:uFill>
                <a:latin typeface="Arial MT"/>
                <a:cs typeface="Arial MT"/>
                <a:hlinkClick r:id="rId6"/>
              </a:rPr>
              <a:t> </a:t>
            </a:r>
            <a:r>
              <a:rPr sz="1200" u="sng" dirty="0">
                <a:solidFill>
                  <a:srgbClr val="800080"/>
                </a:solidFill>
                <a:uFill>
                  <a:solidFill>
                    <a:srgbClr val="800080"/>
                  </a:solidFill>
                </a:uFill>
                <a:latin typeface="Arial MT"/>
                <a:cs typeface="Arial MT"/>
                <a:hlinkClick r:id="rId6"/>
              </a:rPr>
              <a:t>Memory</a:t>
            </a:r>
            <a:r>
              <a:rPr sz="1200" u="sng" spc="-35" dirty="0">
                <a:solidFill>
                  <a:srgbClr val="800080"/>
                </a:solidFill>
                <a:uFill>
                  <a:solidFill>
                    <a:srgbClr val="800080"/>
                  </a:solidFill>
                </a:uFill>
                <a:latin typeface="Arial MT"/>
                <a:cs typeface="Arial MT"/>
                <a:hlinkClick r:id="rId6"/>
              </a:rPr>
              <a:t> </a:t>
            </a:r>
            <a:r>
              <a:rPr sz="1200" u="sng" dirty="0">
                <a:solidFill>
                  <a:srgbClr val="800080"/>
                </a:solidFill>
                <a:uFill>
                  <a:solidFill>
                    <a:srgbClr val="800080"/>
                  </a:solidFill>
                </a:uFill>
                <a:latin typeface="Arial MT"/>
                <a:cs typeface="Arial MT"/>
                <a:hlinkClick r:id="rId6"/>
              </a:rPr>
              <a:t>Management</a:t>
            </a:r>
            <a:r>
              <a:rPr sz="1200" u="sng" spc="-55" dirty="0">
                <a:solidFill>
                  <a:srgbClr val="800080"/>
                </a:solidFill>
                <a:uFill>
                  <a:solidFill>
                    <a:srgbClr val="800080"/>
                  </a:solidFill>
                </a:uFill>
                <a:latin typeface="Arial MT"/>
                <a:cs typeface="Arial MT"/>
                <a:hlinkClick r:id="rId6"/>
              </a:rPr>
              <a:t> </a:t>
            </a:r>
            <a:r>
              <a:rPr sz="1200" u="sng" dirty="0">
                <a:solidFill>
                  <a:srgbClr val="800080"/>
                </a:solidFill>
                <a:uFill>
                  <a:solidFill>
                    <a:srgbClr val="800080"/>
                  </a:solidFill>
                </a:uFill>
                <a:latin typeface="Arial MT"/>
                <a:cs typeface="Arial MT"/>
                <a:hlinkClick r:id="rId6"/>
              </a:rPr>
              <a:t>by</a:t>
            </a:r>
            <a:r>
              <a:rPr sz="1200" u="sng" spc="-30" dirty="0">
                <a:solidFill>
                  <a:srgbClr val="800080"/>
                </a:solidFill>
                <a:uFill>
                  <a:solidFill>
                    <a:srgbClr val="800080"/>
                  </a:solidFill>
                </a:uFill>
                <a:latin typeface="Arial MT"/>
                <a:cs typeface="Arial MT"/>
                <a:hlinkClick r:id="rId6"/>
              </a:rPr>
              <a:t> </a:t>
            </a:r>
            <a:r>
              <a:rPr sz="1200" u="sng" dirty="0">
                <a:solidFill>
                  <a:srgbClr val="800080"/>
                </a:solidFill>
                <a:uFill>
                  <a:solidFill>
                    <a:srgbClr val="800080"/>
                  </a:solidFill>
                </a:uFill>
                <a:latin typeface="Arial MT"/>
                <a:cs typeface="Arial MT"/>
                <a:hlinkClick r:id="rId6"/>
              </a:rPr>
              <a:t>Untrusted</a:t>
            </a:r>
            <a:r>
              <a:rPr sz="1200" u="sng" spc="-40" dirty="0">
                <a:solidFill>
                  <a:srgbClr val="800080"/>
                </a:solidFill>
                <a:uFill>
                  <a:solidFill>
                    <a:srgbClr val="800080"/>
                  </a:solidFill>
                </a:uFill>
                <a:latin typeface="Arial MT"/>
                <a:cs typeface="Arial MT"/>
                <a:hlinkClick r:id="rId6"/>
              </a:rPr>
              <a:t> </a:t>
            </a:r>
            <a:r>
              <a:rPr sz="1200" u="sng" dirty="0">
                <a:solidFill>
                  <a:srgbClr val="800080"/>
                </a:solidFill>
                <a:uFill>
                  <a:solidFill>
                    <a:srgbClr val="800080"/>
                  </a:solidFill>
                </a:uFill>
                <a:latin typeface="Arial MT"/>
                <a:cs typeface="Arial MT"/>
                <a:hlinkClick r:id="rId6"/>
              </a:rPr>
              <a:t>Operating</a:t>
            </a:r>
            <a:r>
              <a:rPr sz="1200" u="sng" spc="-65" dirty="0">
                <a:solidFill>
                  <a:srgbClr val="800080"/>
                </a:solidFill>
                <a:uFill>
                  <a:solidFill>
                    <a:srgbClr val="800080"/>
                  </a:solidFill>
                </a:uFill>
                <a:latin typeface="Arial MT"/>
                <a:cs typeface="Arial MT"/>
                <a:hlinkClick r:id="rId6"/>
              </a:rPr>
              <a:t> </a:t>
            </a:r>
            <a:r>
              <a:rPr sz="1200" u="sng" spc="-10" dirty="0">
                <a:solidFill>
                  <a:srgbClr val="800080"/>
                </a:solidFill>
                <a:uFill>
                  <a:solidFill>
                    <a:srgbClr val="800080"/>
                  </a:solidFill>
                </a:uFill>
                <a:latin typeface="Arial MT"/>
                <a:cs typeface="Arial MT"/>
                <a:hlinkClick r:id="rId6"/>
              </a:rPr>
              <a:t>System</a:t>
            </a:r>
            <a:endParaRPr sz="1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5E0A602-0B8D-1DA0-9937-AD3AF87D33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7448" y="174184"/>
            <a:ext cx="9586913" cy="725487"/>
          </a:xfrm>
        </p:spPr>
        <p:txBody>
          <a:bodyPr>
            <a:norm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ru-RU" sz="3200" b="1" cap="small" dirty="0"/>
              <a:t>Степень</a:t>
            </a:r>
            <a:r>
              <a:rPr lang="ru-RU" sz="3200" b="1" cap="small" spc="25" dirty="0"/>
              <a:t> </a:t>
            </a:r>
            <a:r>
              <a:rPr lang="ru-RU" sz="3200" b="1" cap="small" dirty="0"/>
              <a:t>научной</a:t>
            </a:r>
            <a:r>
              <a:rPr lang="ru-RU" sz="3200" b="1" cap="small" spc="5" dirty="0"/>
              <a:t> </a:t>
            </a:r>
            <a:r>
              <a:rPr lang="ru-RU" sz="3200" b="1" cap="small" spc="-45" dirty="0"/>
              <a:t>разработанности</a:t>
            </a:r>
            <a:r>
              <a:rPr lang="ru-RU" sz="3200" b="1" cap="small" spc="30" dirty="0"/>
              <a:t> </a:t>
            </a:r>
            <a:r>
              <a:rPr lang="ru-RU" sz="3200" b="1" cap="small" spc="-70" dirty="0"/>
              <a:t>темы</a:t>
            </a:r>
            <a:endParaRPr lang="ru-RU" b="1" dirty="0"/>
          </a:p>
        </p:txBody>
      </p:sp>
      <p:sp>
        <p:nvSpPr>
          <p:cNvPr id="11267" name="Номер слайда 3">
            <a:extLst>
              <a:ext uri="{FF2B5EF4-FFF2-40B4-BE49-F238E27FC236}">
                <a16:creationId xmlns:a16="http://schemas.microsoft.com/office/drawing/2014/main" id="{FE07E4D3-A14F-AD14-26BD-C270C86C8AA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accent1"/>
              </a:buClr>
              <a:buSzPct val="70000"/>
              <a:buFont typeface="Wingdings" pitchFamily="2" charset="2"/>
              <a:buChar char="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 2" pitchFamily="2" charset="2"/>
              <a:buChar char=""/>
              <a:defRPr sz="21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rgbClr val="4471A6"/>
              </a:buClr>
              <a:buSzPct val="60000"/>
              <a:buFont typeface="Wingdings" pitchFamily="2" charset="2"/>
              <a:buChar char="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B2C1DB"/>
              </a:buClr>
              <a:buSzPct val="60000"/>
              <a:buFont typeface="Wingdings" pitchFamily="2" charset="2"/>
              <a:buChar char="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DCB3B2"/>
              </a:buClr>
              <a:buSzPct val="68000"/>
              <a:buFont typeface="Wingdings 2" pitchFamily="2" charset="2"/>
              <a:buChar char="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DCB3B2"/>
              </a:buClr>
              <a:buSzPct val="68000"/>
              <a:buFont typeface="Wingdings 2" pitchFamily="2" charset="2"/>
              <a:buChar char="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DCB3B2"/>
              </a:buClr>
              <a:buSzPct val="68000"/>
              <a:buFont typeface="Wingdings 2" pitchFamily="2" charset="2"/>
              <a:buChar char="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DCB3B2"/>
              </a:buClr>
              <a:buSzPct val="68000"/>
              <a:buFont typeface="Wingdings 2" pitchFamily="2" charset="2"/>
              <a:buChar char="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DCB3B2"/>
              </a:buClr>
              <a:buSzPct val="68000"/>
              <a:buFont typeface="Wingdings 2" pitchFamily="2" charset="2"/>
              <a:buChar char="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7BAA999-97C4-484B-9E42-EF325405A809}" type="slidenum">
              <a:rPr lang="en-US" altLang="ru-RU" sz="1400">
                <a:solidFill>
                  <a:srgbClr val="FFFFFF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4</a:t>
            </a:fld>
            <a:endParaRPr lang="en-US" altLang="ru-RU" sz="1400">
              <a:solidFill>
                <a:srgbClr val="FFFFFF"/>
              </a:solidFill>
            </a:endParaRPr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04164F54-EA82-3A13-0F28-B220993AA732}"/>
              </a:ext>
            </a:extLst>
          </p:cNvPr>
          <p:cNvSpPr txBox="1"/>
          <p:nvPr/>
        </p:nvSpPr>
        <p:spPr>
          <a:xfrm>
            <a:off x="911424" y="884437"/>
            <a:ext cx="7929827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latin typeface="Times New Roman"/>
                <a:cs typeface="Times New Roman"/>
              </a:rPr>
              <a:t>Таблица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1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–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Основные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направления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в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lang="ru-RU" sz="1600" spc="-40" dirty="0">
                <a:latin typeface="Times New Roman"/>
                <a:cs typeface="Times New Roman"/>
              </a:rPr>
              <a:t>разработке инструментов мониторинга</a:t>
            </a:r>
            <a:endParaRPr sz="1600" dirty="0">
              <a:latin typeface="Times New Roman"/>
              <a:cs typeface="Times New Roman"/>
            </a:endParaRPr>
          </a:p>
        </p:txBody>
      </p:sp>
      <p:graphicFrame>
        <p:nvGraphicFramePr>
          <p:cNvPr id="6" name="object 3">
            <a:extLst>
              <a:ext uri="{FF2B5EF4-FFF2-40B4-BE49-F238E27FC236}">
                <a16:creationId xmlns:a16="http://schemas.microsoft.com/office/drawing/2014/main" id="{F824CF6C-8C77-2FE9-CA37-71E84CA4B1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8548830"/>
              </p:ext>
            </p:extLst>
          </p:nvPr>
        </p:nvGraphicFramePr>
        <p:xfrm>
          <a:off x="479376" y="1285557"/>
          <a:ext cx="10370183" cy="52978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8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443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086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344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2755">
                <a:tc>
                  <a:txBody>
                    <a:bodyPr/>
                    <a:lstStyle/>
                    <a:p>
                      <a:pPr marL="428625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Направление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3936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611505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Авторы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3936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523875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Тема</a:t>
                      </a:r>
                      <a:r>
                        <a:rPr sz="1600" b="1" spc="-6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исследования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3936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Недостатки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3936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2325">
                <a:tc>
                  <a:txBody>
                    <a:bodyPr/>
                    <a:lstStyle/>
                    <a:p>
                      <a:pPr marL="91440" marR="47879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Анализ</a:t>
                      </a:r>
                      <a:r>
                        <a:rPr sz="16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следов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доступа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к</a:t>
                      </a:r>
                      <a:r>
                        <a:rPr sz="16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памяти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13144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O.</a:t>
                      </a:r>
                      <a:r>
                        <a:rPr sz="16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Kilic,</a:t>
                      </a:r>
                      <a:r>
                        <a:rPr sz="16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R.</a:t>
                      </a:r>
                      <a:r>
                        <a:rPr sz="16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Tallent</a:t>
                      </a:r>
                      <a:r>
                        <a:rPr sz="16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50" dirty="0">
                          <a:latin typeface="Times New Roman"/>
                          <a:cs typeface="Times New Roman"/>
                        </a:rPr>
                        <a:t>и </a:t>
                      </a:r>
                      <a:r>
                        <a:rPr sz="1600" spc="-25" dirty="0">
                          <a:latin typeface="Times New Roman"/>
                          <a:cs typeface="Times New Roman"/>
                        </a:rPr>
                        <a:t>др.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MemGaze:</a:t>
                      </a:r>
                      <a:r>
                        <a:rPr sz="16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быстрый</a:t>
                      </a:r>
                      <a:r>
                        <a:rPr sz="16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50" dirty="0">
                          <a:latin typeface="Times New Roman"/>
                          <a:cs typeface="Times New Roman"/>
                        </a:rPr>
                        <a:t>и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91440" marR="375920">
                        <a:lnSpc>
                          <a:spcPct val="100000"/>
                        </a:lnSpc>
                      </a:pP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эффективный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анализ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 трасс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доступа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к</a:t>
                      </a:r>
                      <a:r>
                        <a:rPr sz="16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памяти.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46545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600" spc="-20" dirty="0">
                          <a:latin typeface="Times New Roman"/>
                          <a:cs typeface="Times New Roman"/>
                        </a:rPr>
                        <a:t>Требует</a:t>
                      </a:r>
                      <a:r>
                        <a:rPr sz="16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Intel</a:t>
                      </a:r>
                      <a:r>
                        <a:rPr sz="16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20" dirty="0">
                          <a:latin typeface="Times New Roman"/>
                          <a:cs typeface="Times New Roman"/>
                        </a:rPr>
                        <a:t>PT,</a:t>
                      </a:r>
                      <a:r>
                        <a:rPr sz="16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большой</a:t>
                      </a:r>
                      <a:r>
                        <a:rPr sz="16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объём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данных,</a:t>
                      </a:r>
                      <a:r>
                        <a:rPr sz="16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нет</a:t>
                      </a:r>
                      <a:r>
                        <a:rPr sz="16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контекстного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мониторинга</a:t>
                      </a:r>
                      <a:r>
                        <a:rPr sz="16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в</a:t>
                      </a:r>
                      <a:r>
                        <a:rPr sz="16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реальном</a:t>
                      </a:r>
                      <a:r>
                        <a:rPr sz="16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времени.</a:t>
                      </a:r>
                      <a:endParaRPr sz="1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66800">
                <a:tc>
                  <a:txBody>
                    <a:bodyPr/>
                    <a:lstStyle/>
                    <a:p>
                      <a:pPr marL="91440" marR="52578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Автоматизация профилирования памяти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Pagani</a:t>
                      </a:r>
                      <a:r>
                        <a:rPr sz="16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20" dirty="0">
                          <a:latin typeface="Times New Roman"/>
                          <a:cs typeface="Times New Roman"/>
                        </a:rPr>
                        <a:t>F.,</a:t>
                      </a:r>
                      <a:r>
                        <a:rPr sz="16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Balzarotti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1600" spc="-25" dirty="0">
                          <a:latin typeface="Times New Roman"/>
                          <a:cs typeface="Times New Roman"/>
                        </a:rPr>
                        <a:t>D.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25971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AutoProfile:</a:t>
                      </a:r>
                      <a:r>
                        <a:rPr sz="16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автоматическая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генерация</a:t>
                      </a:r>
                      <a:r>
                        <a:rPr sz="1600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профилей</a:t>
                      </a:r>
                      <a:r>
                        <a:rPr sz="1600" spc="-9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памяти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для</a:t>
                      </a:r>
                      <a:r>
                        <a:rPr sz="1600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анализа</a:t>
                      </a:r>
                      <a:r>
                        <a:rPr sz="16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потребления</a:t>
                      </a:r>
                      <a:r>
                        <a:rPr sz="16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50" dirty="0">
                          <a:latin typeface="Times New Roman"/>
                          <a:cs typeface="Times New Roman"/>
                        </a:rPr>
                        <a:t>и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выявления</a:t>
                      </a:r>
                      <a:r>
                        <a:rPr sz="16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аномалий.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17335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Ограниченный</a:t>
                      </a:r>
                      <a:r>
                        <a:rPr sz="160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динамический </a:t>
                      </a:r>
                      <a:r>
                        <a:rPr sz="1600" spc="-25" dirty="0">
                          <a:latin typeface="Times New Roman"/>
                          <a:cs typeface="Times New Roman"/>
                        </a:rPr>
                        <a:t>мониторинг,</a:t>
                      </a:r>
                      <a:r>
                        <a:rPr sz="16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фокус</a:t>
                      </a:r>
                      <a:r>
                        <a:rPr sz="16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на</a:t>
                      </a:r>
                      <a:r>
                        <a:rPr sz="16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автоматизации,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а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не</a:t>
                      </a:r>
                      <a:r>
                        <a:rPr sz="16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на</a:t>
                      </a:r>
                      <a:r>
                        <a:rPr sz="16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интерактивности.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66800">
                <a:tc>
                  <a:txBody>
                    <a:bodyPr/>
                    <a:lstStyle/>
                    <a:p>
                      <a:pPr marL="91440" marR="13779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Профилирование</a:t>
                      </a:r>
                      <a:r>
                        <a:rPr sz="1600" spc="-9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25" dirty="0">
                          <a:latin typeface="Times New Roman"/>
                          <a:cs typeface="Times New Roman"/>
                        </a:rPr>
                        <a:t>для 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многоуровневой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памяти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Li</a:t>
                      </a:r>
                      <a:r>
                        <a:rPr sz="16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D.,</a:t>
                      </a:r>
                      <a:r>
                        <a:rPr sz="16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Ryu</a:t>
                      </a:r>
                      <a:r>
                        <a:rPr sz="16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25" dirty="0">
                          <a:latin typeface="Times New Roman"/>
                          <a:cs typeface="Times New Roman"/>
                        </a:rPr>
                        <a:t>J.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1440" algn="just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MTM:</a:t>
                      </a:r>
                      <a:r>
                        <a:rPr sz="16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методы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91440" marR="196850" algn="just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профилирования</a:t>
                      </a:r>
                      <a:r>
                        <a:rPr sz="16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и</a:t>
                      </a:r>
                      <a:r>
                        <a:rPr sz="1600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миграции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памяти</a:t>
                      </a:r>
                      <a:r>
                        <a:rPr sz="16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для</a:t>
                      </a:r>
                      <a:r>
                        <a:rPr sz="16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многоуровневых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систем</a:t>
                      </a:r>
                      <a:r>
                        <a:rPr sz="16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памяти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53276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Ограниченная</a:t>
                      </a:r>
                      <a:r>
                        <a:rPr sz="16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применимость</a:t>
                      </a:r>
                      <a:r>
                        <a:rPr sz="16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25" dirty="0">
                          <a:latin typeface="Times New Roman"/>
                          <a:cs typeface="Times New Roman"/>
                        </a:rPr>
                        <a:t>для 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задач</a:t>
                      </a:r>
                      <a:r>
                        <a:rPr sz="16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20" dirty="0">
                          <a:latin typeface="Times New Roman"/>
                          <a:cs typeface="Times New Roman"/>
                        </a:rPr>
                        <a:t>контекстного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 наблюдения.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91440" marR="16256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Мониторинг</a:t>
                      </a:r>
                      <a:r>
                        <a:rPr sz="16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через обработку</a:t>
                      </a:r>
                      <a:r>
                        <a:rPr sz="16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page</a:t>
                      </a:r>
                      <a:r>
                        <a:rPr sz="16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faults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Arcangeli</a:t>
                      </a:r>
                      <a:r>
                        <a:rPr sz="1600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A. и </a:t>
                      </a:r>
                      <a:r>
                        <a:rPr sz="1600" spc="-25" dirty="0">
                          <a:latin typeface="Times New Roman"/>
                          <a:cs typeface="Times New Roman"/>
                        </a:rPr>
                        <a:t>др.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113664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Использование</a:t>
                      </a:r>
                      <a:r>
                        <a:rPr sz="16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userfaultfd</a:t>
                      </a:r>
                      <a:r>
                        <a:rPr sz="16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25" dirty="0">
                          <a:latin typeface="Times New Roman"/>
                          <a:cs typeface="Times New Roman"/>
                        </a:rPr>
                        <a:t>для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мониторинга</a:t>
                      </a:r>
                      <a:r>
                        <a:rPr sz="16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доступа</a:t>
                      </a:r>
                      <a:r>
                        <a:rPr sz="16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50" dirty="0">
                          <a:latin typeface="Times New Roman"/>
                          <a:cs typeface="Times New Roman"/>
                        </a:rPr>
                        <a:t>к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памяти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5619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Высокие</a:t>
                      </a:r>
                      <a:r>
                        <a:rPr sz="16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накладные</a:t>
                      </a:r>
                      <a:r>
                        <a:rPr sz="16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20" dirty="0">
                          <a:latin typeface="Times New Roman"/>
                          <a:cs typeface="Times New Roman"/>
                        </a:rPr>
                        <a:t>расходы</a:t>
                      </a:r>
                      <a:r>
                        <a:rPr sz="16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25" dirty="0">
                          <a:latin typeface="Times New Roman"/>
                          <a:cs typeface="Times New Roman"/>
                        </a:rPr>
                        <a:t>при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частых</a:t>
                      </a:r>
                      <a:r>
                        <a:rPr sz="16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доступах,</a:t>
                      </a:r>
                      <a:r>
                        <a:rPr sz="16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сложность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реализации</a:t>
                      </a:r>
                      <a:r>
                        <a:rPr sz="16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контекстной</a:t>
                      </a:r>
                      <a:r>
                        <a:rPr sz="16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фильтрации.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66165">
                <a:tc>
                  <a:txBody>
                    <a:bodyPr/>
                    <a:lstStyle/>
                    <a:p>
                      <a:pPr marL="91440" marR="96266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600" spc="-20" dirty="0">
                          <a:latin typeface="Times New Roman"/>
                          <a:cs typeface="Times New Roman"/>
                        </a:rPr>
                        <a:t>Аппаратная 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поддержка</a:t>
                      </a:r>
                      <a:endParaRPr sz="1600" dirty="0">
                        <a:latin typeface="Times New Roman"/>
                        <a:cs typeface="Times New Roman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мониторинга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памяти</a:t>
                      </a:r>
                      <a:endParaRPr sz="1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Solihin</a:t>
                      </a:r>
                      <a:r>
                        <a:rPr sz="1600" spc="-9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65" dirty="0">
                          <a:latin typeface="Times New Roman"/>
                          <a:cs typeface="Times New Roman"/>
                        </a:rPr>
                        <a:t>Y.,</a:t>
                      </a:r>
                      <a:r>
                        <a:rPr sz="16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Prvulovic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M.</a:t>
                      </a:r>
                      <a:r>
                        <a:rPr sz="16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и </a:t>
                      </a:r>
                      <a:r>
                        <a:rPr sz="1600" spc="-25" dirty="0">
                          <a:latin typeface="Times New Roman"/>
                          <a:cs typeface="Times New Roman"/>
                        </a:rPr>
                        <a:t>др.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8763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MemTracker:</a:t>
                      </a:r>
                      <a:r>
                        <a:rPr sz="16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Эффективная</a:t>
                      </a:r>
                      <a:r>
                        <a:rPr sz="1600" spc="-50" dirty="0">
                          <a:latin typeface="Times New Roman"/>
                          <a:cs typeface="Times New Roman"/>
                        </a:rPr>
                        <a:t> и 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программируемая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аппаратная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поддержка</a:t>
                      </a:r>
                      <a:r>
                        <a:rPr sz="1600" spc="-9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для</a:t>
                      </a:r>
                      <a:r>
                        <a:rPr sz="1600" spc="-9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мониторинга</a:t>
                      </a:r>
                      <a:r>
                        <a:rPr sz="16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50" dirty="0">
                          <a:latin typeface="Times New Roman"/>
                          <a:cs typeface="Times New Roman"/>
                        </a:rPr>
                        <a:t>и 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отладки</a:t>
                      </a:r>
                      <a:r>
                        <a:rPr sz="16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доступа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к</a:t>
                      </a:r>
                      <a:r>
                        <a:rPr sz="16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памяти.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46990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600" spc="-20" dirty="0">
                          <a:latin typeface="Times New Roman"/>
                          <a:cs typeface="Times New Roman"/>
                        </a:rPr>
                        <a:t>Требует</a:t>
                      </a:r>
                      <a:r>
                        <a:rPr sz="16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модификации</a:t>
                      </a:r>
                      <a:r>
                        <a:rPr sz="16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аппаратной архитектуры,</a:t>
                      </a:r>
                      <a:r>
                        <a:rPr sz="16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узконаправлен</a:t>
                      </a:r>
                      <a:r>
                        <a:rPr sz="16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25" dirty="0">
                          <a:latin typeface="Times New Roman"/>
                          <a:cs typeface="Times New Roman"/>
                        </a:rPr>
                        <a:t>на 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отладку</a:t>
                      </a:r>
                      <a:r>
                        <a:rPr sz="1600" spc="-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ошибок</a:t>
                      </a:r>
                      <a:r>
                        <a:rPr sz="16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памяти.</a:t>
                      </a:r>
                      <a:endParaRPr sz="1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F1F2F05-2E0B-6E2F-C30C-4C059C9DC6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74638"/>
            <a:ext cx="7467600" cy="725487"/>
          </a:xfrm>
        </p:spPr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ru-RU" sz="3200" b="1" dirty="0"/>
              <a:t>Цель и задачи исследования</a:t>
            </a:r>
            <a:endParaRPr lang="ru-RU" b="1" dirty="0"/>
          </a:p>
        </p:txBody>
      </p:sp>
      <p:sp>
        <p:nvSpPr>
          <p:cNvPr id="12291" name="Номер слайда 3">
            <a:extLst>
              <a:ext uri="{FF2B5EF4-FFF2-40B4-BE49-F238E27FC236}">
                <a16:creationId xmlns:a16="http://schemas.microsoft.com/office/drawing/2014/main" id="{C44E34D9-E0F9-D3DA-419C-0D2018261A3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accent1"/>
              </a:buClr>
              <a:buSzPct val="70000"/>
              <a:buFont typeface="Wingdings" pitchFamily="2" charset="2"/>
              <a:buChar char="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 2" pitchFamily="2" charset="2"/>
              <a:buChar char=""/>
              <a:defRPr sz="21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rgbClr val="4471A6"/>
              </a:buClr>
              <a:buSzPct val="60000"/>
              <a:buFont typeface="Wingdings" pitchFamily="2" charset="2"/>
              <a:buChar char="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B2C1DB"/>
              </a:buClr>
              <a:buSzPct val="60000"/>
              <a:buFont typeface="Wingdings" pitchFamily="2" charset="2"/>
              <a:buChar char="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DCB3B2"/>
              </a:buClr>
              <a:buSzPct val="68000"/>
              <a:buFont typeface="Wingdings 2" pitchFamily="2" charset="2"/>
              <a:buChar char="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DCB3B2"/>
              </a:buClr>
              <a:buSzPct val="68000"/>
              <a:buFont typeface="Wingdings 2" pitchFamily="2" charset="2"/>
              <a:buChar char="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DCB3B2"/>
              </a:buClr>
              <a:buSzPct val="68000"/>
              <a:buFont typeface="Wingdings 2" pitchFamily="2" charset="2"/>
              <a:buChar char="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DCB3B2"/>
              </a:buClr>
              <a:buSzPct val="68000"/>
              <a:buFont typeface="Wingdings 2" pitchFamily="2" charset="2"/>
              <a:buChar char="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DCB3B2"/>
              </a:buClr>
              <a:buSzPct val="68000"/>
              <a:buFont typeface="Wingdings 2" pitchFamily="2" charset="2"/>
              <a:buChar char="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9571A0B-46E5-7A4E-8984-1E4B38BED2E9}" type="slidenum">
              <a:rPr lang="en-US" altLang="ru-RU" sz="1400">
                <a:solidFill>
                  <a:srgbClr val="FFFFFF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5</a:t>
            </a:fld>
            <a:endParaRPr lang="en-US" altLang="ru-RU" sz="1400">
              <a:solidFill>
                <a:srgbClr val="FFFFFF"/>
              </a:solidFill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F585BE5C-307A-409B-5BAC-908DB47FCF34}"/>
              </a:ext>
            </a:extLst>
          </p:cNvPr>
          <p:cNvSpPr txBox="1"/>
          <p:nvPr/>
        </p:nvSpPr>
        <p:spPr>
          <a:xfrm>
            <a:off x="702665" y="1021207"/>
            <a:ext cx="9925685" cy="29330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5115" marR="5080" indent="723900" algn="just">
              <a:lnSpc>
                <a:spcPct val="100000"/>
              </a:lnSpc>
              <a:spcBef>
                <a:spcPts val="105"/>
              </a:spcBef>
            </a:pPr>
            <a:r>
              <a:rPr sz="2600" b="1" dirty="0">
                <a:latin typeface="Times New Roman"/>
                <a:cs typeface="Times New Roman"/>
              </a:rPr>
              <a:t>Цель</a:t>
            </a:r>
            <a:r>
              <a:rPr sz="2600" b="1" spc="615" dirty="0">
                <a:latin typeface="Times New Roman"/>
                <a:cs typeface="Times New Roman"/>
              </a:rPr>
              <a:t> </a:t>
            </a:r>
            <a:r>
              <a:rPr sz="2600" b="1" dirty="0">
                <a:latin typeface="Times New Roman"/>
                <a:cs typeface="Times New Roman"/>
              </a:rPr>
              <a:t>исследования:</a:t>
            </a:r>
            <a:r>
              <a:rPr sz="2600" b="1" spc="6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Разработать</a:t>
            </a:r>
            <a:r>
              <a:rPr sz="2600" spc="62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методику</a:t>
            </a:r>
            <a:r>
              <a:rPr sz="2600" spc="62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и</a:t>
            </a:r>
            <a:r>
              <a:rPr sz="2600" spc="60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программный </a:t>
            </a:r>
            <a:r>
              <a:rPr sz="2600" dirty="0">
                <a:latin typeface="Times New Roman"/>
                <a:cs typeface="Times New Roman"/>
              </a:rPr>
              <a:t>инструмент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для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мониторинга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операций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чтения/записи/исполнения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spc="-50" dirty="0">
                <a:latin typeface="Times New Roman"/>
                <a:cs typeface="Times New Roman"/>
              </a:rPr>
              <a:t>в </a:t>
            </a:r>
            <a:r>
              <a:rPr sz="2600" dirty="0">
                <a:latin typeface="Times New Roman"/>
                <a:cs typeface="Times New Roman"/>
              </a:rPr>
              <a:t>память</a:t>
            </a:r>
            <a:r>
              <a:rPr sz="2600" spc="1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целевого</a:t>
            </a:r>
            <a:r>
              <a:rPr sz="2600" spc="1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процесса</a:t>
            </a:r>
            <a:r>
              <a:rPr sz="2600" spc="1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в</a:t>
            </a:r>
            <a:r>
              <a:rPr sz="2600" spc="12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Linux,</a:t>
            </a:r>
            <a:r>
              <a:rPr sz="2600" spc="1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с</a:t>
            </a:r>
            <a:r>
              <a:rPr sz="2600" spc="12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возможностью</a:t>
            </a:r>
            <a:r>
              <a:rPr sz="2600" spc="12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фильтрации</a:t>
            </a:r>
            <a:r>
              <a:rPr sz="2600" spc="114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Times New Roman"/>
                <a:cs typeface="Times New Roman"/>
              </a:rPr>
              <a:t>по </a:t>
            </a:r>
            <a:r>
              <a:rPr sz="2600" dirty="0">
                <a:latin typeface="Times New Roman"/>
                <a:cs typeface="Times New Roman"/>
              </a:rPr>
              <a:t>контексту</a:t>
            </a:r>
            <a:r>
              <a:rPr sz="2600" spc="409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(поток,</a:t>
            </a:r>
            <a:r>
              <a:rPr sz="2600" spc="41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модуль,</a:t>
            </a:r>
            <a:r>
              <a:rPr sz="2600" spc="40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системный</a:t>
            </a:r>
            <a:r>
              <a:rPr sz="2600" spc="41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вызов,</a:t>
            </a:r>
            <a:r>
              <a:rPr sz="2600" spc="41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адресный</a:t>
            </a:r>
            <a:r>
              <a:rPr sz="2600" spc="42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диапазон).</a:t>
            </a:r>
            <a:endParaRPr sz="2600" dirty="0">
              <a:latin typeface="Times New Roman"/>
              <a:cs typeface="Times New Roman"/>
            </a:endParaRPr>
          </a:p>
          <a:p>
            <a:pPr marL="927100" algn="just">
              <a:lnSpc>
                <a:spcPct val="100000"/>
              </a:lnSpc>
            </a:pPr>
            <a:r>
              <a:rPr sz="2600" b="1" dirty="0">
                <a:latin typeface="Times New Roman"/>
                <a:cs typeface="Times New Roman"/>
              </a:rPr>
              <a:t>Задачи</a:t>
            </a:r>
            <a:r>
              <a:rPr sz="2600" b="1" spc="-140" dirty="0">
                <a:latin typeface="Times New Roman"/>
                <a:cs typeface="Times New Roman"/>
              </a:rPr>
              <a:t> </a:t>
            </a:r>
            <a:r>
              <a:rPr sz="2600" b="1" spc="-10" dirty="0">
                <a:latin typeface="Times New Roman"/>
                <a:cs typeface="Times New Roman"/>
              </a:rPr>
              <a:t>исследования:</a:t>
            </a:r>
            <a:endParaRPr sz="2600" dirty="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  <a:spcBef>
                <a:spcPts val="600"/>
              </a:spcBef>
            </a:pPr>
            <a:r>
              <a:rPr sz="1800" dirty="0">
                <a:solidFill>
                  <a:srgbClr val="4F81BC"/>
                </a:solidFill>
                <a:latin typeface="Times New Roman"/>
                <a:cs typeface="Times New Roman"/>
              </a:rPr>
              <a:t>1)</a:t>
            </a:r>
            <a:r>
              <a:rPr sz="1800" spc="355" dirty="0">
                <a:solidFill>
                  <a:srgbClr val="4F81BC"/>
                </a:solidFill>
                <a:latin typeface="Times New Roman"/>
                <a:cs typeface="Times New Roman"/>
              </a:rPr>
              <a:t>   </a:t>
            </a:r>
            <a:r>
              <a:rPr lang="ru-RU" sz="2600" spc="-10" dirty="0">
                <a:latin typeface="Times New Roman"/>
                <a:cs typeface="Times New Roman"/>
              </a:rPr>
              <a:t>Пр</a:t>
            </a:r>
            <a:r>
              <a:rPr sz="2600" spc="-10" dirty="0" err="1">
                <a:latin typeface="Times New Roman"/>
                <a:cs typeface="Times New Roman"/>
              </a:rPr>
              <a:t>оанализировать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dirty="0" err="1">
                <a:latin typeface="Times New Roman"/>
                <a:cs typeface="Times New Roman"/>
              </a:rPr>
              <a:t>существующие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25" dirty="0" err="1">
                <a:latin typeface="Times New Roman"/>
                <a:cs typeface="Times New Roman"/>
              </a:rPr>
              <a:t>подход</a:t>
            </a:r>
            <a:r>
              <a:rPr lang="ru-RU" sz="2600" spc="-25" dirty="0">
                <a:latin typeface="Times New Roman"/>
                <a:cs typeface="Times New Roman"/>
              </a:rPr>
              <a:t>ы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к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мониторингу;</a:t>
            </a:r>
            <a:endParaRPr sz="26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400"/>
              </a:spcBef>
            </a:pPr>
            <a:r>
              <a:rPr sz="1800" spc="-25" dirty="0">
                <a:solidFill>
                  <a:srgbClr val="4F81BC"/>
                </a:solidFill>
                <a:latin typeface="Times New Roman"/>
                <a:cs typeface="Times New Roman"/>
              </a:rPr>
              <a:t>2)</a:t>
            </a:r>
            <a:endParaRPr sz="1800" dirty="0">
              <a:latin typeface="Times New Roman"/>
              <a:cs typeface="Times New Roman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51F02AB4-9FDB-3ECD-B03E-D2782D75E608}"/>
              </a:ext>
            </a:extLst>
          </p:cNvPr>
          <p:cNvSpPr txBox="1"/>
          <p:nvPr/>
        </p:nvSpPr>
        <p:spPr>
          <a:xfrm>
            <a:off x="1217777" y="3551682"/>
            <a:ext cx="9409430" cy="422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2594610" algn="l"/>
                <a:tab pos="4636770" algn="l"/>
                <a:tab pos="6746240" algn="l"/>
                <a:tab pos="7543800" algn="l"/>
              </a:tabLst>
            </a:pPr>
            <a:r>
              <a:rPr lang="ru-RU" sz="2600" spc="-10" dirty="0">
                <a:latin typeface="Times New Roman"/>
                <a:cs typeface="Times New Roman"/>
              </a:rPr>
              <a:t>С</a:t>
            </a:r>
            <a:r>
              <a:rPr sz="2600" spc="-10" dirty="0" err="1">
                <a:latin typeface="Times New Roman"/>
                <a:cs typeface="Times New Roman"/>
              </a:rPr>
              <a:t>проектировать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10" dirty="0">
                <a:latin typeface="Times New Roman"/>
                <a:cs typeface="Times New Roman"/>
              </a:rPr>
              <a:t>архитектуру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10" dirty="0">
                <a:latin typeface="Times New Roman"/>
                <a:cs typeface="Times New Roman"/>
              </a:rPr>
              <a:t>инструмента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25" dirty="0">
                <a:latin typeface="Times New Roman"/>
                <a:cs typeface="Times New Roman"/>
              </a:rPr>
              <a:t>для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25" dirty="0">
                <a:latin typeface="Times New Roman"/>
                <a:cs typeface="Times New Roman"/>
              </a:rPr>
              <a:t>контекстного</a:t>
            </a:r>
            <a:endParaRPr sz="2600" dirty="0">
              <a:latin typeface="Times New Roman"/>
              <a:cs typeface="Times New Roman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3F302A09-2714-F4E3-AC20-D3EFEDE3B954}"/>
              </a:ext>
            </a:extLst>
          </p:cNvPr>
          <p:cNvSpPr txBox="1"/>
          <p:nvPr/>
        </p:nvSpPr>
        <p:spPr>
          <a:xfrm>
            <a:off x="702665" y="3872705"/>
            <a:ext cx="9921875" cy="1838960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527685">
              <a:lnSpc>
                <a:spcPct val="100000"/>
              </a:lnSpc>
              <a:spcBef>
                <a:spcPts val="695"/>
              </a:spcBef>
            </a:pPr>
            <a:r>
              <a:rPr sz="2600" dirty="0">
                <a:latin typeface="Times New Roman"/>
                <a:cs typeface="Times New Roman"/>
              </a:rPr>
              <a:t>мониторинга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доступа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к </a:t>
            </a:r>
            <a:r>
              <a:rPr sz="2600" spc="-10" dirty="0">
                <a:latin typeface="Times New Roman"/>
                <a:cs typeface="Times New Roman"/>
              </a:rPr>
              <a:t>памяти;</a:t>
            </a:r>
            <a:endParaRPr sz="2600" dirty="0">
              <a:latin typeface="Times New Roman"/>
              <a:cs typeface="Times New Roman"/>
            </a:endParaRPr>
          </a:p>
          <a:p>
            <a:pPr marL="527685" marR="5080" indent="-515620">
              <a:lnSpc>
                <a:spcPct val="100000"/>
              </a:lnSpc>
              <a:spcBef>
                <a:spcPts val="600"/>
              </a:spcBef>
              <a:buClr>
                <a:srgbClr val="4F81BC"/>
              </a:buClr>
              <a:buSzPct val="69230"/>
              <a:buAutoNum type="arabicParenR" startAt="3"/>
              <a:tabLst>
                <a:tab pos="527685" algn="l"/>
                <a:tab pos="2662555" algn="l"/>
                <a:tab pos="3291204" algn="l"/>
                <a:tab pos="5426075" algn="l"/>
                <a:tab pos="7179309" algn="l"/>
                <a:tab pos="9424035" algn="l"/>
              </a:tabLst>
            </a:pPr>
            <a:r>
              <a:rPr lang="ru-RU" sz="2600" spc="-10" dirty="0">
                <a:latin typeface="Times New Roman"/>
                <a:cs typeface="Times New Roman"/>
              </a:rPr>
              <a:t>Р</a:t>
            </a:r>
            <a:r>
              <a:rPr sz="2600" spc="-10" dirty="0" err="1">
                <a:latin typeface="Times New Roman"/>
                <a:cs typeface="Times New Roman"/>
              </a:rPr>
              <a:t>азработать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50" dirty="0">
                <a:latin typeface="Times New Roman"/>
                <a:cs typeface="Times New Roman"/>
              </a:rPr>
              <a:t>и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10" dirty="0">
                <a:latin typeface="Times New Roman"/>
                <a:cs typeface="Times New Roman"/>
              </a:rPr>
              <a:t>реализовать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10" dirty="0">
                <a:latin typeface="Times New Roman"/>
                <a:cs typeface="Times New Roman"/>
              </a:rPr>
              <a:t>прототип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10" dirty="0">
                <a:latin typeface="Times New Roman"/>
                <a:cs typeface="Times New Roman"/>
              </a:rPr>
              <a:t>инструмента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25" dirty="0">
                <a:latin typeface="Times New Roman"/>
                <a:cs typeface="Times New Roman"/>
              </a:rPr>
              <a:t>для </a:t>
            </a:r>
            <a:r>
              <a:rPr sz="2600" dirty="0">
                <a:latin typeface="Times New Roman"/>
                <a:cs typeface="Times New Roman"/>
              </a:rPr>
              <a:t>мониторинга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доступа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к </a:t>
            </a:r>
            <a:r>
              <a:rPr sz="2600" spc="-10" dirty="0">
                <a:latin typeface="Times New Roman"/>
                <a:cs typeface="Times New Roman"/>
              </a:rPr>
              <a:t>памяти;</a:t>
            </a:r>
            <a:endParaRPr sz="2600" dirty="0">
              <a:latin typeface="Times New Roman"/>
              <a:cs typeface="Times New Roman"/>
            </a:endParaRPr>
          </a:p>
          <a:p>
            <a:pPr marL="527685" indent="-514984">
              <a:lnSpc>
                <a:spcPct val="100000"/>
              </a:lnSpc>
              <a:spcBef>
                <a:spcPts val="600"/>
              </a:spcBef>
              <a:buClr>
                <a:srgbClr val="4F81BC"/>
              </a:buClr>
              <a:buSzPct val="69230"/>
              <a:buAutoNum type="arabicParenR" startAt="3"/>
              <a:tabLst>
                <a:tab pos="527685" algn="l"/>
              </a:tabLst>
            </a:pPr>
            <a:r>
              <a:rPr lang="ru-RU" sz="2600" dirty="0">
                <a:latin typeface="Times New Roman"/>
                <a:cs typeface="Times New Roman"/>
              </a:rPr>
              <a:t>П</a:t>
            </a:r>
            <a:r>
              <a:rPr sz="2600" dirty="0" err="1">
                <a:latin typeface="Times New Roman"/>
                <a:cs typeface="Times New Roman"/>
              </a:rPr>
              <a:t>ровести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тестирование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разработанного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прототипа;</a:t>
            </a:r>
            <a:endParaRPr sz="26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9FBF04-0530-1845-8DC9-0DB2A06414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74638"/>
            <a:ext cx="7467600" cy="725487"/>
          </a:xfrm>
        </p:spPr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ru-RU" sz="3200" b="1" dirty="0"/>
              <a:t>Объект и предмет исследования</a:t>
            </a:r>
            <a:endParaRPr lang="ru-RU" b="1" dirty="0"/>
          </a:p>
        </p:txBody>
      </p:sp>
      <p:sp>
        <p:nvSpPr>
          <p:cNvPr id="13315" name="Номер слайда 3">
            <a:extLst>
              <a:ext uri="{FF2B5EF4-FFF2-40B4-BE49-F238E27FC236}">
                <a16:creationId xmlns:a16="http://schemas.microsoft.com/office/drawing/2014/main" id="{2B1C81ED-CD10-C38C-C75E-A8A511A6D1E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accent1"/>
              </a:buClr>
              <a:buSzPct val="70000"/>
              <a:buFont typeface="Wingdings" pitchFamily="2" charset="2"/>
              <a:buChar char="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 2" pitchFamily="2" charset="2"/>
              <a:buChar char=""/>
              <a:defRPr sz="21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rgbClr val="4471A6"/>
              </a:buClr>
              <a:buSzPct val="60000"/>
              <a:buFont typeface="Wingdings" pitchFamily="2" charset="2"/>
              <a:buChar char="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B2C1DB"/>
              </a:buClr>
              <a:buSzPct val="60000"/>
              <a:buFont typeface="Wingdings" pitchFamily="2" charset="2"/>
              <a:buChar char="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DCB3B2"/>
              </a:buClr>
              <a:buSzPct val="68000"/>
              <a:buFont typeface="Wingdings 2" pitchFamily="2" charset="2"/>
              <a:buChar char="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DCB3B2"/>
              </a:buClr>
              <a:buSzPct val="68000"/>
              <a:buFont typeface="Wingdings 2" pitchFamily="2" charset="2"/>
              <a:buChar char="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DCB3B2"/>
              </a:buClr>
              <a:buSzPct val="68000"/>
              <a:buFont typeface="Wingdings 2" pitchFamily="2" charset="2"/>
              <a:buChar char="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DCB3B2"/>
              </a:buClr>
              <a:buSzPct val="68000"/>
              <a:buFont typeface="Wingdings 2" pitchFamily="2" charset="2"/>
              <a:buChar char="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DCB3B2"/>
              </a:buClr>
              <a:buSzPct val="68000"/>
              <a:buFont typeface="Wingdings 2" pitchFamily="2" charset="2"/>
              <a:buChar char="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2CB205B-245A-4848-B7E7-21E708D5CB62}" type="slidenum">
              <a:rPr lang="en-US" altLang="ru-RU" sz="1400">
                <a:solidFill>
                  <a:srgbClr val="FFFFFF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6</a:t>
            </a:fld>
            <a:endParaRPr lang="en-US" altLang="ru-RU" sz="1400">
              <a:solidFill>
                <a:srgbClr val="FFFFFF"/>
              </a:solidFill>
            </a:endParaRP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9C0113A6-48F5-1E81-ECCC-564D6FCA2D7A}"/>
              </a:ext>
            </a:extLst>
          </p:cNvPr>
          <p:cNvSpPr txBox="1"/>
          <p:nvPr/>
        </p:nvSpPr>
        <p:spPr>
          <a:xfrm>
            <a:off x="751840" y="1700808"/>
            <a:ext cx="9926320" cy="28930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6350" algn="just">
              <a:lnSpc>
                <a:spcPct val="100000"/>
              </a:lnSpc>
              <a:spcBef>
                <a:spcPts val="105"/>
              </a:spcBef>
            </a:pPr>
            <a:r>
              <a:rPr sz="2600" b="1" dirty="0">
                <a:latin typeface="Times New Roman"/>
                <a:cs typeface="Times New Roman"/>
              </a:rPr>
              <a:t>Объект</a:t>
            </a:r>
            <a:r>
              <a:rPr sz="2600" b="1" spc="615" dirty="0">
                <a:latin typeface="Times New Roman"/>
                <a:cs typeface="Times New Roman"/>
              </a:rPr>
              <a:t>  </a:t>
            </a:r>
            <a:r>
              <a:rPr sz="2600" b="1" dirty="0">
                <a:latin typeface="Times New Roman"/>
                <a:cs typeface="Times New Roman"/>
              </a:rPr>
              <a:t>исследования</a:t>
            </a:r>
            <a:r>
              <a:rPr sz="2600" b="1" spc="600" dirty="0">
                <a:latin typeface="Times New Roman"/>
                <a:cs typeface="Times New Roman"/>
              </a:rPr>
              <a:t>  </a:t>
            </a:r>
            <a:r>
              <a:rPr sz="2600" dirty="0">
                <a:latin typeface="Times New Roman"/>
                <a:cs typeface="Times New Roman"/>
              </a:rPr>
              <a:t>—</a:t>
            </a:r>
            <a:r>
              <a:rPr sz="2600" spc="620" dirty="0">
                <a:latin typeface="Times New Roman"/>
                <a:cs typeface="Times New Roman"/>
              </a:rPr>
              <a:t>  </a:t>
            </a:r>
            <a:r>
              <a:rPr sz="2600" dirty="0">
                <a:latin typeface="Times New Roman"/>
                <a:cs typeface="Times New Roman"/>
              </a:rPr>
              <a:t>мониторинг</a:t>
            </a:r>
            <a:r>
              <a:rPr sz="2600" spc="620" dirty="0">
                <a:latin typeface="Times New Roman"/>
                <a:cs typeface="Times New Roman"/>
              </a:rPr>
              <a:t>  </a:t>
            </a:r>
            <a:r>
              <a:rPr sz="2600" dirty="0">
                <a:latin typeface="Times New Roman"/>
                <a:cs typeface="Times New Roman"/>
              </a:rPr>
              <a:t>доступа</a:t>
            </a:r>
            <a:r>
              <a:rPr sz="2600" spc="620" dirty="0">
                <a:latin typeface="Times New Roman"/>
                <a:cs typeface="Times New Roman"/>
              </a:rPr>
              <a:t>  </a:t>
            </a:r>
            <a:r>
              <a:rPr sz="2600" dirty="0">
                <a:latin typeface="Times New Roman"/>
                <a:cs typeface="Times New Roman"/>
              </a:rPr>
              <a:t>к</a:t>
            </a:r>
            <a:r>
              <a:rPr sz="2600" spc="620" dirty="0">
                <a:latin typeface="Times New Roman"/>
                <a:cs typeface="Times New Roman"/>
              </a:rPr>
              <a:t>  </a:t>
            </a:r>
            <a:r>
              <a:rPr sz="2600" dirty="0">
                <a:latin typeface="Times New Roman"/>
                <a:cs typeface="Times New Roman"/>
              </a:rPr>
              <a:t>памяти</a:t>
            </a:r>
            <a:r>
              <a:rPr sz="2600" spc="620" dirty="0">
                <a:latin typeface="Times New Roman"/>
                <a:cs typeface="Times New Roman"/>
              </a:rPr>
              <a:t>  </a:t>
            </a:r>
            <a:r>
              <a:rPr sz="2600" spc="-50" dirty="0">
                <a:latin typeface="Times New Roman"/>
                <a:cs typeface="Times New Roman"/>
              </a:rPr>
              <a:t>в </a:t>
            </a:r>
            <a:r>
              <a:rPr sz="2600" dirty="0">
                <a:latin typeface="Times New Roman"/>
                <a:cs typeface="Times New Roman"/>
              </a:rPr>
              <a:t>операционной</a:t>
            </a:r>
            <a:r>
              <a:rPr sz="2600" spc="56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системе</a:t>
            </a:r>
            <a:r>
              <a:rPr sz="2600" spc="56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Linux,</a:t>
            </a:r>
            <a:r>
              <a:rPr sz="2600" spc="56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включая</a:t>
            </a:r>
            <a:r>
              <a:rPr sz="2600" spc="56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методы</a:t>
            </a:r>
            <a:r>
              <a:rPr sz="2600" spc="56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и</a:t>
            </a:r>
            <a:r>
              <a:rPr sz="2600" spc="56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инструменты</a:t>
            </a:r>
            <a:r>
              <a:rPr sz="2600" spc="575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Times New Roman"/>
                <a:cs typeface="Times New Roman"/>
              </a:rPr>
              <a:t>для </a:t>
            </a:r>
            <a:r>
              <a:rPr sz="2600" dirty="0">
                <a:latin typeface="Times New Roman"/>
                <a:cs typeface="Times New Roman"/>
              </a:rPr>
              <a:t>отслеживания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операций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с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памятью.</a:t>
            </a:r>
            <a:endParaRPr sz="2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35"/>
              </a:spcBef>
            </a:pPr>
            <a:endParaRPr sz="2600" dirty="0">
              <a:latin typeface="Times New Roman"/>
              <a:cs typeface="Times New Roman"/>
            </a:endParaRPr>
          </a:p>
          <a:p>
            <a:pPr marL="12700" marR="5080" algn="just">
              <a:lnSpc>
                <a:spcPct val="100000"/>
              </a:lnSpc>
            </a:pPr>
            <a:r>
              <a:rPr sz="2600" b="1" dirty="0">
                <a:latin typeface="Times New Roman"/>
                <a:cs typeface="Times New Roman"/>
              </a:rPr>
              <a:t>Предмет</a:t>
            </a:r>
            <a:r>
              <a:rPr sz="2600" b="1" spc="415" dirty="0">
                <a:latin typeface="Times New Roman"/>
                <a:cs typeface="Times New Roman"/>
              </a:rPr>
              <a:t> </a:t>
            </a:r>
            <a:r>
              <a:rPr sz="2600" b="1" dirty="0">
                <a:latin typeface="Times New Roman"/>
                <a:cs typeface="Times New Roman"/>
              </a:rPr>
              <a:t>исследования</a:t>
            </a:r>
            <a:r>
              <a:rPr sz="2600" b="1" spc="39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–</a:t>
            </a:r>
            <a:r>
              <a:rPr sz="2600" spc="43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разработка</a:t>
            </a:r>
            <a:r>
              <a:rPr sz="2400" spc="3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инструмента,</a:t>
            </a:r>
            <a:r>
              <a:rPr sz="2400" spc="3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который</a:t>
            </a:r>
            <a:r>
              <a:rPr sz="2400" spc="39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обеспечит </a:t>
            </a:r>
            <a:r>
              <a:rPr sz="2400" dirty="0">
                <a:latin typeface="Times New Roman"/>
                <a:cs typeface="Times New Roman"/>
              </a:rPr>
              <a:t>контекстный</a:t>
            </a:r>
            <a:r>
              <a:rPr sz="2400" spc="17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мониторинг</a:t>
            </a:r>
            <a:r>
              <a:rPr sz="2400" spc="18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доступа</a:t>
            </a:r>
            <a:r>
              <a:rPr sz="2400" spc="18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к</a:t>
            </a:r>
            <a:r>
              <a:rPr sz="2400" spc="17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памяти</a:t>
            </a:r>
            <a:r>
              <a:rPr sz="2400" spc="17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в</a:t>
            </a:r>
            <a:r>
              <a:rPr sz="2400" spc="17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Linux</a:t>
            </a:r>
            <a:r>
              <a:rPr sz="2400" spc="18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с</a:t>
            </a:r>
            <a:r>
              <a:rPr sz="2400" spc="175" dirty="0">
                <a:latin typeface="Times New Roman"/>
                <a:cs typeface="Times New Roman"/>
              </a:rPr>
              <a:t>  </a:t>
            </a:r>
            <a:r>
              <a:rPr sz="2400" spc="-10" dirty="0">
                <a:latin typeface="Times New Roman"/>
                <a:cs typeface="Times New Roman"/>
              </a:rPr>
              <a:t>возможностью </a:t>
            </a:r>
            <a:r>
              <a:rPr sz="2400" dirty="0">
                <a:latin typeface="Times New Roman"/>
                <a:cs typeface="Times New Roman"/>
              </a:rPr>
              <a:t>фильтрации</a:t>
            </a:r>
            <a:r>
              <a:rPr sz="2400" spc="509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операций</a:t>
            </a:r>
            <a:r>
              <a:rPr sz="2400" spc="5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по</a:t>
            </a:r>
            <a:r>
              <a:rPr sz="2400" spc="4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потоку,</a:t>
            </a:r>
            <a:r>
              <a:rPr sz="2400" spc="4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модулю,</a:t>
            </a:r>
            <a:r>
              <a:rPr sz="2400" spc="4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системному</a:t>
            </a:r>
            <a:r>
              <a:rPr sz="2400" spc="509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вызову</a:t>
            </a:r>
            <a:r>
              <a:rPr sz="2400" spc="5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и</a:t>
            </a:r>
            <a:r>
              <a:rPr sz="2400" spc="49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адресу</a:t>
            </a:r>
            <a:endParaRPr sz="24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9FBF04-0530-1845-8DC9-0DB2A06414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131" y="980728"/>
            <a:ext cx="10811544" cy="725487"/>
          </a:xfrm>
        </p:spPr>
        <p:txBody>
          <a:bodyPr>
            <a:normAutofit fontScale="90000"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ru-RU" sz="3200" b="1" cap="small" dirty="0"/>
              <a:t>Основные</a:t>
            </a:r>
            <a:r>
              <a:rPr lang="ru-RU" sz="3200" b="1" cap="small" spc="20" dirty="0"/>
              <a:t> </a:t>
            </a:r>
            <a:r>
              <a:rPr lang="ru-RU" sz="3200" b="1" cap="small" dirty="0"/>
              <a:t>сценарии</a:t>
            </a:r>
            <a:r>
              <a:rPr lang="ru-RU" sz="3200" b="1" cap="small" spc="30" dirty="0"/>
              <a:t> </a:t>
            </a:r>
            <a:r>
              <a:rPr lang="ru-RU" sz="3200" b="1" cap="small" spc="-10" dirty="0"/>
              <a:t>использования</a:t>
            </a:r>
            <a:r>
              <a:rPr lang="ru-RU" sz="3200" b="1" cap="small" spc="15" dirty="0"/>
              <a:t> </a:t>
            </a:r>
            <a:r>
              <a:rPr lang="ru-RU" sz="3200" b="1" cap="small" spc="-10" dirty="0"/>
              <a:t>мониторинга</a:t>
            </a:r>
            <a:r>
              <a:rPr lang="ru-RU" sz="3200" b="1" cap="small" spc="20" dirty="0"/>
              <a:t> </a:t>
            </a:r>
            <a:r>
              <a:rPr lang="ru-RU" sz="3200" b="1" cap="small" spc="-25" dirty="0"/>
              <a:t>памяти</a:t>
            </a:r>
            <a:endParaRPr lang="ru-RU" b="1" dirty="0"/>
          </a:p>
        </p:txBody>
      </p:sp>
      <p:sp>
        <p:nvSpPr>
          <p:cNvPr id="13315" name="Номер слайда 3">
            <a:extLst>
              <a:ext uri="{FF2B5EF4-FFF2-40B4-BE49-F238E27FC236}">
                <a16:creationId xmlns:a16="http://schemas.microsoft.com/office/drawing/2014/main" id="{2B1C81ED-CD10-C38C-C75E-A8A511A6D1E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accent1"/>
              </a:buClr>
              <a:buSzPct val="70000"/>
              <a:buFont typeface="Wingdings" pitchFamily="2" charset="2"/>
              <a:buChar char="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 2" pitchFamily="2" charset="2"/>
              <a:buChar char=""/>
              <a:defRPr sz="21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rgbClr val="4471A6"/>
              </a:buClr>
              <a:buSzPct val="60000"/>
              <a:buFont typeface="Wingdings" pitchFamily="2" charset="2"/>
              <a:buChar char="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B2C1DB"/>
              </a:buClr>
              <a:buSzPct val="60000"/>
              <a:buFont typeface="Wingdings" pitchFamily="2" charset="2"/>
              <a:buChar char="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DCB3B2"/>
              </a:buClr>
              <a:buSzPct val="68000"/>
              <a:buFont typeface="Wingdings 2" pitchFamily="2" charset="2"/>
              <a:buChar char="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DCB3B2"/>
              </a:buClr>
              <a:buSzPct val="68000"/>
              <a:buFont typeface="Wingdings 2" pitchFamily="2" charset="2"/>
              <a:buChar char="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DCB3B2"/>
              </a:buClr>
              <a:buSzPct val="68000"/>
              <a:buFont typeface="Wingdings 2" pitchFamily="2" charset="2"/>
              <a:buChar char="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DCB3B2"/>
              </a:buClr>
              <a:buSzPct val="68000"/>
              <a:buFont typeface="Wingdings 2" pitchFamily="2" charset="2"/>
              <a:buChar char="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DCB3B2"/>
              </a:buClr>
              <a:buSzPct val="68000"/>
              <a:buFont typeface="Wingdings 2" pitchFamily="2" charset="2"/>
              <a:buChar char="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2CB205B-245A-4848-B7E7-21E708D5CB62}" type="slidenum">
              <a:rPr lang="en-US" altLang="ru-RU" sz="1400">
                <a:solidFill>
                  <a:srgbClr val="FFFFFF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7</a:t>
            </a:fld>
            <a:endParaRPr lang="en-US" altLang="ru-RU" sz="1400">
              <a:solidFill>
                <a:srgbClr val="FFFFFF"/>
              </a:solidFill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A24DB8F2-C192-4D19-3606-6FA06FD3BF54}"/>
              </a:ext>
            </a:extLst>
          </p:cNvPr>
          <p:cNvSpPr txBox="1"/>
          <p:nvPr/>
        </p:nvSpPr>
        <p:spPr>
          <a:xfrm>
            <a:off x="1046163" y="1916832"/>
            <a:ext cx="9928225" cy="370421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065" marR="5080" algn="just">
              <a:lnSpc>
                <a:spcPct val="100000"/>
              </a:lnSpc>
              <a:spcBef>
                <a:spcPts val="105"/>
              </a:spcBef>
              <a:buClr>
                <a:srgbClr val="4F81BC"/>
              </a:buClr>
              <a:buSzPct val="69230"/>
              <a:tabLst>
                <a:tab pos="285115" algn="l"/>
              </a:tabLst>
            </a:pPr>
            <a:r>
              <a:rPr sz="2600" b="1" dirty="0">
                <a:latin typeface="Times New Roman"/>
                <a:cs typeface="Times New Roman"/>
              </a:rPr>
              <a:t>Защита</a:t>
            </a:r>
            <a:r>
              <a:rPr sz="2600" b="1" spc="65" dirty="0">
                <a:latin typeface="Times New Roman"/>
                <a:cs typeface="Times New Roman"/>
              </a:rPr>
              <a:t>  </a:t>
            </a:r>
            <a:r>
              <a:rPr sz="2600" b="1" dirty="0">
                <a:latin typeface="Times New Roman"/>
                <a:cs typeface="Times New Roman"/>
              </a:rPr>
              <a:t>обрабатываемой</a:t>
            </a:r>
            <a:r>
              <a:rPr sz="2600" b="1" spc="70" dirty="0">
                <a:latin typeface="Times New Roman"/>
                <a:cs typeface="Times New Roman"/>
              </a:rPr>
              <a:t>  </a:t>
            </a:r>
            <a:r>
              <a:rPr sz="2600" b="1" dirty="0">
                <a:latin typeface="Times New Roman"/>
                <a:cs typeface="Times New Roman"/>
              </a:rPr>
              <a:t>информации</a:t>
            </a:r>
            <a:r>
              <a:rPr sz="2600" b="1" spc="65" dirty="0">
                <a:latin typeface="Times New Roman"/>
                <a:cs typeface="Times New Roman"/>
              </a:rPr>
              <a:t>  </a:t>
            </a:r>
            <a:r>
              <a:rPr sz="2600" b="1" dirty="0">
                <a:latin typeface="Times New Roman"/>
                <a:cs typeface="Times New Roman"/>
              </a:rPr>
              <a:t>в</a:t>
            </a:r>
            <a:r>
              <a:rPr sz="2600" b="1" spc="60" dirty="0">
                <a:latin typeface="Times New Roman"/>
                <a:cs typeface="Times New Roman"/>
              </a:rPr>
              <a:t>  </a:t>
            </a:r>
            <a:r>
              <a:rPr sz="2600" b="1" dirty="0">
                <a:latin typeface="Times New Roman"/>
                <a:cs typeface="Times New Roman"/>
              </a:rPr>
              <a:t>памяти</a:t>
            </a:r>
            <a:r>
              <a:rPr sz="2600" b="1" spc="65" dirty="0">
                <a:latin typeface="Times New Roman"/>
                <a:cs typeface="Times New Roman"/>
              </a:rPr>
              <a:t>  </a:t>
            </a:r>
            <a:r>
              <a:rPr sz="2600" dirty="0">
                <a:latin typeface="Times New Roman"/>
                <a:cs typeface="Times New Roman"/>
              </a:rPr>
              <a:t>–</a:t>
            </a:r>
            <a:r>
              <a:rPr sz="2600" spc="70" dirty="0">
                <a:latin typeface="Times New Roman"/>
                <a:cs typeface="Times New Roman"/>
              </a:rPr>
              <a:t>  </a:t>
            </a:r>
            <a:r>
              <a:rPr sz="2600" spc="-10" dirty="0">
                <a:latin typeface="Times New Roman"/>
                <a:cs typeface="Times New Roman"/>
              </a:rPr>
              <a:t>выявление </a:t>
            </a:r>
            <a:r>
              <a:rPr sz="2600" dirty="0">
                <a:latin typeface="Times New Roman"/>
                <a:cs typeface="Times New Roman"/>
              </a:rPr>
              <a:t>несанкционированных</a:t>
            </a:r>
            <a:r>
              <a:rPr sz="2600" spc="5" dirty="0">
                <a:latin typeface="Times New Roman"/>
                <a:cs typeface="Times New Roman"/>
              </a:rPr>
              <a:t>  </a:t>
            </a:r>
            <a:r>
              <a:rPr sz="2600" dirty="0">
                <a:latin typeface="Times New Roman"/>
                <a:cs typeface="Times New Roman"/>
              </a:rPr>
              <a:t>операций</a:t>
            </a:r>
            <a:r>
              <a:rPr sz="2600" spc="5" dirty="0">
                <a:latin typeface="Times New Roman"/>
                <a:cs typeface="Times New Roman"/>
              </a:rPr>
              <a:t>  </a:t>
            </a:r>
            <a:r>
              <a:rPr sz="2600" dirty="0">
                <a:latin typeface="Times New Roman"/>
                <a:cs typeface="Times New Roman"/>
              </a:rPr>
              <a:t>с  конфиденциальными</a:t>
            </a:r>
            <a:r>
              <a:rPr sz="2600" spc="10" dirty="0">
                <a:latin typeface="Times New Roman"/>
                <a:cs typeface="Times New Roman"/>
              </a:rPr>
              <a:t>  </a:t>
            </a:r>
            <a:r>
              <a:rPr sz="2600" spc="-10" dirty="0">
                <a:latin typeface="Times New Roman"/>
                <a:cs typeface="Times New Roman"/>
              </a:rPr>
              <a:t>данными </a:t>
            </a:r>
            <a:r>
              <a:rPr sz="2600" dirty="0">
                <a:latin typeface="Times New Roman"/>
                <a:cs typeface="Times New Roman"/>
              </a:rPr>
              <a:t>(ключи,</a:t>
            </a:r>
            <a:r>
              <a:rPr sz="2600" spc="30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персональная</a:t>
            </a:r>
            <a:r>
              <a:rPr sz="2600" spc="29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информация)</a:t>
            </a:r>
            <a:r>
              <a:rPr sz="2600" spc="30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в</a:t>
            </a:r>
            <a:r>
              <a:rPr sz="2600" spc="30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памяти,</a:t>
            </a:r>
            <a:r>
              <a:rPr sz="2600" spc="3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определяя</a:t>
            </a:r>
            <a:r>
              <a:rPr sz="2600" spc="31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источник </a:t>
            </a:r>
            <a:r>
              <a:rPr sz="2600" spc="-10" dirty="0" err="1">
                <a:latin typeface="Times New Roman"/>
                <a:cs typeface="Times New Roman"/>
              </a:rPr>
              <a:t>доступа</a:t>
            </a:r>
            <a:r>
              <a:rPr sz="2600" spc="-10" dirty="0">
                <a:latin typeface="Times New Roman"/>
                <a:cs typeface="Times New Roman"/>
              </a:rPr>
              <a:t>.</a:t>
            </a:r>
            <a:endParaRPr lang="ru-RU" sz="2600" spc="-10" dirty="0">
              <a:latin typeface="Times New Roman"/>
              <a:cs typeface="Times New Roman"/>
            </a:endParaRPr>
          </a:p>
          <a:p>
            <a:pPr marL="12065" marR="5080" algn="just">
              <a:lnSpc>
                <a:spcPct val="100000"/>
              </a:lnSpc>
              <a:spcBef>
                <a:spcPts val="105"/>
              </a:spcBef>
              <a:buClr>
                <a:srgbClr val="4F81BC"/>
              </a:buClr>
              <a:buSzPct val="69230"/>
              <a:tabLst>
                <a:tab pos="285115" algn="l"/>
              </a:tabLst>
            </a:pPr>
            <a:endParaRPr sz="2600" dirty="0">
              <a:latin typeface="Times New Roman"/>
              <a:cs typeface="Times New Roman"/>
            </a:endParaRPr>
          </a:p>
          <a:p>
            <a:pPr marL="12065" marR="10160" algn="just">
              <a:lnSpc>
                <a:spcPct val="100000"/>
              </a:lnSpc>
              <a:spcBef>
                <a:spcPts val="600"/>
              </a:spcBef>
              <a:buClr>
                <a:srgbClr val="4F81BC"/>
              </a:buClr>
              <a:buSzPct val="69230"/>
              <a:tabLst>
                <a:tab pos="285115" algn="l"/>
              </a:tabLst>
            </a:pPr>
            <a:r>
              <a:rPr sz="2600" b="1" dirty="0">
                <a:latin typeface="Times New Roman"/>
                <a:cs typeface="Times New Roman"/>
              </a:rPr>
              <a:t>Контроль</a:t>
            </a:r>
            <a:r>
              <a:rPr sz="2600" b="1" spc="620" dirty="0">
                <a:latin typeface="Times New Roman"/>
                <a:cs typeface="Times New Roman"/>
              </a:rPr>
              <a:t>  </a:t>
            </a:r>
            <a:r>
              <a:rPr sz="2600" b="1" dirty="0">
                <a:latin typeface="Times New Roman"/>
                <a:cs typeface="Times New Roman"/>
              </a:rPr>
              <a:t>целостности</a:t>
            </a:r>
            <a:r>
              <a:rPr sz="2600" b="1" spc="630" dirty="0">
                <a:latin typeface="Times New Roman"/>
                <a:cs typeface="Times New Roman"/>
              </a:rPr>
              <a:t>  </a:t>
            </a:r>
            <a:r>
              <a:rPr sz="2600" b="1" dirty="0">
                <a:latin typeface="Times New Roman"/>
                <a:cs typeface="Times New Roman"/>
              </a:rPr>
              <a:t>глобальных</a:t>
            </a:r>
            <a:r>
              <a:rPr sz="2600" b="1" spc="620" dirty="0">
                <a:latin typeface="Times New Roman"/>
                <a:cs typeface="Times New Roman"/>
              </a:rPr>
              <a:t>  </a:t>
            </a:r>
            <a:r>
              <a:rPr sz="2600" b="1" dirty="0">
                <a:latin typeface="Times New Roman"/>
                <a:cs typeface="Times New Roman"/>
              </a:rPr>
              <a:t>флагов</a:t>
            </a:r>
            <a:r>
              <a:rPr sz="2600" b="1" spc="620" dirty="0">
                <a:latin typeface="Times New Roman"/>
                <a:cs typeface="Times New Roman"/>
              </a:rPr>
              <a:t>  </a:t>
            </a:r>
            <a:r>
              <a:rPr sz="2600" b="1" dirty="0">
                <a:latin typeface="Times New Roman"/>
                <a:cs typeface="Times New Roman"/>
              </a:rPr>
              <a:t>в</a:t>
            </a:r>
            <a:r>
              <a:rPr sz="2600" b="1" spc="625" dirty="0">
                <a:latin typeface="Times New Roman"/>
                <a:cs typeface="Times New Roman"/>
              </a:rPr>
              <a:t>  </a:t>
            </a:r>
            <a:r>
              <a:rPr sz="2600" b="1" dirty="0">
                <a:latin typeface="Times New Roman"/>
                <a:cs typeface="Times New Roman"/>
              </a:rPr>
              <a:t>памяти</a:t>
            </a:r>
            <a:r>
              <a:rPr sz="2600" b="1" spc="625" dirty="0">
                <a:latin typeface="Times New Roman"/>
                <a:cs typeface="Times New Roman"/>
              </a:rPr>
              <a:t>  </a:t>
            </a:r>
            <a:r>
              <a:rPr sz="2600" spc="-50" dirty="0">
                <a:latin typeface="Times New Roman"/>
                <a:cs typeface="Times New Roman"/>
              </a:rPr>
              <a:t>– </a:t>
            </a:r>
            <a:r>
              <a:rPr sz="2600" dirty="0">
                <a:latin typeface="Times New Roman"/>
                <a:cs typeface="Times New Roman"/>
              </a:rPr>
              <a:t>обнаружение</a:t>
            </a:r>
            <a:r>
              <a:rPr sz="2600" spc="400" dirty="0">
                <a:latin typeface="Times New Roman"/>
                <a:cs typeface="Times New Roman"/>
              </a:rPr>
              <a:t>  </a:t>
            </a:r>
            <a:r>
              <a:rPr sz="2600" dirty="0">
                <a:latin typeface="Times New Roman"/>
                <a:cs typeface="Times New Roman"/>
              </a:rPr>
              <a:t>несанкционированных</a:t>
            </a:r>
            <a:r>
              <a:rPr sz="2600" spc="409" dirty="0">
                <a:latin typeface="Times New Roman"/>
                <a:cs typeface="Times New Roman"/>
              </a:rPr>
              <a:t>  </a:t>
            </a:r>
            <a:r>
              <a:rPr sz="2600" dirty="0">
                <a:latin typeface="Times New Roman"/>
                <a:cs typeface="Times New Roman"/>
              </a:rPr>
              <a:t>модификации</a:t>
            </a:r>
            <a:r>
              <a:rPr sz="2600" spc="405" dirty="0">
                <a:latin typeface="Times New Roman"/>
                <a:cs typeface="Times New Roman"/>
              </a:rPr>
              <a:t>  </a:t>
            </a:r>
            <a:r>
              <a:rPr sz="2600" spc="-10" dirty="0">
                <a:latin typeface="Times New Roman"/>
                <a:cs typeface="Times New Roman"/>
              </a:rPr>
              <a:t>критических </a:t>
            </a:r>
            <a:r>
              <a:rPr sz="2600" dirty="0">
                <a:latin typeface="Times New Roman"/>
                <a:cs typeface="Times New Roman"/>
              </a:rPr>
              <a:t>данных</a:t>
            </a:r>
            <a:r>
              <a:rPr sz="2600" spc="24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(флагов</a:t>
            </a:r>
            <a:r>
              <a:rPr sz="2600" spc="22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аутентификации,</a:t>
            </a:r>
            <a:r>
              <a:rPr sz="2600" spc="229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указателей),</a:t>
            </a:r>
            <a:r>
              <a:rPr sz="2600" spc="229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обеспечивая</a:t>
            </a:r>
            <a:r>
              <a:rPr sz="2600" spc="24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защиту </a:t>
            </a:r>
            <a:r>
              <a:rPr sz="2600" dirty="0">
                <a:latin typeface="Times New Roman"/>
                <a:cs typeface="Times New Roman"/>
              </a:rPr>
              <a:t>от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атак,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направленных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на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нарушение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логики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работы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программы.</a:t>
            </a:r>
            <a:endParaRPr sz="26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7011139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648FB69-5DF9-4D88-F8CC-391CB14FFE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199" y="836712"/>
            <a:ext cx="7467600" cy="725487"/>
          </a:xfrm>
        </p:spPr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ru-RU" sz="3200" b="1" cap="small" spc="-40" dirty="0"/>
              <a:t>Задачи</a:t>
            </a:r>
            <a:r>
              <a:rPr lang="ru-RU" sz="3200" b="1" cap="small" spc="-60" dirty="0"/>
              <a:t> </a:t>
            </a:r>
            <a:r>
              <a:rPr lang="ru-RU" sz="3200" b="1" cap="small" spc="-114" dirty="0"/>
              <a:t>этапа</a:t>
            </a:r>
            <a:endParaRPr lang="ru-RU" b="1" dirty="0"/>
          </a:p>
        </p:txBody>
      </p:sp>
      <p:sp>
        <p:nvSpPr>
          <p:cNvPr id="15363" name="Номер слайда 3">
            <a:extLst>
              <a:ext uri="{FF2B5EF4-FFF2-40B4-BE49-F238E27FC236}">
                <a16:creationId xmlns:a16="http://schemas.microsoft.com/office/drawing/2014/main" id="{3249FF91-60FA-6F3F-582E-67AC3B4FAD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accent1"/>
              </a:buClr>
              <a:buSzPct val="70000"/>
              <a:buFont typeface="Wingdings" pitchFamily="2" charset="2"/>
              <a:buChar char="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 2" pitchFamily="2" charset="2"/>
              <a:buChar char=""/>
              <a:defRPr sz="21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rgbClr val="4471A6"/>
              </a:buClr>
              <a:buSzPct val="60000"/>
              <a:buFont typeface="Wingdings" pitchFamily="2" charset="2"/>
              <a:buChar char="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B2C1DB"/>
              </a:buClr>
              <a:buSzPct val="60000"/>
              <a:buFont typeface="Wingdings" pitchFamily="2" charset="2"/>
              <a:buChar char="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DCB3B2"/>
              </a:buClr>
              <a:buSzPct val="68000"/>
              <a:buFont typeface="Wingdings 2" pitchFamily="2" charset="2"/>
              <a:buChar char="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DCB3B2"/>
              </a:buClr>
              <a:buSzPct val="68000"/>
              <a:buFont typeface="Wingdings 2" pitchFamily="2" charset="2"/>
              <a:buChar char="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DCB3B2"/>
              </a:buClr>
              <a:buSzPct val="68000"/>
              <a:buFont typeface="Wingdings 2" pitchFamily="2" charset="2"/>
              <a:buChar char="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DCB3B2"/>
              </a:buClr>
              <a:buSzPct val="68000"/>
              <a:buFont typeface="Wingdings 2" pitchFamily="2" charset="2"/>
              <a:buChar char="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DCB3B2"/>
              </a:buClr>
              <a:buSzPct val="68000"/>
              <a:buFont typeface="Wingdings 2" pitchFamily="2" charset="2"/>
              <a:buChar char="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5FD65D4-433E-D34B-869F-455470156A5D}" type="slidenum">
              <a:rPr lang="en-US" altLang="ru-RU" sz="1400">
                <a:solidFill>
                  <a:srgbClr val="FFFFFF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8</a:t>
            </a:fld>
            <a:endParaRPr lang="en-US" altLang="ru-RU" sz="1400">
              <a:solidFill>
                <a:srgbClr val="FFFFFF"/>
              </a:solidFill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B62B12E4-5C21-FD14-1CCA-C8FCE518D9B5}"/>
              </a:ext>
            </a:extLst>
          </p:cNvPr>
          <p:cNvSpPr txBox="1"/>
          <p:nvPr/>
        </p:nvSpPr>
        <p:spPr>
          <a:xfrm>
            <a:off x="750887" y="1988840"/>
            <a:ext cx="9928225" cy="24397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983615" marR="5080" lvl="1" indent="-514350" algn="just">
              <a:spcBef>
                <a:spcPts val="105"/>
              </a:spcBef>
              <a:buClr>
                <a:srgbClr val="4F81BC"/>
              </a:buClr>
              <a:buSzPct val="69230"/>
              <a:buFont typeface="+mj-lt"/>
              <a:buAutoNum type="arabicPeriod"/>
              <a:tabLst>
                <a:tab pos="285115" algn="l"/>
              </a:tabLst>
            </a:pPr>
            <a:r>
              <a:rPr lang="ru-RU" sz="2600" dirty="0">
                <a:latin typeface="Times New Roman"/>
                <a:cs typeface="Times New Roman"/>
              </a:rPr>
              <a:t>выбор технологического стека и разработка методики контекстного мониторинга</a:t>
            </a:r>
            <a:r>
              <a:rPr lang="en-US" sz="2600" dirty="0">
                <a:latin typeface="Times New Roman"/>
                <a:cs typeface="Times New Roman"/>
              </a:rPr>
              <a:t>;</a:t>
            </a:r>
          </a:p>
          <a:p>
            <a:pPr marL="983615" marR="5080" lvl="1" indent="-514350" algn="just">
              <a:spcBef>
                <a:spcPts val="105"/>
              </a:spcBef>
              <a:buClr>
                <a:srgbClr val="4F81BC"/>
              </a:buClr>
              <a:buSzPct val="69230"/>
              <a:buFont typeface="+mj-lt"/>
              <a:buAutoNum type="arabicPeriod"/>
              <a:tabLst>
                <a:tab pos="285115" algn="l"/>
              </a:tabLst>
            </a:pPr>
            <a:r>
              <a:rPr lang="ru-RU" sz="2600" dirty="0">
                <a:latin typeface="Times New Roman"/>
                <a:cs typeface="Times New Roman"/>
              </a:rPr>
              <a:t>разработка опытного образца модуля перехвата событий доступа к памяти</a:t>
            </a:r>
            <a:r>
              <a:rPr lang="en-US" sz="2600" dirty="0">
                <a:latin typeface="Times New Roman"/>
                <a:cs typeface="Times New Roman"/>
              </a:rPr>
              <a:t>;</a:t>
            </a:r>
          </a:p>
          <a:p>
            <a:pPr marL="983615" marR="5080" lvl="1" indent="-514350" algn="just">
              <a:spcBef>
                <a:spcPts val="105"/>
              </a:spcBef>
              <a:buClr>
                <a:srgbClr val="4F81BC"/>
              </a:buClr>
              <a:buSzPct val="69230"/>
              <a:buFont typeface="+mj-lt"/>
              <a:buAutoNum type="arabicPeriod"/>
              <a:tabLst>
                <a:tab pos="285115" algn="l"/>
              </a:tabLst>
            </a:pPr>
            <a:r>
              <a:rPr lang="ru-RU" sz="2600" dirty="0">
                <a:latin typeface="Times New Roman"/>
                <a:cs typeface="Times New Roman"/>
              </a:rPr>
              <a:t>валидация опытного образца на модельных сценариях доступа к памяти.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B33D82E-F63A-5021-2B09-B2A66B267E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8262" y="116632"/>
            <a:ext cx="9515475" cy="864096"/>
          </a:xfrm>
        </p:spPr>
        <p:txBody>
          <a:bodyPr>
            <a:normAutofit fontScale="90000"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ru-RU" b="1" dirty="0"/>
              <a:t>Методика контекстного мониторинга и защиты памяти</a:t>
            </a:r>
          </a:p>
        </p:txBody>
      </p:sp>
      <p:sp>
        <p:nvSpPr>
          <p:cNvPr id="17411" name="Номер слайда 3">
            <a:extLst>
              <a:ext uri="{FF2B5EF4-FFF2-40B4-BE49-F238E27FC236}">
                <a16:creationId xmlns:a16="http://schemas.microsoft.com/office/drawing/2014/main" id="{9128E344-CB6D-30B1-5D0C-2C232C7371E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accent1"/>
              </a:buClr>
              <a:buSzPct val="70000"/>
              <a:buFont typeface="Wingdings" pitchFamily="2" charset="2"/>
              <a:buChar char="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 2" pitchFamily="2" charset="2"/>
              <a:buChar char=""/>
              <a:defRPr sz="21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rgbClr val="4471A6"/>
              </a:buClr>
              <a:buSzPct val="60000"/>
              <a:buFont typeface="Wingdings" pitchFamily="2" charset="2"/>
              <a:buChar char="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B2C1DB"/>
              </a:buClr>
              <a:buSzPct val="60000"/>
              <a:buFont typeface="Wingdings" pitchFamily="2" charset="2"/>
              <a:buChar char="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DCB3B2"/>
              </a:buClr>
              <a:buSzPct val="68000"/>
              <a:buFont typeface="Wingdings 2" pitchFamily="2" charset="2"/>
              <a:buChar char="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DCB3B2"/>
              </a:buClr>
              <a:buSzPct val="68000"/>
              <a:buFont typeface="Wingdings 2" pitchFamily="2" charset="2"/>
              <a:buChar char="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DCB3B2"/>
              </a:buClr>
              <a:buSzPct val="68000"/>
              <a:buFont typeface="Wingdings 2" pitchFamily="2" charset="2"/>
              <a:buChar char="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DCB3B2"/>
              </a:buClr>
              <a:buSzPct val="68000"/>
              <a:buFont typeface="Wingdings 2" pitchFamily="2" charset="2"/>
              <a:buChar char="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DCB3B2"/>
              </a:buClr>
              <a:buSzPct val="68000"/>
              <a:buFont typeface="Wingdings 2" pitchFamily="2" charset="2"/>
              <a:buChar char="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D0BA0DF-D6E9-5943-8648-144AA2B3FB25}" type="slidenum">
              <a:rPr lang="en-US" altLang="ru-RU" sz="1400">
                <a:solidFill>
                  <a:srgbClr val="FFFFFF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9</a:t>
            </a:fld>
            <a:endParaRPr lang="en-US" altLang="ru-RU" sz="1400">
              <a:solidFill>
                <a:srgbClr val="FFFFFF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C32D21F-8CAB-9FF7-5466-B73E7E5AE7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7528" y="980728"/>
            <a:ext cx="2880320" cy="498544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73284AD-9D1A-E0F0-F4FE-597F4054E1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48128" y="980728"/>
            <a:ext cx="2376264" cy="498544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30FBE36-01CE-DAFB-D170-80129E244C99}"/>
              </a:ext>
            </a:extLst>
          </p:cNvPr>
          <p:cNvSpPr txBox="1"/>
          <p:nvPr/>
        </p:nvSpPr>
        <p:spPr>
          <a:xfrm>
            <a:off x="1271464" y="6092825"/>
            <a:ext cx="48245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>
                <a:latin typeface="+mn-lt"/>
              </a:rPr>
              <a:t>Рисунок 1 – Блок-схема методики контекстного мониторинга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C404A2E-462C-D49F-AE68-1B78EFE9B2D7}"/>
              </a:ext>
            </a:extLst>
          </p:cNvPr>
          <p:cNvSpPr txBox="1"/>
          <p:nvPr/>
        </p:nvSpPr>
        <p:spPr>
          <a:xfrm>
            <a:off x="6816080" y="6092824"/>
            <a:ext cx="36724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>
                <a:latin typeface="+mn-lt"/>
              </a:rPr>
              <a:t>Рисунок 2 – Блок-схема алгоритма атрибуции</a:t>
            </a:r>
          </a:p>
        </p:txBody>
      </p:sp>
    </p:spTree>
    <p:extLst>
      <p:ext uri="{BB962C8B-B14F-4D97-AF65-F5344CB8AC3E}">
        <p14:creationId xmlns:p14="http://schemas.microsoft.com/office/powerpoint/2010/main" val="36648462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B33D82E-F63A-5021-2B09-B2A66B267E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3552" y="-31895"/>
            <a:ext cx="7467600" cy="725487"/>
          </a:xfrm>
        </p:spPr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ru-RU" b="1" dirty="0"/>
              <a:t>Реализация опытного образца</a:t>
            </a:r>
          </a:p>
        </p:txBody>
      </p:sp>
      <p:sp>
        <p:nvSpPr>
          <p:cNvPr id="17411" name="Номер слайда 3">
            <a:extLst>
              <a:ext uri="{FF2B5EF4-FFF2-40B4-BE49-F238E27FC236}">
                <a16:creationId xmlns:a16="http://schemas.microsoft.com/office/drawing/2014/main" id="{9128E344-CB6D-30B1-5D0C-2C232C7371E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accent1"/>
              </a:buClr>
              <a:buSzPct val="70000"/>
              <a:buFont typeface="Wingdings" pitchFamily="2" charset="2"/>
              <a:buChar char="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 2" pitchFamily="2" charset="2"/>
              <a:buChar char=""/>
              <a:defRPr sz="21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rgbClr val="4471A6"/>
              </a:buClr>
              <a:buSzPct val="60000"/>
              <a:buFont typeface="Wingdings" pitchFamily="2" charset="2"/>
              <a:buChar char="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B2C1DB"/>
              </a:buClr>
              <a:buSzPct val="60000"/>
              <a:buFont typeface="Wingdings" pitchFamily="2" charset="2"/>
              <a:buChar char="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DCB3B2"/>
              </a:buClr>
              <a:buSzPct val="68000"/>
              <a:buFont typeface="Wingdings 2" pitchFamily="2" charset="2"/>
              <a:buChar char="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DCB3B2"/>
              </a:buClr>
              <a:buSzPct val="68000"/>
              <a:buFont typeface="Wingdings 2" pitchFamily="2" charset="2"/>
              <a:buChar char="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DCB3B2"/>
              </a:buClr>
              <a:buSzPct val="68000"/>
              <a:buFont typeface="Wingdings 2" pitchFamily="2" charset="2"/>
              <a:buChar char="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DCB3B2"/>
              </a:buClr>
              <a:buSzPct val="68000"/>
              <a:buFont typeface="Wingdings 2" pitchFamily="2" charset="2"/>
              <a:buChar char="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DCB3B2"/>
              </a:buClr>
              <a:buSzPct val="68000"/>
              <a:buFont typeface="Wingdings 2" pitchFamily="2" charset="2"/>
              <a:buChar char="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D0BA0DF-D6E9-5943-8648-144AA2B3FB25}" type="slidenum">
              <a:rPr lang="en-US" altLang="ru-RU" sz="1400">
                <a:solidFill>
                  <a:srgbClr val="FFFFFF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10</a:t>
            </a:fld>
            <a:endParaRPr lang="en-US" altLang="ru-RU" sz="1400">
              <a:solidFill>
                <a:srgbClr val="FFFFFF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8C5BA7A-5E95-E9A1-CE0C-432C76688F06}"/>
              </a:ext>
            </a:extLst>
          </p:cNvPr>
          <p:cNvSpPr txBox="1"/>
          <p:nvPr/>
        </p:nvSpPr>
        <p:spPr>
          <a:xfrm>
            <a:off x="3719736" y="6307336"/>
            <a:ext cx="45214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>
                <a:latin typeface="+mn-lt"/>
              </a:rPr>
              <a:t>Рисунок 3 – Блок-схема работы агента опытного образца</a:t>
            </a:r>
            <a:endParaRPr lang="ru-RU" sz="1400" dirty="0">
              <a:highlight>
                <a:srgbClr val="FFFF00"/>
              </a:highlight>
              <a:latin typeface="+mn-lt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97CD300-3D13-D66E-858A-479031D5A4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1664" y="612659"/>
            <a:ext cx="5547519" cy="5775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2515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B33D82E-F63A-5021-2B09-B2A66B267E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74638"/>
            <a:ext cx="7467600" cy="725487"/>
          </a:xfrm>
        </p:spPr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ru-RU" b="1" dirty="0"/>
              <a:t>Реализация опытного образца</a:t>
            </a:r>
          </a:p>
        </p:txBody>
      </p:sp>
      <p:sp>
        <p:nvSpPr>
          <p:cNvPr id="17411" name="Номер слайда 3">
            <a:extLst>
              <a:ext uri="{FF2B5EF4-FFF2-40B4-BE49-F238E27FC236}">
                <a16:creationId xmlns:a16="http://schemas.microsoft.com/office/drawing/2014/main" id="{9128E344-CB6D-30B1-5D0C-2C232C7371E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accent1"/>
              </a:buClr>
              <a:buSzPct val="70000"/>
              <a:buFont typeface="Wingdings" pitchFamily="2" charset="2"/>
              <a:buChar char="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 2" pitchFamily="2" charset="2"/>
              <a:buChar char=""/>
              <a:defRPr sz="21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rgbClr val="4471A6"/>
              </a:buClr>
              <a:buSzPct val="60000"/>
              <a:buFont typeface="Wingdings" pitchFamily="2" charset="2"/>
              <a:buChar char="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B2C1DB"/>
              </a:buClr>
              <a:buSzPct val="60000"/>
              <a:buFont typeface="Wingdings" pitchFamily="2" charset="2"/>
              <a:buChar char="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DCB3B2"/>
              </a:buClr>
              <a:buSzPct val="68000"/>
              <a:buFont typeface="Wingdings 2" pitchFamily="2" charset="2"/>
              <a:buChar char="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DCB3B2"/>
              </a:buClr>
              <a:buSzPct val="68000"/>
              <a:buFont typeface="Wingdings 2" pitchFamily="2" charset="2"/>
              <a:buChar char="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DCB3B2"/>
              </a:buClr>
              <a:buSzPct val="68000"/>
              <a:buFont typeface="Wingdings 2" pitchFamily="2" charset="2"/>
              <a:buChar char="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DCB3B2"/>
              </a:buClr>
              <a:buSzPct val="68000"/>
              <a:buFont typeface="Wingdings 2" pitchFamily="2" charset="2"/>
              <a:buChar char="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DCB3B2"/>
              </a:buClr>
              <a:buSzPct val="68000"/>
              <a:buFont typeface="Wingdings 2" pitchFamily="2" charset="2"/>
              <a:buChar char="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D0BA0DF-D6E9-5943-8648-144AA2B3FB25}" type="slidenum">
              <a:rPr lang="en-US" altLang="ru-RU" sz="1400">
                <a:solidFill>
                  <a:srgbClr val="FFFFFF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11</a:t>
            </a:fld>
            <a:endParaRPr lang="en-US" altLang="ru-RU" sz="1400">
              <a:solidFill>
                <a:srgbClr val="FFFFFF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8C5BA7A-5E95-E9A1-CE0C-432C76688F06}"/>
              </a:ext>
            </a:extLst>
          </p:cNvPr>
          <p:cNvSpPr txBox="1"/>
          <p:nvPr/>
        </p:nvSpPr>
        <p:spPr>
          <a:xfrm>
            <a:off x="3071664" y="4149080"/>
            <a:ext cx="55446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>
                <a:latin typeface="+mn-lt"/>
              </a:rPr>
              <a:t>Рисунок 4 – Формат записи о перехваченом событии доступа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3CA213A-72D1-DD7A-3CAF-974287511F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8969" y="2276872"/>
            <a:ext cx="6354062" cy="1495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95895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B33D82E-F63A-5021-2B09-B2A66B267E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0308" y="327249"/>
            <a:ext cx="9371384" cy="725487"/>
          </a:xfrm>
        </p:spPr>
        <p:txBody>
          <a:bodyPr>
            <a:normAutofit fontScale="90000"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ru-RU" b="1" dirty="0"/>
              <a:t>Проверка опытного образца на модельных сценариях</a:t>
            </a:r>
          </a:p>
        </p:txBody>
      </p:sp>
      <p:sp>
        <p:nvSpPr>
          <p:cNvPr id="17411" name="Номер слайда 3">
            <a:extLst>
              <a:ext uri="{FF2B5EF4-FFF2-40B4-BE49-F238E27FC236}">
                <a16:creationId xmlns:a16="http://schemas.microsoft.com/office/drawing/2014/main" id="{9128E344-CB6D-30B1-5D0C-2C232C7371E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accent1"/>
              </a:buClr>
              <a:buSzPct val="70000"/>
              <a:buFont typeface="Wingdings" pitchFamily="2" charset="2"/>
              <a:buChar char="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 2" pitchFamily="2" charset="2"/>
              <a:buChar char=""/>
              <a:defRPr sz="21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rgbClr val="4471A6"/>
              </a:buClr>
              <a:buSzPct val="60000"/>
              <a:buFont typeface="Wingdings" pitchFamily="2" charset="2"/>
              <a:buChar char="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B2C1DB"/>
              </a:buClr>
              <a:buSzPct val="60000"/>
              <a:buFont typeface="Wingdings" pitchFamily="2" charset="2"/>
              <a:buChar char="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DCB3B2"/>
              </a:buClr>
              <a:buSzPct val="68000"/>
              <a:buFont typeface="Wingdings 2" pitchFamily="2" charset="2"/>
              <a:buChar char="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DCB3B2"/>
              </a:buClr>
              <a:buSzPct val="68000"/>
              <a:buFont typeface="Wingdings 2" pitchFamily="2" charset="2"/>
              <a:buChar char="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DCB3B2"/>
              </a:buClr>
              <a:buSzPct val="68000"/>
              <a:buFont typeface="Wingdings 2" pitchFamily="2" charset="2"/>
              <a:buChar char="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DCB3B2"/>
              </a:buClr>
              <a:buSzPct val="68000"/>
              <a:buFont typeface="Wingdings 2" pitchFamily="2" charset="2"/>
              <a:buChar char="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DCB3B2"/>
              </a:buClr>
              <a:buSzPct val="68000"/>
              <a:buFont typeface="Wingdings 2" pitchFamily="2" charset="2"/>
              <a:buChar char="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D0BA0DF-D6E9-5943-8648-144AA2B3FB25}" type="slidenum">
              <a:rPr lang="en-US" altLang="ru-RU" sz="1400">
                <a:solidFill>
                  <a:srgbClr val="FFFFFF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12</a:t>
            </a:fld>
            <a:endParaRPr lang="en-US" altLang="ru-RU" sz="1400">
              <a:solidFill>
                <a:srgbClr val="FFFFFF"/>
              </a:solidFill>
            </a:endParaRPr>
          </a:p>
        </p:txBody>
      </p:sp>
      <p:sp>
        <p:nvSpPr>
          <p:cNvPr id="8" name="object 3">
            <a:extLst>
              <a:ext uri="{FF2B5EF4-FFF2-40B4-BE49-F238E27FC236}">
                <a16:creationId xmlns:a16="http://schemas.microsoft.com/office/drawing/2014/main" id="{01BF58F6-9883-E5B5-2241-39C201B9AA55}"/>
              </a:ext>
            </a:extLst>
          </p:cNvPr>
          <p:cNvSpPr txBox="1"/>
          <p:nvPr/>
        </p:nvSpPr>
        <p:spPr>
          <a:xfrm>
            <a:off x="479376" y="1124744"/>
            <a:ext cx="10873283" cy="475322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69265" marR="10160" indent="-457200" algn="just">
              <a:spcBef>
                <a:spcPts val="600"/>
              </a:spcBef>
              <a:buClr>
                <a:srgbClr val="4F81BC"/>
              </a:buClr>
              <a:buSzPct val="69230"/>
              <a:buFont typeface="+mj-lt"/>
              <a:buAutoNum type="arabicPeriod"/>
              <a:tabLst>
                <a:tab pos="285115" algn="l"/>
              </a:tabLst>
            </a:pPr>
            <a:r>
              <a:rPr lang="ru-RU" sz="2400" b="1" dirty="0">
                <a:latin typeface="Times New Roman"/>
                <a:cs typeface="Times New Roman"/>
              </a:rPr>
              <a:t>Легитимная запись из ожидаемого контекста – </a:t>
            </a:r>
            <a:r>
              <a:rPr lang="ru-RU" sz="2400" dirty="0">
                <a:latin typeface="Times New Roman"/>
                <a:cs typeface="Times New Roman"/>
              </a:rPr>
              <a:t>обращение к области из участка кода, которому разрешено её изменять</a:t>
            </a:r>
            <a:r>
              <a:rPr lang="en-US" sz="2400" dirty="0">
                <a:latin typeface="Times New Roman"/>
                <a:cs typeface="Times New Roman"/>
              </a:rPr>
              <a:t>;</a:t>
            </a:r>
            <a:r>
              <a:rPr lang="ru-RU" sz="2400" dirty="0">
                <a:latin typeface="Times New Roman"/>
                <a:cs typeface="Times New Roman"/>
              </a:rPr>
              <a:t> Переменная </a:t>
            </a:r>
            <a:r>
              <a:rPr lang="en-US" sz="2400" dirty="0" err="1">
                <a:latin typeface="Times New Roman"/>
                <a:cs typeface="Times New Roman"/>
              </a:rPr>
              <a:t>critical_flag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ru-RU" sz="2400" dirty="0">
                <a:latin typeface="Times New Roman"/>
                <a:cs typeface="Times New Roman"/>
              </a:rPr>
              <a:t>инициализируется из функции </a:t>
            </a:r>
            <a:r>
              <a:rPr lang="en-US" sz="2400" dirty="0">
                <a:latin typeface="Times New Roman"/>
                <a:cs typeface="Times New Roman"/>
              </a:rPr>
              <a:t>main</a:t>
            </a:r>
            <a:r>
              <a:rPr lang="ru-RU" sz="2400" dirty="0">
                <a:latin typeface="Times New Roman"/>
                <a:cs typeface="Times New Roman"/>
              </a:rPr>
              <a:t>;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endParaRPr lang="ru-RU" sz="2400" dirty="0">
              <a:latin typeface="Times New Roman"/>
              <a:cs typeface="Times New Roman"/>
            </a:endParaRPr>
          </a:p>
          <a:p>
            <a:pPr marL="469265" marR="10160" indent="-457200" algn="just">
              <a:spcBef>
                <a:spcPts val="600"/>
              </a:spcBef>
              <a:buClr>
                <a:srgbClr val="4F81BC"/>
              </a:buClr>
              <a:buSzPct val="69230"/>
              <a:buFont typeface="+mj-lt"/>
              <a:buAutoNum type="arabicPeriod"/>
              <a:tabLst>
                <a:tab pos="285115" algn="l"/>
              </a:tabLst>
            </a:pPr>
            <a:r>
              <a:rPr lang="ru-RU" sz="2400" b="1" dirty="0">
                <a:latin typeface="Times New Roman"/>
                <a:cs typeface="Times New Roman"/>
              </a:rPr>
              <a:t>Запись из постороннего модуля – </a:t>
            </a:r>
            <a:r>
              <a:rPr lang="ru-RU" sz="2400" dirty="0">
                <a:latin typeface="Times New Roman"/>
                <a:cs typeface="Times New Roman"/>
              </a:rPr>
              <a:t>обращение на запись из динамической библиотеки, которой изменять область не положено;</a:t>
            </a:r>
          </a:p>
          <a:p>
            <a:pPr marL="469265" marR="10160" indent="-457200" algn="just">
              <a:spcBef>
                <a:spcPts val="600"/>
              </a:spcBef>
              <a:buClr>
                <a:srgbClr val="4F81BC"/>
              </a:buClr>
              <a:buSzPct val="69230"/>
              <a:buFont typeface="+mj-lt"/>
              <a:buAutoNum type="arabicPeriod"/>
              <a:tabLst>
                <a:tab pos="285115" algn="l"/>
              </a:tabLst>
            </a:pPr>
            <a:r>
              <a:rPr lang="ru-RU" sz="2400" b="1" dirty="0">
                <a:latin typeface="Times New Roman"/>
                <a:cs typeface="Times New Roman"/>
              </a:rPr>
              <a:t>Запись из посторонней функции того же модуля – </a:t>
            </a:r>
            <a:r>
              <a:rPr lang="ru-RU" sz="2400" dirty="0">
                <a:latin typeface="Times New Roman"/>
                <a:cs typeface="Times New Roman"/>
              </a:rPr>
              <a:t>обращение из участка кода, отличного от легитимного, в пределах одного модуля;</a:t>
            </a:r>
          </a:p>
          <a:p>
            <a:pPr marL="469265" marR="10160" indent="-457200" algn="just">
              <a:spcBef>
                <a:spcPts val="600"/>
              </a:spcBef>
              <a:buClr>
                <a:srgbClr val="4F81BC"/>
              </a:buClr>
              <a:buSzPct val="69230"/>
              <a:buFont typeface="+mj-lt"/>
              <a:buAutoNum type="arabicPeriod"/>
              <a:tabLst>
                <a:tab pos="285115" algn="l"/>
              </a:tabLst>
            </a:pPr>
            <a:r>
              <a:rPr lang="ru-RU" sz="2400" b="1" dirty="0">
                <a:latin typeface="Times New Roman"/>
                <a:cs typeface="Times New Roman"/>
              </a:rPr>
              <a:t>Запись вследствие переполнения соседнего буфера – </a:t>
            </a:r>
            <a:r>
              <a:rPr lang="ru-RU" sz="2400" dirty="0">
                <a:latin typeface="Times New Roman"/>
                <a:cs typeface="Times New Roman"/>
              </a:rPr>
              <a:t>модификацию охраняемой области в результате выхода записи за границы смежного буфера;</a:t>
            </a:r>
          </a:p>
          <a:p>
            <a:pPr marL="469265" marR="10160" indent="-457200" algn="just">
              <a:spcBef>
                <a:spcPts val="600"/>
              </a:spcBef>
              <a:buClr>
                <a:srgbClr val="4F81BC"/>
              </a:buClr>
              <a:buSzPct val="69230"/>
              <a:buFont typeface="+mj-lt"/>
              <a:buAutoNum type="arabicPeriod"/>
              <a:tabLst>
                <a:tab pos="285115" algn="l"/>
              </a:tabLst>
            </a:pPr>
            <a:r>
              <a:rPr lang="ru-RU" sz="2400" b="1" dirty="0">
                <a:latin typeface="Times New Roman"/>
                <a:cs typeface="Times New Roman"/>
              </a:rPr>
              <a:t>Контрольное обращение к незащищённой области – </a:t>
            </a:r>
            <a:r>
              <a:rPr lang="ru-RU" sz="2400" dirty="0">
                <a:latin typeface="Times New Roman"/>
                <a:cs typeface="Times New Roman"/>
              </a:rPr>
              <a:t>обращение к области, не помещённой под охрану; сценарий проверяет избирательность контроля, при которой подобное обращение не должно порождать событий.</a:t>
            </a:r>
          </a:p>
        </p:txBody>
      </p:sp>
    </p:spTree>
    <p:extLst>
      <p:ext uri="{BB962C8B-B14F-4D97-AF65-F5344CB8AC3E}">
        <p14:creationId xmlns:p14="http://schemas.microsoft.com/office/powerpoint/2010/main" val="10392018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B33D82E-F63A-5021-2B09-B2A66B267E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0308" y="118282"/>
            <a:ext cx="9371384" cy="725487"/>
          </a:xfrm>
        </p:spPr>
        <p:txBody>
          <a:bodyPr>
            <a:normAutofit fontScale="90000"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ru-RU" b="1" dirty="0"/>
              <a:t>Проверка опытного образца на модельных сценариях</a:t>
            </a:r>
          </a:p>
        </p:txBody>
      </p:sp>
      <p:sp>
        <p:nvSpPr>
          <p:cNvPr id="17" name="object 4">
            <a:extLst>
              <a:ext uri="{FF2B5EF4-FFF2-40B4-BE49-F238E27FC236}">
                <a16:creationId xmlns:a16="http://schemas.microsoft.com/office/drawing/2014/main" id="{734676EB-CF10-21AE-55B1-F0A3F83A6A2E}"/>
              </a:ext>
            </a:extLst>
          </p:cNvPr>
          <p:cNvSpPr txBox="1"/>
          <p:nvPr/>
        </p:nvSpPr>
        <p:spPr>
          <a:xfrm>
            <a:off x="1559496" y="1124744"/>
            <a:ext cx="7929827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ru-RU" sz="1600" spc="-10" dirty="0">
                <a:latin typeface="Times New Roman"/>
                <a:cs typeface="Times New Roman"/>
              </a:rPr>
              <a:t>Таблица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lang="ru-RU" sz="1600" spc="-15" dirty="0">
                <a:latin typeface="Times New Roman"/>
                <a:cs typeface="Times New Roman"/>
              </a:rPr>
              <a:t>2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–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lang="ru-RU" sz="1600" spc="-35" dirty="0">
                <a:latin typeface="Times New Roman"/>
                <a:cs typeface="Times New Roman"/>
              </a:rPr>
              <a:t>Результаты валидации</a:t>
            </a:r>
            <a:endParaRPr sz="1600" dirty="0">
              <a:latin typeface="Times New Roman"/>
              <a:cs typeface="Times New Roman"/>
            </a:endParaRP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C984B5C1-73F4-0849-0D4F-F149666CE2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1148393"/>
              </p:ext>
            </p:extLst>
          </p:nvPr>
        </p:nvGraphicFramePr>
        <p:xfrm>
          <a:off x="1127448" y="1556792"/>
          <a:ext cx="9510228" cy="41042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557">
                  <a:extLst>
                    <a:ext uri="{9D8B030D-6E8A-4147-A177-3AD203B41FA5}">
                      <a16:colId xmlns:a16="http://schemas.microsoft.com/office/drawing/2014/main" val="3229350292"/>
                    </a:ext>
                  </a:extLst>
                </a:gridCol>
                <a:gridCol w="2377557">
                  <a:extLst>
                    <a:ext uri="{9D8B030D-6E8A-4147-A177-3AD203B41FA5}">
                      <a16:colId xmlns:a16="http://schemas.microsoft.com/office/drawing/2014/main" val="854898450"/>
                    </a:ext>
                  </a:extLst>
                </a:gridCol>
                <a:gridCol w="2377557">
                  <a:extLst>
                    <a:ext uri="{9D8B030D-6E8A-4147-A177-3AD203B41FA5}">
                      <a16:colId xmlns:a16="http://schemas.microsoft.com/office/drawing/2014/main" val="2896316920"/>
                    </a:ext>
                  </a:extLst>
                </a:gridCol>
                <a:gridCol w="2377557">
                  <a:extLst>
                    <a:ext uri="{9D8B030D-6E8A-4147-A177-3AD203B41FA5}">
                      <a16:colId xmlns:a16="http://schemas.microsoft.com/office/drawing/2014/main" val="863946790"/>
                    </a:ext>
                  </a:extLst>
                </a:gridCol>
              </a:tblGrid>
              <a:tr h="442158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Сценарий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Проверяет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Ожидание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Фактически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9738081"/>
                  </a:ext>
                </a:extLst>
              </a:tr>
              <a:tr h="763177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Легетимная запись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Нет ложных срабатываний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Нет события (с опцией </a:t>
                      </a:r>
                      <a:r>
                        <a:rPr lang="en-US" dirty="0"/>
                        <a:t>--allow)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1" dirty="0"/>
                        <a:t>+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1913321"/>
                  </a:ext>
                </a:extLst>
              </a:tr>
              <a:tr h="763177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Посторонний модуль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Атрибуция до модуля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Событие, функция из другого модуля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1" dirty="0"/>
                        <a:t>+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8217760"/>
                  </a:ext>
                </a:extLst>
              </a:tr>
              <a:tr h="732469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Посторонняя функция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Атрибуция до функции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Событие, функция из текущего модуля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1" dirty="0"/>
                        <a:t>+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4289879"/>
                  </a:ext>
                </a:extLst>
              </a:tr>
              <a:tr h="504056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Переполнение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Перехват атаки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Событие, флаг изменён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1" dirty="0"/>
                        <a:t>+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2585229"/>
                  </a:ext>
                </a:extLst>
              </a:tr>
              <a:tr h="763177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Незащищенная область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Избирательность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Событий нет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1" dirty="0"/>
                        <a:t>+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97931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902627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C940B60-36BD-317D-1F5F-7638BBC975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62200" y="548680"/>
            <a:ext cx="7467600" cy="725487"/>
          </a:xfrm>
        </p:spPr>
        <p:txBody>
          <a:bodyPr>
            <a:normAutofit fontScale="90000"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ru-RU" sz="3200" b="1" dirty="0"/>
              <a:t>Результаты работы и основные выводы</a:t>
            </a:r>
            <a:endParaRPr lang="ru-RU" b="1" dirty="0"/>
          </a:p>
        </p:txBody>
      </p:sp>
      <p:sp>
        <p:nvSpPr>
          <p:cNvPr id="18435" name="Номер слайда 3">
            <a:extLst>
              <a:ext uri="{FF2B5EF4-FFF2-40B4-BE49-F238E27FC236}">
                <a16:creationId xmlns:a16="http://schemas.microsoft.com/office/drawing/2014/main" id="{5D9A7D45-53C2-9697-518B-3663D636309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accent1"/>
              </a:buClr>
              <a:buSzPct val="70000"/>
              <a:buFont typeface="Wingdings" pitchFamily="2" charset="2"/>
              <a:buChar char="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 2" pitchFamily="2" charset="2"/>
              <a:buChar char=""/>
              <a:defRPr sz="21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rgbClr val="4471A6"/>
              </a:buClr>
              <a:buSzPct val="60000"/>
              <a:buFont typeface="Wingdings" pitchFamily="2" charset="2"/>
              <a:buChar char="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B2C1DB"/>
              </a:buClr>
              <a:buSzPct val="60000"/>
              <a:buFont typeface="Wingdings" pitchFamily="2" charset="2"/>
              <a:buChar char="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DCB3B2"/>
              </a:buClr>
              <a:buSzPct val="68000"/>
              <a:buFont typeface="Wingdings 2" pitchFamily="2" charset="2"/>
              <a:buChar char="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DCB3B2"/>
              </a:buClr>
              <a:buSzPct val="68000"/>
              <a:buFont typeface="Wingdings 2" pitchFamily="2" charset="2"/>
              <a:buChar char="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DCB3B2"/>
              </a:buClr>
              <a:buSzPct val="68000"/>
              <a:buFont typeface="Wingdings 2" pitchFamily="2" charset="2"/>
              <a:buChar char="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DCB3B2"/>
              </a:buClr>
              <a:buSzPct val="68000"/>
              <a:buFont typeface="Wingdings 2" pitchFamily="2" charset="2"/>
              <a:buChar char="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DCB3B2"/>
              </a:buClr>
              <a:buSzPct val="68000"/>
              <a:buFont typeface="Wingdings 2" pitchFamily="2" charset="2"/>
              <a:buChar char="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9E201F5-8DD3-B04C-94F7-888355455BC2}" type="slidenum">
              <a:rPr lang="en-US" altLang="ru-RU" sz="1400">
                <a:solidFill>
                  <a:srgbClr val="FFFFFF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14</a:t>
            </a:fld>
            <a:endParaRPr lang="en-US" altLang="ru-RU" sz="1400">
              <a:solidFill>
                <a:srgbClr val="FFFFFF"/>
              </a:solidFill>
            </a:endParaRP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5A3B0C6E-3E26-2007-AB7C-36D06FF9316E}"/>
              </a:ext>
            </a:extLst>
          </p:cNvPr>
          <p:cNvSpPr txBox="1"/>
          <p:nvPr/>
        </p:nvSpPr>
        <p:spPr>
          <a:xfrm>
            <a:off x="1132840" y="1844824"/>
            <a:ext cx="9926320" cy="239629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95250" indent="537845" algn="just">
              <a:lnSpc>
                <a:spcPct val="119200"/>
              </a:lnSpc>
              <a:spcBef>
                <a:spcPts val="100"/>
              </a:spcBef>
            </a:pPr>
            <a:r>
              <a:rPr sz="2600" dirty="0">
                <a:latin typeface="Times New Roman"/>
                <a:cs typeface="Times New Roman"/>
              </a:rPr>
              <a:t>В</a:t>
            </a:r>
            <a:r>
              <a:rPr sz="2600" spc="-25" dirty="0">
                <a:latin typeface="Times New Roman"/>
                <a:cs typeface="Times New Roman"/>
              </a:rPr>
              <a:t> результате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выполнения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Times New Roman"/>
                <a:cs typeface="Times New Roman"/>
              </a:rPr>
              <a:t>научно-</a:t>
            </a:r>
            <a:r>
              <a:rPr sz="2600" spc="-20" dirty="0">
                <a:latin typeface="Times New Roman"/>
                <a:cs typeface="Times New Roman"/>
              </a:rPr>
              <a:t>исследовательской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работы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Times New Roman"/>
                <a:cs typeface="Times New Roman"/>
              </a:rPr>
              <a:t>были </a:t>
            </a:r>
            <a:r>
              <a:rPr sz="2600" dirty="0">
                <a:latin typeface="Times New Roman"/>
                <a:cs typeface="Times New Roman"/>
              </a:rPr>
              <a:t>решены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поставленные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задачи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на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dirty="0" err="1">
                <a:latin typeface="Times New Roman"/>
                <a:cs typeface="Times New Roman"/>
              </a:rPr>
              <a:t>этот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spc="-10" dirty="0" err="1">
                <a:latin typeface="Times New Roman"/>
                <a:cs typeface="Times New Roman"/>
              </a:rPr>
              <a:t>семестр</a:t>
            </a:r>
            <a:r>
              <a:rPr lang="ru-RU" sz="2600" spc="-10" dirty="0">
                <a:latin typeface="Times New Roman"/>
                <a:cs typeface="Times New Roman"/>
              </a:rPr>
              <a:t>:</a:t>
            </a:r>
          </a:p>
          <a:p>
            <a:pPr marL="742315" lvl="1" indent="-272415" algn="just">
              <a:spcBef>
                <a:spcPts val="600"/>
              </a:spcBef>
              <a:buClr>
                <a:srgbClr val="4F81BC"/>
              </a:buClr>
              <a:buSzPct val="69230"/>
              <a:buFont typeface="Wingdings"/>
              <a:buChar char=""/>
              <a:tabLst>
                <a:tab pos="285115" algn="l"/>
              </a:tabLst>
            </a:pPr>
            <a:r>
              <a:rPr lang="ru-RU" sz="2600" spc="-65" dirty="0">
                <a:latin typeface="Times New Roman"/>
                <a:cs typeface="Times New Roman"/>
              </a:rPr>
              <a:t>разработана методика контекстного мониторинга доступа к памяти</a:t>
            </a:r>
            <a:r>
              <a:rPr lang="en-US" sz="2600" spc="-65" dirty="0">
                <a:latin typeface="Times New Roman"/>
                <a:cs typeface="Times New Roman"/>
              </a:rPr>
              <a:t>;</a:t>
            </a:r>
          </a:p>
          <a:p>
            <a:pPr marL="742315" lvl="1" indent="-272415" algn="just">
              <a:spcBef>
                <a:spcPts val="600"/>
              </a:spcBef>
              <a:buClr>
                <a:srgbClr val="4F81BC"/>
              </a:buClr>
              <a:buSzPct val="69230"/>
              <a:buFont typeface="Wingdings"/>
              <a:buChar char=""/>
              <a:tabLst>
                <a:tab pos="285115" algn="l"/>
              </a:tabLst>
            </a:pPr>
            <a:r>
              <a:rPr lang="ru-RU" sz="2600" spc="-65" dirty="0">
                <a:latin typeface="Times New Roman"/>
                <a:cs typeface="Times New Roman"/>
              </a:rPr>
              <a:t>разработан опытный образец модуля перехвата;</a:t>
            </a:r>
            <a:endParaRPr lang="en-US" sz="2600" spc="-65" dirty="0">
              <a:latin typeface="Times New Roman"/>
              <a:cs typeface="Times New Roman"/>
            </a:endParaRPr>
          </a:p>
          <a:p>
            <a:pPr marL="742315" lvl="1" indent="-272415" algn="just">
              <a:spcBef>
                <a:spcPts val="600"/>
              </a:spcBef>
              <a:buClr>
                <a:srgbClr val="4F81BC"/>
              </a:buClr>
              <a:buSzPct val="69230"/>
              <a:buFont typeface="Wingdings"/>
              <a:buChar char=""/>
              <a:tabLst>
                <a:tab pos="285115" algn="l"/>
              </a:tabLst>
            </a:pPr>
            <a:r>
              <a:rPr lang="ru-RU" sz="2600" spc="-65" dirty="0">
                <a:latin typeface="Times New Roman"/>
                <a:cs typeface="Times New Roman"/>
              </a:rPr>
              <a:t>проведена валидация образца на пяти модельных сценариях.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C940B60-36BD-317D-1F5F-7638BBC975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62200" y="692696"/>
            <a:ext cx="7467600" cy="725487"/>
          </a:xfrm>
        </p:spPr>
        <p:txBody>
          <a:bodyPr>
            <a:normAutofit fontScale="90000"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ru-RU" sz="3200" b="1" cap="small" dirty="0"/>
              <a:t>Дальнейшие</a:t>
            </a:r>
            <a:r>
              <a:rPr lang="ru-RU" sz="3200" b="1" cap="small" spc="55" dirty="0"/>
              <a:t> </a:t>
            </a:r>
            <a:r>
              <a:rPr lang="ru-RU" sz="3200" b="1" cap="small" spc="-25" dirty="0"/>
              <a:t>направления</a:t>
            </a:r>
            <a:r>
              <a:rPr lang="ru-RU" sz="3200" b="1" cap="small" spc="60" dirty="0"/>
              <a:t> </a:t>
            </a:r>
            <a:r>
              <a:rPr lang="ru-RU" sz="3200" b="1" cap="small" spc="-45" dirty="0"/>
              <a:t>исследований</a:t>
            </a:r>
            <a:endParaRPr lang="ru-RU" b="1" dirty="0"/>
          </a:p>
        </p:txBody>
      </p:sp>
      <p:sp>
        <p:nvSpPr>
          <p:cNvPr id="18435" name="Номер слайда 3">
            <a:extLst>
              <a:ext uri="{FF2B5EF4-FFF2-40B4-BE49-F238E27FC236}">
                <a16:creationId xmlns:a16="http://schemas.microsoft.com/office/drawing/2014/main" id="{5D9A7D45-53C2-9697-518B-3663D636309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accent1"/>
              </a:buClr>
              <a:buSzPct val="70000"/>
              <a:buFont typeface="Wingdings" pitchFamily="2" charset="2"/>
              <a:buChar char="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 2" pitchFamily="2" charset="2"/>
              <a:buChar char=""/>
              <a:defRPr sz="21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rgbClr val="4471A6"/>
              </a:buClr>
              <a:buSzPct val="60000"/>
              <a:buFont typeface="Wingdings" pitchFamily="2" charset="2"/>
              <a:buChar char="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B2C1DB"/>
              </a:buClr>
              <a:buSzPct val="60000"/>
              <a:buFont typeface="Wingdings" pitchFamily="2" charset="2"/>
              <a:buChar char="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DCB3B2"/>
              </a:buClr>
              <a:buSzPct val="68000"/>
              <a:buFont typeface="Wingdings 2" pitchFamily="2" charset="2"/>
              <a:buChar char="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DCB3B2"/>
              </a:buClr>
              <a:buSzPct val="68000"/>
              <a:buFont typeface="Wingdings 2" pitchFamily="2" charset="2"/>
              <a:buChar char="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DCB3B2"/>
              </a:buClr>
              <a:buSzPct val="68000"/>
              <a:buFont typeface="Wingdings 2" pitchFamily="2" charset="2"/>
              <a:buChar char="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DCB3B2"/>
              </a:buClr>
              <a:buSzPct val="68000"/>
              <a:buFont typeface="Wingdings 2" pitchFamily="2" charset="2"/>
              <a:buChar char="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DCB3B2"/>
              </a:buClr>
              <a:buSzPct val="68000"/>
              <a:buFont typeface="Wingdings 2" pitchFamily="2" charset="2"/>
              <a:buChar char="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9E201F5-8DD3-B04C-94F7-888355455BC2}" type="slidenum">
              <a:rPr lang="en-US" altLang="ru-RU" sz="1400">
                <a:solidFill>
                  <a:srgbClr val="FFFFFF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15</a:t>
            </a:fld>
            <a:endParaRPr lang="en-US" altLang="ru-RU" sz="1400">
              <a:solidFill>
                <a:srgbClr val="FFFFFF"/>
              </a:solidFill>
            </a:endParaRPr>
          </a:p>
        </p:txBody>
      </p:sp>
      <p:sp>
        <p:nvSpPr>
          <p:cNvPr id="7" name="object 3">
            <a:extLst>
              <a:ext uri="{FF2B5EF4-FFF2-40B4-BE49-F238E27FC236}">
                <a16:creationId xmlns:a16="http://schemas.microsoft.com/office/drawing/2014/main" id="{20138B1D-F4FA-61D6-E86B-04822E35CEFD}"/>
              </a:ext>
            </a:extLst>
          </p:cNvPr>
          <p:cNvSpPr txBox="1"/>
          <p:nvPr/>
        </p:nvSpPr>
        <p:spPr>
          <a:xfrm>
            <a:off x="875420" y="1916832"/>
            <a:ext cx="10441160" cy="2669320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285115" indent="-272415">
              <a:lnSpc>
                <a:spcPct val="100000"/>
              </a:lnSpc>
              <a:spcBef>
                <a:spcPts val="695"/>
              </a:spcBef>
              <a:buClr>
                <a:srgbClr val="4F81BC"/>
              </a:buClr>
              <a:buSzPct val="69230"/>
              <a:buFont typeface="Wingdings"/>
              <a:buChar char=""/>
              <a:tabLst>
                <a:tab pos="285115" algn="l"/>
              </a:tabLst>
            </a:pPr>
            <a:r>
              <a:rPr lang="ru-RU" sz="2600" dirty="0">
                <a:latin typeface="Times New Roman"/>
                <a:cs typeface="Times New Roman"/>
              </a:rPr>
              <a:t>расширение контроля с записи на чтение и исполнение для реализации остальных прикладных сценариев</a:t>
            </a:r>
            <a:r>
              <a:rPr lang="en-US" sz="2600" dirty="0">
                <a:latin typeface="Times New Roman"/>
                <a:cs typeface="Times New Roman"/>
              </a:rPr>
              <a:t>;</a:t>
            </a:r>
          </a:p>
          <a:p>
            <a:pPr marL="285115" indent="-272415">
              <a:lnSpc>
                <a:spcPct val="100000"/>
              </a:lnSpc>
              <a:spcBef>
                <a:spcPts val="695"/>
              </a:spcBef>
              <a:buClr>
                <a:srgbClr val="4F81BC"/>
              </a:buClr>
              <a:buSzPct val="69230"/>
              <a:buFont typeface="Wingdings"/>
              <a:buChar char=""/>
              <a:tabLst>
                <a:tab pos="285115" algn="l"/>
              </a:tabLst>
            </a:pPr>
            <a:r>
              <a:rPr lang="ru-RU" sz="2600" dirty="0">
                <a:latin typeface="Times New Roman"/>
                <a:cs typeface="Times New Roman"/>
              </a:rPr>
              <a:t>добавление режима работы, при котором происходит подключение к уже работающему процессу</a:t>
            </a:r>
            <a:r>
              <a:rPr lang="en-US" sz="2600" dirty="0">
                <a:latin typeface="Times New Roman"/>
                <a:cs typeface="Times New Roman"/>
              </a:rPr>
              <a:t>;</a:t>
            </a:r>
            <a:endParaRPr lang="ru-RU" sz="2600" dirty="0">
              <a:latin typeface="Times New Roman"/>
              <a:cs typeface="Times New Roman"/>
            </a:endParaRPr>
          </a:p>
          <a:p>
            <a:pPr marL="285115" indent="-272415">
              <a:lnSpc>
                <a:spcPct val="100000"/>
              </a:lnSpc>
              <a:spcBef>
                <a:spcPts val="695"/>
              </a:spcBef>
              <a:buClr>
                <a:srgbClr val="4F81BC"/>
              </a:buClr>
              <a:buSzPct val="69230"/>
              <a:buFont typeface="Wingdings"/>
              <a:buChar char=""/>
              <a:tabLst>
                <a:tab pos="285115" algn="l"/>
              </a:tabLst>
            </a:pPr>
            <a:r>
              <a:rPr lang="ru-RU" sz="2600" dirty="0">
                <a:latin typeface="Times New Roman"/>
                <a:cs typeface="Times New Roman"/>
              </a:rPr>
              <a:t>расширение реакции на нарушение от регистрации к активному пресечению</a:t>
            </a:r>
            <a:r>
              <a:rPr lang="en-US" sz="2600" dirty="0">
                <a:latin typeface="Times New Roman"/>
                <a:cs typeface="Times New Roman"/>
              </a:rPr>
              <a:t>.</a:t>
            </a:r>
            <a:endParaRPr lang="ru-RU" sz="26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064851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C940B60-36BD-317D-1F5F-7638BBC975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7488" y="332656"/>
            <a:ext cx="8959688" cy="725487"/>
          </a:xfrm>
        </p:spPr>
        <p:txBody>
          <a:bodyPr>
            <a:normAutofit fontScale="90000"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ru-RU" b="1" dirty="0"/>
              <a:t>Внедрение </a:t>
            </a:r>
            <a:r>
              <a:rPr lang="en-US" b="1" dirty="0" err="1"/>
              <a:t>mprotect</a:t>
            </a:r>
            <a:r>
              <a:rPr lang="en-US" b="1" dirty="0"/>
              <a:t> </a:t>
            </a:r>
            <a:r>
              <a:rPr lang="ru-RU" b="1" dirty="0"/>
              <a:t>в исполняемую программу</a:t>
            </a:r>
          </a:p>
        </p:txBody>
      </p:sp>
      <p:sp>
        <p:nvSpPr>
          <p:cNvPr id="18435" name="Номер слайда 3">
            <a:extLst>
              <a:ext uri="{FF2B5EF4-FFF2-40B4-BE49-F238E27FC236}">
                <a16:creationId xmlns:a16="http://schemas.microsoft.com/office/drawing/2014/main" id="{5D9A7D45-53C2-9697-518B-3663D636309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accent1"/>
              </a:buClr>
              <a:buSzPct val="70000"/>
              <a:buFont typeface="Wingdings" pitchFamily="2" charset="2"/>
              <a:buChar char="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 2" pitchFamily="2" charset="2"/>
              <a:buChar char=""/>
              <a:defRPr sz="21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rgbClr val="4471A6"/>
              </a:buClr>
              <a:buSzPct val="60000"/>
              <a:buFont typeface="Wingdings" pitchFamily="2" charset="2"/>
              <a:buChar char="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B2C1DB"/>
              </a:buClr>
              <a:buSzPct val="60000"/>
              <a:buFont typeface="Wingdings" pitchFamily="2" charset="2"/>
              <a:buChar char="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DCB3B2"/>
              </a:buClr>
              <a:buSzPct val="68000"/>
              <a:buFont typeface="Wingdings 2" pitchFamily="2" charset="2"/>
              <a:buChar char="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DCB3B2"/>
              </a:buClr>
              <a:buSzPct val="68000"/>
              <a:buFont typeface="Wingdings 2" pitchFamily="2" charset="2"/>
              <a:buChar char="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DCB3B2"/>
              </a:buClr>
              <a:buSzPct val="68000"/>
              <a:buFont typeface="Wingdings 2" pitchFamily="2" charset="2"/>
              <a:buChar char="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DCB3B2"/>
              </a:buClr>
              <a:buSzPct val="68000"/>
              <a:buFont typeface="Wingdings 2" pitchFamily="2" charset="2"/>
              <a:buChar char="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DCB3B2"/>
              </a:buClr>
              <a:buSzPct val="68000"/>
              <a:buFont typeface="Wingdings 2" pitchFamily="2" charset="2"/>
              <a:buChar char="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9E201F5-8DD3-B04C-94F7-888355455BC2}" type="slidenum">
              <a:rPr lang="en-US" altLang="ru-RU" sz="1400">
                <a:solidFill>
                  <a:srgbClr val="FFFFFF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16</a:t>
            </a:fld>
            <a:endParaRPr lang="en-US" altLang="ru-RU" sz="1400">
              <a:solidFill>
                <a:srgbClr val="FFFFFF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56B900-1CBB-1A79-9483-2C7F82DC2323}"/>
              </a:ext>
            </a:extLst>
          </p:cNvPr>
          <p:cNvSpPr txBox="1"/>
          <p:nvPr/>
        </p:nvSpPr>
        <p:spPr>
          <a:xfrm>
            <a:off x="4439816" y="5799857"/>
            <a:ext cx="30963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>
                <a:latin typeface="+mn-lt"/>
              </a:rPr>
              <a:t>Рисунок 5 – схема инжекции </a:t>
            </a:r>
            <a:r>
              <a:rPr lang="en-US" sz="1400" dirty="0" err="1">
                <a:latin typeface="+mn-lt"/>
              </a:rPr>
              <a:t>mprotect</a:t>
            </a:r>
            <a:endParaRPr lang="ru-RU" sz="1400" dirty="0">
              <a:latin typeface="+mn-l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996686A-3A32-8F7D-5DA7-4D82C676ED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4330" y="1323534"/>
            <a:ext cx="1679284" cy="4210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77139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C940B60-36BD-317D-1F5F-7638BBC975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8840" y="332656"/>
            <a:ext cx="8414320" cy="725487"/>
          </a:xfrm>
        </p:spPr>
        <p:txBody>
          <a:bodyPr>
            <a:norm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ru-RU" b="1" dirty="0"/>
              <a:t>Оценка накладных расходов на перехват</a:t>
            </a:r>
          </a:p>
        </p:txBody>
      </p:sp>
      <p:sp>
        <p:nvSpPr>
          <p:cNvPr id="18435" name="Номер слайда 3">
            <a:extLst>
              <a:ext uri="{FF2B5EF4-FFF2-40B4-BE49-F238E27FC236}">
                <a16:creationId xmlns:a16="http://schemas.microsoft.com/office/drawing/2014/main" id="{5D9A7D45-53C2-9697-518B-3663D636309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accent1"/>
              </a:buClr>
              <a:buSzPct val="70000"/>
              <a:buFont typeface="Wingdings" pitchFamily="2" charset="2"/>
              <a:buChar char="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 2" pitchFamily="2" charset="2"/>
              <a:buChar char=""/>
              <a:defRPr sz="21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rgbClr val="4471A6"/>
              </a:buClr>
              <a:buSzPct val="60000"/>
              <a:buFont typeface="Wingdings" pitchFamily="2" charset="2"/>
              <a:buChar char="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B2C1DB"/>
              </a:buClr>
              <a:buSzPct val="60000"/>
              <a:buFont typeface="Wingdings" pitchFamily="2" charset="2"/>
              <a:buChar char="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DCB3B2"/>
              </a:buClr>
              <a:buSzPct val="68000"/>
              <a:buFont typeface="Wingdings 2" pitchFamily="2" charset="2"/>
              <a:buChar char="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DCB3B2"/>
              </a:buClr>
              <a:buSzPct val="68000"/>
              <a:buFont typeface="Wingdings 2" pitchFamily="2" charset="2"/>
              <a:buChar char="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DCB3B2"/>
              </a:buClr>
              <a:buSzPct val="68000"/>
              <a:buFont typeface="Wingdings 2" pitchFamily="2" charset="2"/>
              <a:buChar char="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DCB3B2"/>
              </a:buClr>
              <a:buSzPct val="68000"/>
              <a:buFont typeface="Wingdings 2" pitchFamily="2" charset="2"/>
              <a:buChar char="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DCB3B2"/>
              </a:buClr>
              <a:buSzPct val="68000"/>
              <a:buFont typeface="Wingdings 2" pitchFamily="2" charset="2"/>
              <a:buChar char="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9E201F5-8DD3-B04C-94F7-888355455BC2}" type="slidenum">
              <a:rPr lang="en-US" altLang="ru-RU" sz="1400">
                <a:solidFill>
                  <a:srgbClr val="FFFFFF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17</a:t>
            </a:fld>
            <a:endParaRPr lang="en-US" altLang="ru-RU" sz="1400">
              <a:solidFill>
                <a:srgbClr val="FFFFFF"/>
              </a:solidFill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06AD5FF-8219-0268-78A6-EBE27E28F0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7470481"/>
              </p:ext>
            </p:extLst>
          </p:nvPr>
        </p:nvGraphicFramePr>
        <p:xfrm>
          <a:off x="1559496" y="1529607"/>
          <a:ext cx="81280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4292158735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72223854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Режим исполнения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Время на одно обращение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30353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Без агента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2 нс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01666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С агентом, событие не регистрируется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223 мкс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61780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С агентом, легитимное событие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217 мкс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7319647"/>
                  </a:ext>
                </a:extLst>
              </a:tr>
            </a:tbl>
          </a:graphicData>
        </a:graphic>
      </p:graphicFrame>
      <p:sp>
        <p:nvSpPr>
          <p:cNvPr id="6" name="object 4">
            <a:extLst>
              <a:ext uri="{FF2B5EF4-FFF2-40B4-BE49-F238E27FC236}">
                <a16:creationId xmlns:a16="http://schemas.microsoft.com/office/drawing/2014/main" id="{1DF367C8-F24C-E551-B223-EFAB686AB31C}"/>
              </a:ext>
            </a:extLst>
          </p:cNvPr>
          <p:cNvSpPr txBox="1"/>
          <p:nvPr/>
        </p:nvSpPr>
        <p:spPr>
          <a:xfrm>
            <a:off x="1900206" y="1194452"/>
            <a:ext cx="7929827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ru-RU" sz="1600" spc="-10" dirty="0">
                <a:latin typeface="Times New Roman"/>
                <a:cs typeface="Times New Roman"/>
              </a:rPr>
              <a:t>Таблица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lang="ru-RU" sz="1600" spc="-15" dirty="0">
                <a:latin typeface="Times New Roman"/>
                <a:cs typeface="Times New Roman"/>
              </a:rPr>
              <a:t>3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–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lang="ru-RU" sz="1600" dirty="0">
                <a:latin typeface="Times New Roman"/>
                <a:cs typeface="Times New Roman"/>
              </a:rPr>
              <a:t>Накладные расходы инструмента</a:t>
            </a:r>
            <a:endParaRPr sz="1600" dirty="0">
              <a:latin typeface="Times New Roman"/>
              <a:cs typeface="Times New Roman"/>
            </a:endParaRPr>
          </a:p>
        </p:txBody>
      </p:sp>
      <p:sp>
        <p:nvSpPr>
          <p:cNvPr id="7" name="object 3">
            <a:extLst>
              <a:ext uri="{FF2B5EF4-FFF2-40B4-BE49-F238E27FC236}">
                <a16:creationId xmlns:a16="http://schemas.microsoft.com/office/drawing/2014/main" id="{76A1BD63-190C-6017-07B5-BBBF4918609F}"/>
              </a:ext>
            </a:extLst>
          </p:cNvPr>
          <p:cNvSpPr txBox="1"/>
          <p:nvPr/>
        </p:nvSpPr>
        <p:spPr>
          <a:xfrm>
            <a:off x="551384" y="3378257"/>
            <a:ext cx="9928225" cy="300659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983615" marR="5080" lvl="1" indent="-514350" algn="just">
              <a:spcBef>
                <a:spcPts val="105"/>
              </a:spcBef>
              <a:buClr>
                <a:srgbClr val="4F81BC"/>
              </a:buClr>
              <a:buSzPct val="69230"/>
              <a:buFont typeface="+mj-lt"/>
              <a:buAutoNum type="arabicPeriod"/>
              <a:tabLst>
                <a:tab pos="285115" algn="l"/>
              </a:tabLst>
            </a:pPr>
            <a:r>
              <a:rPr lang="ru-RU" sz="2400" dirty="0">
                <a:latin typeface="Times New Roman"/>
                <a:cs typeface="Times New Roman"/>
              </a:rPr>
              <a:t>результаты в таблице – намеренно худший случай (запись в переменную в цикле)</a:t>
            </a:r>
            <a:r>
              <a:rPr lang="en-US" sz="2400" dirty="0">
                <a:latin typeface="Times New Roman"/>
                <a:cs typeface="Times New Roman"/>
              </a:rPr>
              <a:t>;</a:t>
            </a:r>
            <a:endParaRPr lang="ru-RU" sz="2400" dirty="0">
              <a:latin typeface="Times New Roman"/>
              <a:cs typeface="Times New Roman"/>
            </a:endParaRPr>
          </a:p>
          <a:p>
            <a:pPr marL="983615" marR="5080" lvl="1" indent="-514350" algn="just">
              <a:spcBef>
                <a:spcPts val="105"/>
              </a:spcBef>
              <a:buClr>
                <a:srgbClr val="4F81BC"/>
              </a:buClr>
              <a:buSzPct val="69230"/>
              <a:buFont typeface="+mj-lt"/>
              <a:buAutoNum type="arabicPeriod"/>
              <a:tabLst>
                <a:tab pos="285115" algn="l"/>
              </a:tabLst>
            </a:pPr>
            <a:r>
              <a:rPr lang="ru-RU" sz="2400" dirty="0">
                <a:latin typeface="Times New Roman"/>
                <a:cs typeface="Times New Roman"/>
              </a:rPr>
              <a:t>реальный сценарий: данные меняются единицы раз за всё время работы целевой программы</a:t>
            </a:r>
            <a:r>
              <a:rPr lang="en-US" sz="2400" dirty="0">
                <a:latin typeface="Times New Roman"/>
                <a:cs typeface="Times New Roman"/>
              </a:rPr>
              <a:t>;</a:t>
            </a:r>
            <a:endParaRPr lang="ru-RU" sz="2400" dirty="0">
              <a:latin typeface="Times New Roman"/>
              <a:cs typeface="Times New Roman"/>
            </a:endParaRPr>
          </a:p>
          <a:p>
            <a:pPr marL="983615" marR="5080" lvl="1" indent="-514350" algn="just">
              <a:spcBef>
                <a:spcPts val="105"/>
              </a:spcBef>
              <a:buClr>
                <a:srgbClr val="4F81BC"/>
              </a:buClr>
              <a:buSzPct val="69230"/>
              <a:buFont typeface="+mj-lt"/>
              <a:buAutoNum type="arabicPeriod"/>
              <a:tabLst>
                <a:tab pos="285115" algn="l"/>
              </a:tabLst>
            </a:pPr>
            <a:r>
              <a:rPr lang="ru-RU" sz="2400" dirty="0">
                <a:latin typeface="Times New Roman"/>
                <a:cs typeface="Times New Roman"/>
              </a:rPr>
              <a:t>расходы линейны по числу срабатываний, а не по времени работы цели;</a:t>
            </a:r>
          </a:p>
          <a:p>
            <a:pPr marL="983615" marR="5080" lvl="1" indent="-514350" algn="just">
              <a:spcBef>
                <a:spcPts val="105"/>
              </a:spcBef>
              <a:buClr>
                <a:srgbClr val="4F81BC"/>
              </a:buClr>
              <a:buSzPct val="69230"/>
              <a:buFont typeface="+mj-lt"/>
              <a:buAutoNum type="arabicPeriod"/>
              <a:tabLst>
                <a:tab pos="285115" algn="l"/>
              </a:tabLst>
            </a:pPr>
            <a:r>
              <a:rPr lang="ru-RU" sz="2400" dirty="0">
                <a:latin typeface="Times New Roman"/>
                <a:cs typeface="Times New Roman"/>
              </a:rPr>
              <a:t>наблюдение без записи в охраняемую область не вносит накладных расходов.</a:t>
            </a:r>
          </a:p>
        </p:txBody>
      </p:sp>
    </p:spTree>
    <p:extLst>
      <p:ext uri="{BB962C8B-B14F-4D97-AF65-F5344CB8AC3E}">
        <p14:creationId xmlns:p14="http://schemas.microsoft.com/office/powerpoint/2010/main" val="36358355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efault Them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riel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921</TotalTime>
  <Words>1209</Words>
  <Application>Microsoft Office PowerPoint</Application>
  <PresentationFormat>Widescreen</PresentationFormat>
  <Paragraphs>176</Paragraphs>
  <Slides>17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5" baseType="lpstr">
      <vt:lpstr>Arial</vt:lpstr>
      <vt:lpstr>Arial MT</vt:lpstr>
      <vt:lpstr>Calibri</vt:lpstr>
      <vt:lpstr>Microsoft Sans Serif</vt:lpstr>
      <vt:lpstr>Times New Roman</vt:lpstr>
      <vt:lpstr>Wingdings</vt:lpstr>
      <vt:lpstr>Wingdings 2</vt:lpstr>
      <vt:lpstr>Default Theme</vt:lpstr>
      <vt:lpstr>РАЗРАБОТКА ИНСТРУМЕНТА ДЛЯ МОНИТОРИНГА ДОСТУПА К ПАМЯТИ В ЗАДАННОМ ПРОГРАММНОМ КОНТЕКСТЕ В ОПЕРАЦИОННОЙ СИСТЕМЕ LINUX</vt:lpstr>
      <vt:lpstr>Актуальность исследования: государство и общество</vt:lpstr>
      <vt:lpstr>Актуальность исследования: потребности индустрии</vt:lpstr>
      <vt:lpstr>Степень научной разработанности темы</vt:lpstr>
      <vt:lpstr>Цель и задачи исследования</vt:lpstr>
      <vt:lpstr>Объект и предмет исследования</vt:lpstr>
      <vt:lpstr>Основные сценарии использования мониторинга памяти</vt:lpstr>
      <vt:lpstr>Задачи этапа</vt:lpstr>
      <vt:lpstr>Методика контекстного мониторинга и защиты памяти</vt:lpstr>
      <vt:lpstr>Реализация опытного образца</vt:lpstr>
      <vt:lpstr>Реализация опытного образца</vt:lpstr>
      <vt:lpstr>Проверка опытного образца на модельных сценариях</vt:lpstr>
      <vt:lpstr>Проверка опытного образца на модельных сценариях</vt:lpstr>
      <vt:lpstr>Результаты работы и основные выводы</vt:lpstr>
      <vt:lpstr>Дальнейшие направления исследований</vt:lpstr>
      <vt:lpstr>Внедрение mprotect в исполняемую программу</vt:lpstr>
      <vt:lpstr>Оценка накладных расходов на перехват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Шаблон презентации для защиты ВКР</dc:title>
  <dc:subject/>
  <dc:creator>InnoFlow.ru</dc:creator>
  <cp:keywords/>
  <dc:description>Шаблон составлен редакцией InnoFlow. Компания InnoFlow является правообладателем данного шаблона и запрещает удаление водяного знака (логотипа).</dc:description>
  <cp:lastModifiedBy>Владимир Доценко</cp:lastModifiedBy>
  <cp:revision>156</cp:revision>
  <dcterms:created xsi:type="dcterms:W3CDTF">2014-02-19T15:54:17Z</dcterms:created>
  <dcterms:modified xsi:type="dcterms:W3CDTF">2026-06-16T15:24:29Z</dcterms:modified>
  <cp:category/>
</cp:coreProperties>
</file>